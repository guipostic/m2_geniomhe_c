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8745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C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743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introduction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3375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small programs, one Makefile, and a lot of compiler warnings.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 just read this code — you will compile it, run it, break it, and run it again.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086600" y="187452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6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TOOLKIT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086600" y="2121408"/>
            <a:ext cx="4343400" cy="1777746"/>
          </a:xfrm>
          <a:prstGeom prst="roundRect">
            <a:avLst>
              <a:gd name="adj" fmla="val 2572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06056" y="2258568"/>
            <a:ext cx="3904488" cy="150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01_basics.c -o basics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./basics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vim 01_basics.c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01_basics.c -o basics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./basics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...and repeat.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842162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842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files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working with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 programs, one companion document, one Makefile. Work through them in order.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8745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185416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arrays, loops, functions, pointers, structures. The big 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7784" y="1691640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5528" y="18745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01_basics.md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05528" y="2185416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written companion to file 01: read a section, then run the matching code.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5488" y="1691640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3232" y="187452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02_array_pointers.c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33232" y="2185416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array name really is, and the three things &amp;arr can mean.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00984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34838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03_char_strings.c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3794760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char, char*, char[] — and why one of them segfaults when you touch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67784" y="3300984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05528" y="34838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04_argv.c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05528" y="3794760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arguments from the command line.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5488" y="3300984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3232" y="348386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05_write_files.c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33232" y="3794760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file for writing, and formatting text into 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910328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7824" y="509320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06_file_lines_to_string_array.c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5404104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file back, line by line, into an array of strings.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7784" y="4910328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05528" y="509320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07_example_malloc_realloc.c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605528" y="5404104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operating system for memory at run time.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5488" y="4910328"/>
            <a:ext cx="3453384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33232" y="509320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33232" y="5404104"/>
            <a:ext cx="2996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compilation so you stop retyping gcc commands.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1805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course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 teaches you very little. Compiling it, running it and then deliberately breaking it teaches you a lot.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21458" cy="2331720"/>
          </a:xfrm>
          <a:prstGeom prst="roundRect">
            <a:avLst>
              <a:gd name="adj" fmla="val 2353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9659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780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788920"/>
            <a:ext cx="206425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source file into an executable with gcc. Read every warning it prints — they are part of the lesson, not noise.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35858" y="1783080"/>
            <a:ext cx="2521458" cy="2331720"/>
          </a:xfrm>
          <a:prstGeom prst="roundRect">
            <a:avLst>
              <a:gd name="adj" fmla="val 2353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5314" y="19659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531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73602" y="24780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73602" y="2788920"/>
            <a:ext cx="206425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program and look at the output. Match each printed line back to the printf that produced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1783080"/>
            <a:ext cx="2521458" cy="2331720"/>
          </a:xfrm>
          <a:prstGeom prst="roundRect">
            <a:avLst>
              <a:gd name="adj" fmla="val 2353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1092" y="19659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5109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69380" y="24780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69380" y="2788920"/>
            <a:ext cx="206425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anything, say out loud what you think a given line does and what would happen if you changed it.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27414" y="1783080"/>
            <a:ext cx="2521458" cy="2331720"/>
          </a:xfrm>
          <a:prstGeom prst="roundRect">
            <a:avLst>
              <a:gd name="adj" fmla="val 2353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6870" y="19659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687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65158" y="24780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65158" y="2788920"/>
            <a:ext cx="206425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line. Uncomment one commented line. Recompile, rerun, and compare with your prediction.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370832"/>
            <a:ext cx="10908792" cy="1172718"/>
          </a:xfrm>
          <a:prstGeom prst="roundRect">
            <a:avLst>
              <a:gd name="adj" fmla="val 4678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576572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97280" y="4526280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HABIT TO BUILD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818888"/>
            <a:ext cx="1039672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time. If you edit three lines and the program crashes, you have learned nothing about which line did it.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690372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69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toolchain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700784"/>
            <a:ext cx="5120640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37944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--version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--version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Debian or Ubuntu: sudo apt install build-essential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macOS: xcode-select --install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Windows: use WSL, MSYS2 or MinGW.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plain text editor will do. An IDE is not required and, at this stage, mostly hides the steps you are trying to learn.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2984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you must create yourself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7007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01_basics.c and 06_...c both refer to files that are not in the archive. Create them in the same folder: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2860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foo_test.h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2532888"/>
            <a:ext cx="5212080" cy="1786128"/>
          </a:xfrm>
          <a:prstGeom prst="roundRect">
            <a:avLst>
              <a:gd name="adj" fmla="val 256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74536" y="2670048"/>
            <a:ext cx="4773168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&lt;math.h&gt;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Reuses another function, passed as a pointer */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foo_function( int(*funcPtr)(int), int myvalue ){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resulting_value = (*funcPtr)(myvalue);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printf("PRINT16B: %d\n", resulting_value);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resulting_value;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5384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some_text.txt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4785360"/>
            <a:ext cx="5212080" cy="864108"/>
          </a:xfrm>
          <a:prstGeom prst="roundRect">
            <a:avLst>
              <a:gd name="adj" fmla="val 5291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74536" y="4922520"/>
            <a:ext cx="477316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first line of the file.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second line.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 third 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120640" cy="1564132"/>
          </a:xfrm>
          <a:prstGeom prst="roundRect">
            <a:avLst>
              <a:gd name="adj" fmla="val 3508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422910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1788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IN ONE FOLDER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471416"/>
            <a:ext cx="4608576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.c files, the Makefile, foo_test.h and some_text.txt all belong in the same directory. Several of the programs open files by bare name, so they only work when you run them from there.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538582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538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one file by hand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automating anything with make, do it manually a few times so you know what make is doing for you.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10908792" cy="562356"/>
          </a:xfrm>
          <a:prstGeom prst="roundRect">
            <a:avLst>
              <a:gd name="adj" fmla="val 813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56232"/>
            <a:ext cx="10469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5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01_basics.c -std=c11 -Wall -Wextra -O3 -o basics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606040"/>
            <a:ext cx="8394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file to compile. You can pass several at once.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181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-std=c11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3118104"/>
            <a:ext cx="8394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of the C language to enforce. The course code targets C11.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3016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30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-Wall -Wextra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3630168"/>
            <a:ext cx="8394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warnings. Do this always. Most of this course lives in these messages.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4223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42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142232"/>
            <a:ext cx="8394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level 3. Useful later; it can also change what undefined behaviour looks like.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5429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654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basics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4654296"/>
            <a:ext cx="8394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executable to produce. Without it, gcc writes a file called a.out.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221224"/>
            <a:ext cx="10908792" cy="1155700"/>
          </a:xfrm>
          <a:prstGeom prst="roundRect">
            <a:avLst>
              <a:gd name="adj" fmla="val 4747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5426964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376672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LINKER COMPLAINS ABOUT sqrt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5669280"/>
            <a:ext cx="10396728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01_basics.c calls sqrt() through foo_test.h. Some systems need the maths library linked explicitly: add -lm at the very end of the command.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gcc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stop you. Warnings do not.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0700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means no executable was produced. A warning means gcc built the program anyway, and is telling you it probably does not do what you meant. In this course the warnings are deliberate — several files are written to trigger them.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nothing was built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212080" cy="1048512"/>
          </a:xfrm>
          <a:prstGeom prst="roundRect">
            <a:avLst>
              <a:gd name="adj" fmla="val 436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514600"/>
            <a:ext cx="4773168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01_basics.c:42:9: error: expected ';'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 '}' token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42 |   return 0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      ^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9659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it built, but look closer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336792" y="2377440"/>
            <a:ext cx="5212080" cy="1232916"/>
          </a:xfrm>
          <a:prstGeom prst="roundRect">
            <a:avLst>
              <a:gd name="adj" fmla="val 3708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2514600"/>
            <a:ext cx="4773168" cy="958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C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02_array_pointers.c:18:24: warning: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C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initialization of 'int *' from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C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incompatible pointer type 'int (*)[3]'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C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18 |  int* entire_arr_ptr = &amp;arr;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F0C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                     ^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0908792" cy="1431798"/>
          </a:xfrm>
          <a:prstGeom prst="roundRect">
            <a:avLst>
              <a:gd name="adj" fmla="val 3832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432054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270248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562856"/>
            <a:ext cx="10396728" cy="87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of the seven files, delete a semicolon, and compile. Read the error message carefully: gcc points at the line after the mistake, because that is where it noticed.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semicolon back, then compile the whole set with and without -Wall -Wextra and compare how much gcc tells you.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01_basics.c is by far the longest file. Work through it in sections, using 01_basics.md as the written explanation for each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7498080" cy="1938528"/>
          </a:xfrm>
          <a:prstGeom prst="roundRect">
            <a:avLst>
              <a:gd name="adj" fmla="val 3774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465576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Compilation, preprocessor directives, printf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type casting, typedef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 static size, no bounds checking, iteration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prototypes, pointers, function pointers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and pointers to structures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22163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221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01_basics.md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a compiled language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fact explains most of what feels unfamiliar if you are coming from Python or JavaScript.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 ·  C, C++, Rust, Go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276856"/>
            <a:ext cx="4846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translates your source into machine code once, ahead of time. The result is a standalone executable the CPU runs directly.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close to the hardware — but you must recompile after every change, and the executable is tied to its platform.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83096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 ·  Python, JavaScript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83096" y="2276856"/>
            <a:ext cx="4846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interpreter reads and executes the source directly, line by line, every time the program runs.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portable and quicker to iterate on — but slower, and the interpreter has to be installed on the target machine.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908792" cy="1172718"/>
          </a:xfrm>
          <a:prstGeom prst="roundRect">
            <a:avLst>
              <a:gd name="adj" fmla="val 4678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436626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315968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608576"/>
            <a:ext cx="1039672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time you edit one of these files, you must compile again before running. Forgetting this is the most common source of "my change did nothing".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22163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221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01_basics.md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file to running program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7373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2494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560320"/>
            <a:ext cx="20642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C source code into a plain text file ending in .c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5858" y="155448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5314" y="17373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531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73602" y="22494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3602" y="2560320"/>
            <a:ext cx="20642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translates each source file into machine code, producing an object 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155448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1092" y="17373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109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69380" y="22494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9380" y="2560320"/>
            <a:ext cx="20642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files and libraries are stitched together into a single executable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27414" y="155448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6870" y="17373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4687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65158" y="2249424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65158" y="2560320"/>
            <a:ext cx="206425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loads the executable and calls its main() function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611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gcc command does steps 2 and 3 for you. You can ask it to stop after compiling, which is what a Makefile does for larger projects: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10908792" cy="729996"/>
          </a:xfrm>
          <a:prstGeom prst="roundRect">
            <a:avLst>
              <a:gd name="adj" fmla="val 6263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4297680"/>
            <a:ext cx="10469880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-c 01_basics.c -o 01_basics.o     # compile only: source -&gt; object file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01_basics.o -o basics -lm         # link: object file(s) -&gt; executable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program that does something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hello.c  ·  type this one out yourself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577840" cy="1618488"/>
          </a:xfrm>
          <a:prstGeom prst="roundRect">
            <a:avLst>
              <a:gd name="adj" fmla="val 282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1389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00" dirty="0"/>
          </a:p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printf("Hello, world!\n");</a:t>
            </a:r>
            <a:endParaRPr lang="en-US" sz="1300" dirty="0"/>
          </a:p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5577840" cy="528828"/>
          </a:xfrm>
          <a:prstGeom prst="roundRect">
            <a:avLst>
              <a:gd name="adj" fmla="val 8646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584448"/>
            <a:ext cx="5138928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6"/>
              </a:lnSpc>
              <a:buNone/>
            </a:pPr>
            <a:r>
              <a:rPr lang="en-US" sz="13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298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572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 the standard input/output header, which is where printf lives.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377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point. The operating system starts executing here. A C program without main() has nowhere to begin.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4564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printf(...)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7307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"print format". Writes text to the terminal. \n is a newline character.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5354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0;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80974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status handed back to the OS. 0 means success; anything else signals an error.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directives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starting with # are handled before compilation even begins. The preprocessor is a text substitution step.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 — paste in a header file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240280"/>
            <a:ext cx="4864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 header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&lt;stdbool.h&gt;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gives you true/false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"foo_test.h"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your own header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2724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brackets search the system include paths; double quotes search your project folder first. Including a header is literally copying its contents into your file.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45352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  — define a macro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240280"/>
            <a:ext cx="4864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SIZE 4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SIZE is a "macro"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my_arra2[SIZE] = {9, 8};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312724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occurrence of SIZE is replaced by 4 before the compiler sees the code. It is not a variable — it has no type and no memory address.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10908792" cy="1431798"/>
          </a:xfrm>
          <a:prstGeom prst="roundRect">
            <a:avLst>
              <a:gd name="adj" fmla="val 3832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4430268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379976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672584"/>
            <a:ext cx="10396728" cy="87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#define SIZE 4 to #define SIZE 6, recompile and run. The loop at PRINT07 now reads past the end of my_arr3, which only has 4 values. What gets printed?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gcc -E 01_basics.c | less to see the file after preprocessing but before compiling. Notice how big stdio.h makes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22163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221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01_basics.md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in C has a fixed type, declared before use. The type determines how many bytes it occupies and how those bytes are interpreted.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3407664" cy="969264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38528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249424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  ·   usually 4 bytes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6344" y="1755648"/>
            <a:ext cx="3407664" cy="969264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4088" y="1938528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14088" y="2249424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  ·   32-bit, ~7 digits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12608" y="1755648"/>
            <a:ext cx="3407664" cy="969264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50352" y="1938528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50352" y="2249424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  ·   64-bit, more precise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9504"/>
            <a:ext cx="3407664" cy="969264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3072384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3383280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character   ·   1 byte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76344" y="2889504"/>
            <a:ext cx="3407664" cy="969264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14088" y="3072384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14088" y="3383280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  ·   needs &lt;stdbool.h&gt;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12608" y="2889504"/>
            <a:ext cx="3407664" cy="969264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50352" y="3072384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50352" y="3383280"/>
            <a:ext cx="2950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at all   ·   return type, or void*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22452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DOES AN int ACTUALLY GET?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471416"/>
            <a:ext cx="5577840" cy="889254"/>
          </a:xfrm>
          <a:prstGeom prst="roundRect">
            <a:avLst>
              <a:gd name="adj" fmla="val 5141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4608576"/>
            <a:ext cx="513892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            : 2,147,483,647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int       : 4,294,967,295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int      : 9,223,372,036,854,775,807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4224528"/>
            <a:ext cx="5102352" cy="1351407"/>
          </a:xfrm>
          <a:prstGeom prst="roundRect">
            <a:avLst>
              <a:gd name="adj" fmla="val 406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84264" y="4430268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4379976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4672584"/>
            <a:ext cx="459028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2147483647 + 1 as an int and see what comes out. Then declare the same variable as long long int and print it with %lld.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things out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printf: the format string comes first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5577840" cy="1115568"/>
          </a:xfrm>
          <a:prstGeom prst="roundRect">
            <a:avLst>
              <a:gd name="adj" fmla="val 4098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19656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printf("PRINT01A: %10d\n", 12345);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foobar = 0.9375;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printf("PRINT01B:%.2f\n", foobar);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127248"/>
            <a:ext cx="5577840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264408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PRINT01A:      12345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PRINT01B:0.94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%10d pads the number to ten characters wide. %.2f rounds to two decimal places. The conversion happens inside printf, not in your variable.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28016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specifier must match the type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46520" y="1682496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6824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16824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206654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0665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066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/ double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45059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24505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450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283464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2834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(char*)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321868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218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/ address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3602736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6027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%ld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6027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int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46520" y="398678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39867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%lld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3986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long int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46520" y="4389120"/>
            <a:ext cx="5102352" cy="1351407"/>
          </a:xfrm>
          <a:prstGeom prst="roundRect">
            <a:avLst>
              <a:gd name="adj" fmla="val 406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84264" y="459486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4544568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702552" y="4837176"/>
            <a:ext cx="459028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%d at PRINT05 into %f and recompile. gcc warns, and the printed value is nonsense: printf trusts your format string completely.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smaller printing functions, and typedef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puts() and fputs()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5577840" cy="713232"/>
          </a:xfrm>
          <a:prstGeom prst="roundRect">
            <a:avLst>
              <a:gd name="adj" fmla="val 641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19656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puts("PRINT02");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fputs("PRINT03\n", stderr);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87168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puts() prints a plain string and adds a newline for you. It cannot format anything.</a:t>
            </a: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endParaRPr lang="en-US" sz="1250" dirty="0"/>
          </a:p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fputs() adds no newline and lets you pick the output stream: stdout for normal output, stderr for errors. Keeping them separate matters when you redirect output to a file.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REDIRECTING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4178808"/>
            <a:ext cx="5577840" cy="696468"/>
          </a:xfrm>
          <a:prstGeom prst="roundRect">
            <a:avLst>
              <a:gd name="adj" fmla="val 6565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315968"/>
            <a:ext cx="513892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./basics &gt; log.txt    # PRINT03 still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# appears on screen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28016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typedef: a nickname for a type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46520" y="1682496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65976" y="181965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unsigned long int ulint;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ulint big = 4000000000;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97480"/>
            <a:ext cx="5102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creates no new type — it creates another name for an existing one. It earns its keep with long declarations, and above all with structures, where it saves you writing struct every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931920"/>
            <a:ext cx="5102352" cy="1138682"/>
          </a:xfrm>
          <a:prstGeom prst="roundRect">
            <a:avLst>
              <a:gd name="adj" fmla="val 481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4264" y="413766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4087368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4379976"/>
            <a:ext cx="459028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ulint, assign it a value larger than an int can hold, and print it with %lu.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casting: the classic integer division trap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loosely typed: it converts between types on its own, quietly, whenever it can. That flexibility is convenient right up until it silently throws away your answer.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5577840" cy="1316736"/>
          </a:xfrm>
          <a:prstGeom prst="roundRect">
            <a:avLst>
              <a:gd name="adj" fmla="val 347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67128"/>
            <a:ext cx="51389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22, count = 3;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mean1;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mean1 = sum / count;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printf("PRINT04: %f\n", mean1);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1985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666744"/>
            <a:ext cx="5577840" cy="512064"/>
          </a:xfrm>
          <a:prstGeom prst="roundRect">
            <a:avLst>
              <a:gd name="adj" fmla="val 892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80390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PRINT04: 7.000000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783080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2029968"/>
            <a:ext cx="5102352" cy="1316736"/>
          </a:xfrm>
          <a:prstGeom prst="roundRect">
            <a:avLst>
              <a:gd name="adj" fmla="val 347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65976" y="2167128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22, count = 3;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mean;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(double) sum / count;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printf("PRINT06: %f\n", mean);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19856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46520" y="3666744"/>
            <a:ext cx="5102352" cy="512064"/>
          </a:xfrm>
          <a:prstGeom prst="roundRect">
            <a:avLst>
              <a:gd name="adj" fmla="val 892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65976" y="38039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PRINT06: 7.333333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70832"/>
            <a:ext cx="10908792" cy="1431798"/>
          </a:xfrm>
          <a:prstGeom prst="roundRect">
            <a:avLst>
              <a:gd name="adj" fmla="val 3832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4576572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526280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818888"/>
            <a:ext cx="10396728" cy="87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count is computed entirely in integers — 22 / 3 gives 7, and the remainder is discarded. Only then is 7 widened to a float. Declaring the result as float changes nothing, because the damage is already done.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(double) casts sum before the division, which forces the division itself to be done in floating point.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fixed in size and single-typed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AND INITIALISING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577840" cy="1316736"/>
          </a:xfrm>
          <a:prstGeom prst="roundRect">
            <a:avLst>
              <a:gd name="adj" fmla="val 347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1389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numbers[5];   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ints, no values yet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primes[] = {2,3,5,7,11};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size inferred: 5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my_arra2[SIZE] = {9, 8};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my_arra2[3] = 10;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324612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size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557016"/>
            <a:ext cx="2221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is fixed when you declare the array and can never change. Memory is reserved at compile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38728" y="3063240"/>
            <a:ext cx="2679192" cy="1417320"/>
          </a:xfrm>
          <a:prstGeom prst="roundRect">
            <a:avLst>
              <a:gd name="adj" fmla="val 387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76472" y="324612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 only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3557016"/>
            <a:ext cx="2221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has the same type. There is no mixing ints and strings in one array.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129844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in memory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46520" y="1737360"/>
            <a:ext cx="941832" cy="749808"/>
          </a:xfrm>
          <a:prstGeom prst="roundRect">
            <a:avLst>
              <a:gd name="adj" fmla="val 6098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1737360"/>
            <a:ext cx="941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23744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70648" y="1737360"/>
            <a:ext cx="941832" cy="749808"/>
          </a:xfrm>
          <a:prstGeom prst="roundRect">
            <a:avLst>
              <a:gd name="adj" fmla="val 609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0648" y="1737360"/>
            <a:ext cx="941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70648" y="2523744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94776" y="1737360"/>
            <a:ext cx="941832" cy="749808"/>
          </a:xfrm>
          <a:prstGeom prst="roundRect">
            <a:avLst>
              <a:gd name="adj" fmla="val 609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94776" y="1737360"/>
            <a:ext cx="941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94776" y="2523744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18904" y="1737360"/>
            <a:ext cx="941832" cy="749808"/>
          </a:xfrm>
          <a:prstGeom prst="roundRect">
            <a:avLst>
              <a:gd name="adj" fmla="val 609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18904" y="1737360"/>
            <a:ext cx="941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18904" y="2523744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43032" y="1737360"/>
            <a:ext cx="941832" cy="749808"/>
          </a:xfrm>
          <a:prstGeom prst="roundRect">
            <a:avLst>
              <a:gd name="adj" fmla="val 609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43032" y="1737360"/>
            <a:ext cx="941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543032" y="2523744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2926080"/>
            <a:ext cx="5102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start at 0, so the last element of primes[5] is primes[4]. The five values sit next to each other in memory, which is exactly why pointer arithmetic works — see file 02.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663440"/>
            <a:ext cx="10908792" cy="1155700"/>
          </a:xfrm>
          <a:prstGeom prst="roundRect">
            <a:avLst>
              <a:gd name="adj" fmla="val 474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486918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97280" y="4818888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96112" y="5111496"/>
            <a:ext cx="10396728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01_basics.c, my_arra2 is declared with SIZE elements but only two initialisers. Print all four values. What do the uninitialised slots contain, and are they the same every run?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does not check array bounds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you writing past the end of an array. There is no exception, no crash, no message — just a value written into memory that belongs to something else.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01_basics.c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5577840" cy="713232"/>
          </a:xfrm>
          <a:prstGeom prst="roundRect">
            <a:avLst>
              <a:gd name="adj" fmla="val 641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67128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my_arr1[] = {9, 8, 7, 6};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my_arr1[30] = 5;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 Behavior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577840" cy="2044446"/>
          </a:xfrm>
          <a:prstGeom prst="roundRect">
            <a:avLst>
              <a:gd name="adj" fmla="val 2684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99466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9443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BEHAVIOUR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236976"/>
            <a:ext cx="5065776" cy="148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standard simply does not say what happens. The program may work, print garbage, corrupt an unrelated variable, or crash — and it may do something different tomorrow, or under -O3 versus -O0.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ran fine on my machine" proves nothing about code like this.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1783080"/>
            <a:ext cx="5102352" cy="3246120"/>
          </a:xfrm>
          <a:prstGeom prst="roundRect">
            <a:avLst>
              <a:gd name="adj" fmla="val 169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84264" y="198882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938528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02552" y="2231136"/>
            <a:ext cx="459028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my_arr1[30] after assigning it. Then print my_arr1[3000] as well. Does one of them crash?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Recompile with -O0 instead of -O3 and compare. Optimisation level can change the outcome of undefined behaviour.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-fsanitize=address and run again. The sanitizer will tell you exactly which write went out of bounds — a tool worth remembering.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212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biggest difference from Python, where an out-of-range index raises IndexError immediately. In C, checking the bounds is entirely your job.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my array? sizeof and loops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 GIVES BYTES, NOT ELEMENTS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577840" cy="1719072"/>
          </a:xfrm>
          <a:prstGeom prst="roundRect">
            <a:avLst>
              <a:gd name="adj" fmla="val 266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1389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numbers[] = {1, 2, 3, 4, 5};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sizeof(numbers)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(5 x 4 bytes)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sizeof(numbers[0])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  (one int)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int length =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sizeof(numbers) / sizeof(numbers[0]);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5577840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3515868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4655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758184"/>
            <a:ext cx="5065776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trick only works where the array was declared. Pass the array to a function and sizeof gives you the size of a pointer instead — 8 bytes on a 64-bit machine. File 03 shows exactly that failure.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29844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46520" y="1682496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65976" y="181965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SIZE; i++){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printf("\t%d\n", my_arr3[i]);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8892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46520" y="3172968"/>
            <a:ext cx="5102352" cy="1316736"/>
          </a:xfrm>
          <a:prstGeom prst="roundRect">
            <a:avLst>
              <a:gd name="adj" fmla="val 347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65976" y="3310128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length) 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", numbers[i]);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i++;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4617720"/>
            <a:ext cx="5102352" cy="1138682"/>
          </a:xfrm>
          <a:prstGeom prst="roundRect">
            <a:avLst>
              <a:gd name="adj" fmla="val 481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84264" y="482346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4773168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5065776"/>
            <a:ext cx="459028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PRINT07 for loop as a while loop and check the output is identical.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arrays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arrays. The three declarations below are all equivalent — the compiler works out what it needs from the initialiser.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WRITE THE SAME 2D ARRAY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984248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21408"/>
            <a:ext cx="5138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c[2][3] = {{1, 3, 0}, {-1, 5, 9}};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c[][3]  = {{1, 3, 0}, {-1, 5, 9}};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c[2][3] = {1, 3, 0, -1, 5, 9};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leave out the first dimension, never the later ones: the compiler needs to know the row length to work out where row 1 starts in memory.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4048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THREE DIMENSIONS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4087368"/>
            <a:ext cx="5577840" cy="1082040"/>
          </a:xfrm>
          <a:prstGeom prst="roundRect">
            <a:avLst>
              <a:gd name="adj" fmla="val 422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4224528"/>
            <a:ext cx="513892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test[2][3][4] = 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{{3,4,2,3}, {0,-3,9,11}, {23,12,23,2}},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{{13,4,56,3}, {5,9,3,5}, {3,1,4,9}}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29844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still one flat block of memory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46520" y="1755648"/>
            <a:ext cx="1115568" cy="603504"/>
          </a:xfrm>
          <a:prstGeom prst="roundRect">
            <a:avLst>
              <a:gd name="adj" fmla="val 757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755648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3682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c[0][0]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80960" y="1755648"/>
            <a:ext cx="1115568" cy="603504"/>
          </a:xfrm>
          <a:prstGeom prst="roundRect">
            <a:avLst>
              <a:gd name="adj" fmla="val 757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1755648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3682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c[0][1]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1755648"/>
            <a:ext cx="1115568" cy="603504"/>
          </a:xfrm>
          <a:prstGeom prst="roundRect">
            <a:avLst>
              <a:gd name="adj" fmla="val 757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15400" y="1755648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23682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c[0][2]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46520" y="2615184"/>
            <a:ext cx="1115568" cy="603504"/>
          </a:xfrm>
          <a:prstGeom prst="roundRect">
            <a:avLst>
              <a:gd name="adj" fmla="val 757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6151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2278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c[1][0]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80960" y="2615184"/>
            <a:ext cx="1115568" cy="603504"/>
          </a:xfrm>
          <a:prstGeom prst="roundRect">
            <a:avLst>
              <a:gd name="adj" fmla="val 757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26151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32278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c[1][1]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15400" y="2615184"/>
            <a:ext cx="1115568" cy="603504"/>
          </a:xfrm>
          <a:prstGeom prst="roundRect">
            <a:avLst>
              <a:gd name="adj" fmla="val 757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15400" y="26151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32278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7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c[1][2]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46520" y="3675888"/>
            <a:ext cx="5102352" cy="2099310"/>
          </a:xfrm>
          <a:prstGeom prst="roundRect">
            <a:avLst>
              <a:gd name="adj" fmla="val 2613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84264" y="3881628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03720" y="3831336"/>
            <a:ext cx="4462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702552" y="4123944"/>
            <a:ext cx="4590288" cy="154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test[1][2][0] and predict the value before you run it.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nested for loop that prints the whole 2x3 array c as a grid.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print c[0][5]. It is out of bounds for row 0 — but is it out of bounds for the block?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01_basics.c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852160" cy="2615946"/>
          </a:xfrm>
          <a:prstGeom prst="roundRect">
            <a:avLst>
              <a:gd name="adj" fmla="val 1748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413248" cy="2341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&lt;stdbool.h&gt;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statement1 = true;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statement2 = false;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(statement1 &amp;&amp; statement2){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printf("PRINT08: Both are true\n");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(statement1 || statement2){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printf("PRINT09: One or more is true\n");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4453128"/>
            <a:ext cx="5852160" cy="520446"/>
          </a:xfrm>
          <a:prstGeom prst="roundRect">
            <a:avLst>
              <a:gd name="adj" fmla="val 8785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590288"/>
            <a:ext cx="5413248" cy="24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PRINT09: One or more is true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129844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1298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both sides must be true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175564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755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7556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at least one side true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221284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212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212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flips a condition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20840" y="267004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670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 (not =, which assigns!)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312724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31272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127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20840" y="358444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3584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&gt;  &lt;=  &gt;=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comparisons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720840" y="4114800"/>
            <a:ext cx="4828032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58584" y="432054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4270248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4562856"/>
            <a:ext cx="4315968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C99 there was no bool: 0 was false and everything else true. That is still how it works underneath, which is why if (x = 5) compiles happily and is always true.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and prototypes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parts, in order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5669280" cy="3529584"/>
          </a:xfrm>
          <a:prstGeom prst="roundRect">
            <a:avLst>
              <a:gd name="adj" fmla="val 129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19656"/>
            <a:ext cx="523036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1. prototype - before main() */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andOne(int inputvalue);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2. call */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test1 = 10;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test2 = andOne(test1);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printf("PRINT10: %d -&gt; %d\n", test1, test2);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3. definition - after main() */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andOne(int inputvalue){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outputvalue = inputvalue + 1;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outputvalue;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2180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5568696"/>
            <a:ext cx="5669280" cy="512064"/>
          </a:xfrm>
          <a:prstGeom prst="roundRect">
            <a:avLst>
              <a:gd name="adj" fmla="val 892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5705856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PRINT10: 10 -&gt; 11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280160"/>
            <a:ext cx="50109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reads your file top to bottom. When it reaches the call to andOne() inside main, it must already know what that function looks like.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that promise: name, return type, parameter types. The definition — the actual body — can then come later, or live in a completely different file.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returns nothing is declared void.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3657600"/>
            <a:ext cx="5010912" cy="1831721"/>
          </a:xfrm>
          <a:prstGeom prst="roundRect">
            <a:avLst>
              <a:gd name="adj" fmla="val 2995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5704" y="386334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3813048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793992" y="4105656"/>
            <a:ext cx="4498848" cy="127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the prototype line int andOne(int inputvalue); and recompile. Read the warning: "implicit declaration of function".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move the whole definition of andOne() above main() instead, with no prototype. Does it compile cleanly?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Pointers: variables that hold addresses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lives somewhere in memory. &amp; gives you that location. A pointer is simply a variable whose value is such a location.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AN ADDRESS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5760720" cy="1517904"/>
          </a:xfrm>
          <a:prstGeom prst="roundRect">
            <a:avLst>
              <a:gd name="adj" fmla="val 301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67128"/>
            <a:ext cx="53218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test1 = 10;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printf("PRINT11: %p\n", &amp;test1);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ptr_test1 = &amp;test1;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printf("PRINT12: %p\n", ptr_test1);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393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023360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PRINT11: 0x7ffe48f19fc8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PRINT12: 0x7ffe48f19fc8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817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address differs on every run and every machine. What matters is that both lines print the same one.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7830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syntax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1945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p;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19456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p as a pointer to an int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&amp;test1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of test1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035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303580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stored at that address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456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45643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printf specifier for addresses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3977640"/>
            <a:ext cx="4919472" cy="1138682"/>
          </a:xfrm>
          <a:prstGeom prst="roundRect">
            <a:avLst>
              <a:gd name="adj" fmla="val 4818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7144" y="418338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413308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4425696"/>
            <a:ext cx="440740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Strictly, %p expects a void*. To be standard-compliant, cast when printing: printf("%p", (void*) ptr_test1);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Dereferencing, and one precedence trap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FILE DOES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760720" cy="939546"/>
          </a:xfrm>
          <a:prstGeom prst="roundRect">
            <a:avLst>
              <a:gd name="adj" fmla="val 4866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321808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printf("PRINT13: BEFORE = %d\n", test1);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(*ptr_test1)++;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printf("PRINT14: AFTER = %d\n", test1);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786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5760720" cy="729996"/>
          </a:xfrm>
          <a:prstGeom prst="roundRect">
            <a:avLst>
              <a:gd name="adj" fmla="val 6263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2962656"/>
            <a:ext cx="5321808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PRINT13: BEFORE = 10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PRINT14: AFTER = 11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test1 was never mentioned on the middle line, yet its value changed. That is the whole point of a pointer: you reached the variable through its address.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29844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are not the same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629400" y="1700784"/>
            <a:ext cx="4919472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48856" y="183794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(*ptr)++;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increment the VALUE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*ptr++;     // increment the POINTER,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then read what it pointed 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2834640"/>
            <a:ext cx="4919472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7144" y="304038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299008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3282696"/>
            <a:ext cx="4407408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binds more tightly than *. Without the parentheses you move the pointer forward one int, which for a lone variable means it now points at memory you do not own.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4434840"/>
            <a:ext cx="4919472" cy="1138682"/>
          </a:xfrm>
          <a:prstGeom prst="roundRect">
            <a:avLst>
              <a:gd name="adj" fmla="val 481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67144" y="464058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459028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4882896"/>
            <a:ext cx="440740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(*ptr_test1)++ with *ptr_test1++ and run. What does PRINT14 show now, and did test1 change at all?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pointer lets a function change your variable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C passes arguments by value: the function receives a copy. Give it an address instead, and it can reach back into the caller's variable.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01_basics.c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5760720" cy="1719072"/>
          </a:xfrm>
          <a:prstGeom prst="roundRect">
            <a:avLst>
              <a:gd name="adj" fmla="val 266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67128"/>
            <a:ext cx="53218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andOneMutability(int* ptr_inputvalue){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(*ptr_inputvalue)++;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test3 = 1000;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andOneMutability(&amp;test3);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printf("PRINT15: %d\n", test3);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587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4105656"/>
            <a:ext cx="5760720" cy="512064"/>
          </a:xfrm>
          <a:prstGeom prst="roundRect">
            <a:avLst>
              <a:gd name="adj" fmla="val 892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242816"/>
            <a:ext cx="5321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PRINT15: 1001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783080"/>
            <a:ext cx="4919472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67144" y="196596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andOne(test1)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67144" y="2276856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copy of the number. Whatever it does to that copy is discarded when the function returns. The only way out is the return value.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3291840"/>
            <a:ext cx="4919472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67144" y="347472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andOneMutability(&amp;test3)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3785616"/>
            <a:ext cx="4462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address of test3. Dereferencing it writes straight into the caller's variable. Returns nothing, yet changes something.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4800600"/>
            <a:ext cx="4919472" cy="1138682"/>
          </a:xfrm>
          <a:prstGeom prst="roundRect">
            <a:avLst>
              <a:gd name="adj" fmla="val 481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67144" y="500634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495604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5248656"/>
            <a:ext cx="440740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&amp; and pass test3 directly. gcc will warn; run it anyway and see what breaks.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to functions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have addresses too. You can store one in a variable and pass it to another function — which is how C does callbacks.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DECLARE, ASSIGN, CALL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5760720" cy="1920240"/>
          </a:xfrm>
          <a:prstGeom prst="roundRect">
            <a:avLst>
              <a:gd name="adj" fmla="val 2381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67128"/>
            <a:ext cx="5321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int(*functionPointer)(int);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functionPointer = &amp;andOne;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result1 = (*functionPointer)(test3);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printf("PRINT16A: %d\n", result1);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abc = 999999;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foo_function(&amp;andOne, abc);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4164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4288536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425696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PRINT16A: 1002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PRINT16B: 1000000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7830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declaration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629400" y="2176272"/>
            <a:ext cx="4919472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48856" y="23134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(*functionPointer)  (int);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^          ^               ^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returns    name            takes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33756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parentheses around *functionPointer are essential. Without them you would be declaring a function that returns int*, not a pointer to a function.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4343400"/>
            <a:ext cx="4919472" cy="1618996"/>
          </a:xfrm>
          <a:prstGeom prst="roundRect">
            <a:avLst>
              <a:gd name="adj" fmla="val 3389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67144" y="454914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449884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4791456"/>
            <a:ext cx="4407408" cy="1061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foo_function lives in foo_test.h, not in the .c file — yet no prototype is needed. Why?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second function int andTwo(int) and point functionPointer at it instead.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group different types together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TYPE, THEN CREATE ONE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760720" cy="2322576"/>
          </a:xfrm>
          <a:prstGeom prst="roundRect">
            <a:avLst>
              <a:gd name="adj" fmla="val 1969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32180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enemy Enemy;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enemy{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 name[100];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life;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strength;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 boss1;   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instantiation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boss1.strength = 9000;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printf("PRINT18: %d\n", boss1.strength);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68496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 declaration defines a type, not a variable — it holds no values by itself. The typedef line means you can write Enemy rather than struct enemy everywhere.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29844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 is a data type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682496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reached with a dot. Unlike an array, the members may have different types — that is the whole reason structs exist.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2697480"/>
            <a:ext cx="4919472" cy="1776857"/>
          </a:xfrm>
          <a:prstGeom prst="roundRect">
            <a:avLst>
              <a:gd name="adj" fmla="val 308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67144" y="290322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285292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PRINT17: LOOK AT THIS ONE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3145536"/>
            <a:ext cx="4407408" cy="121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prints boss1.strength before assigning anything to it. An uninitialised member contains whatever was already in that memory — often 0, sometimes a huge random number. It is undefined behaviour, not a guaranteed zero.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4709160"/>
            <a:ext cx="4919472" cy="1138682"/>
          </a:xfrm>
          <a:prstGeom prst="roundRect">
            <a:avLst>
              <a:gd name="adj" fmla="val 481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7144" y="491490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486460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5157216"/>
            <a:ext cx="440740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 several times and watch PRINT17. Then declare Enemy boss1 = {0}; and see the difference.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14574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145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Aliases, defaults, and pointers to structures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write the alias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5760720" cy="2431542"/>
          </a:xfrm>
          <a:prstGeom prst="roundRect">
            <a:avLst>
              <a:gd name="adj" fmla="val 188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19656"/>
            <a:ext cx="5321808" cy="2157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level Level;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level{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length;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 name[100];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Level_default = {23, "missing_name"};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lifeup;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Item;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level1 = Level_default; 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 defaults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4590288"/>
            <a:ext cx="5760720" cy="696468"/>
          </a:xfrm>
          <a:prstGeom prst="roundRect">
            <a:avLst>
              <a:gd name="adj" fmla="val 6565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727448"/>
            <a:ext cx="532180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PRINT19: LEVEL LENGTH = 23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PRINT20: LEVEL NAME = missing_name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2801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or arrow?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629400" y="1682496"/>
            <a:ext cx="4919472" cy="1274826"/>
          </a:xfrm>
          <a:prstGeom prst="roundRect">
            <a:avLst>
              <a:gd name="adj" fmla="val 3586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819656"/>
            <a:ext cx="4480560" cy="100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Enemy* struct_pointer = &amp;boss1;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boss1.strength         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  -&gt; .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(&amp;boss1)-&gt;strength     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pointer   -&gt; -&gt;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struct_pointer-&gt;strength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pointer   -&gt; -&gt;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06324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print 9000. p-&gt;member is just shorthand for (*p).member — dereference, then take the member.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3931920"/>
            <a:ext cx="4919472" cy="1351407"/>
          </a:xfrm>
          <a:prstGeom prst="roundRect">
            <a:avLst>
              <a:gd name="adj" fmla="val 4060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7144" y="413766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4087368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DICTIONARIES IN C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4379976"/>
            <a:ext cx="440740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built-in hash table — no Python dict, no Java map. When you need one, you build it yourself out of structs and arrays.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9395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01_basics.c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these one at a time. Recompile and rerun after every single change.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53384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92024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3230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mean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743200"/>
            <a:ext cx="299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PRINT04 print 7.333333 without adding a cast — by changing the type of sum or count instead.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7784" y="1737360"/>
            <a:ext cx="3453384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7240" y="192024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05528" y="243230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prototype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05528" y="2743200"/>
            <a:ext cx="299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the andOne prototype. Read the warning, then find a way to make it compile cleanly without restoring the 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5488" y="1737360"/>
            <a:ext cx="3453384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4944" y="192024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1494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33232" y="243230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off the end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33232" y="2743200"/>
            <a:ext cx="299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my_arr1[30], then my_arr1[300000]. Recompile with -O0 and with -fsanitize=address and compare all three runs.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3453384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" y="40233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5354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4846320"/>
            <a:ext cx="299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(*ptr_test1)++ for *ptr_test1++ and explain, in one sentence, why test1 no longer changes.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67784" y="3840480"/>
            <a:ext cx="3453384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7240" y="40233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872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05528" y="45354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member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05528" y="4846320"/>
            <a:ext cx="299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struct enemy a float speed member, set it, print it with %f, and print sizeof(Enemy) before and after.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95488" y="3840480"/>
            <a:ext cx="3453384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14944" y="40233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14944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33232" y="45354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function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33232" y="4846320"/>
            <a:ext cx="2996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 timesTwo(int) plus its prototype, call it, and then reach it through functionPointer instead.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pointers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pointers are so closely related in C that people often say they are the same thing. They are not, and this file shows exactly where the difference bites.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7498080" cy="1627632"/>
          </a:xfrm>
          <a:prstGeom prst="roundRect">
            <a:avLst>
              <a:gd name="adj" fmla="val 4494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465576"/>
            <a:ext cx="69494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name of an array really evaluates to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arr, &amp;arr[0] and &amp;arr: one address, three types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genuine pointer to a whole array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function can modify the array you passed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752905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752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02_array_pointers.c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of an array is an address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LINES OF THE FILE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760720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321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arr[3] = {11, 12, 13};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printf("PRINT arr: %d, %p\n", arr, arr);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4203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760720" cy="512064"/>
          </a:xfrm>
          <a:prstGeom prst="roundRect">
            <a:avLst>
              <a:gd name="adj" fmla="val 892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2926080"/>
            <a:ext cx="5321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arr: -1305537268, 0x7ffeb22f150c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5760720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68046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630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922776"/>
            <a:ext cx="5248656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value printed with %d and with %p. %d interprets the address as a signed integer, which is why the first number is negative nonsense. Passing the wrong type to printf is undefined behaviour — gcc warns about this one.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29844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FIRST ELEMENT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29400" y="1545336"/>
            <a:ext cx="4919472" cy="1115568"/>
          </a:xfrm>
          <a:prstGeom prst="roundRect">
            <a:avLst>
              <a:gd name="adj" fmla="val 4098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48856" y="1682496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first_val_ptr = &amp;arr[0];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printf("%p\n", first_val_ptr);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*first_val_ptr);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76148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3008376"/>
            <a:ext cx="4919472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31455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0x7ffeb22f150c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79476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almost every expression, the array name arr decays into a pointer to its first element. That is why arr and &amp;arr[0] print the same address.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75504"/>
            <a:ext cx="10908792" cy="1155700"/>
          </a:xfrm>
          <a:prstGeom prst="roundRect">
            <a:avLst>
              <a:gd name="adj" fmla="val 474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5381244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330952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5623560"/>
            <a:ext cx="10396728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&amp;arr[0] to &amp;arr[1] and then &amp;arr[2]. How many bytes apart are the three addresses, and why is that number 4 rather than 1?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752905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752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02_array_pointers.c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address, three different types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IN THE FILE: WHAT IS WRONG WITH THESE TWO LINES?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10908792" cy="729996"/>
          </a:xfrm>
          <a:prstGeom prst="roundRect">
            <a:avLst>
              <a:gd name="adj" fmla="val 6263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10469880" cy="45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entire_arr_ptr = &amp;arr;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printf("TEST &amp;arr: %p\n", entire_arr_ptr);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10908792" cy="512064"/>
          </a:xfrm>
          <a:prstGeom prst="roundRect">
            <a:avLst>
              <a:gd name="adj" fmla="val 892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53288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F0C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initialization of 'int *' from incompatible pointer type 'int (*)[3]'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3453384" cy="132588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42900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739896"/>
            <a:ext cx="2996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int*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to the first element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7784" y="3246120"/>
            <a:ext cx="3453384" cy="132588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5528" y="342900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&amp;arr[0]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05528" y="3739896"/>
            <a:ext cx="2996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int*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to the first element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5488" y="3246120"/>
            <a:ext cx="3453384" cy="1325880"/>
          </a:xfrm>
          <a:prstGeom prst="roundRect">
            <a:avLst>
              <a:gd name="adj" fmla="val 413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33232" y="342900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33232" y="3739896"/>
            <a:ext cx="2996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int (*)[3]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to the whole 3-element array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5488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PRINT THE SAME NUMBER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10908792" cy="512064"/>
          </a:xfrm>
          <a:prstGeom prst="roundRect">
            <a:avLst>
              <a:gd name="adj" fmla="val 892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513892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arr: 0x7ffeb22f150c, &amp;arr[0]: 0x7ffeb22f150c, &amp;arr: 0x7ffeb22f150c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is identical because the array starts where its first element starts. The type is different because the compiler tracks how far one step forward moves you: 4 bytes for int*, 12 bytes for int (*)[3].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752905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752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02_array_pointers.c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pointer to a whole array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DECLARATION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943600" cy="1719072"/>
          </a:xfrm>
          <a:prstGeom prst="roundRect">
            <a:avLst>
              <a:gd name="adj" fmla="val 266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5046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int(* arr_ptr)[] = &amp;arr;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[3] also works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(*arr_ptr)[1]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 value at index 1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*arr_ptr        // addr  first-element pointer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**arr_ptr       // 11   the first value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arr_ptr  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addr  same address again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&amp;arr_ptr 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addr  pointer to the pointer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5943600" cy="1082040"/>
          </a:xfrm>
          <a:prstGeom prst="roundRect">
            <a:avLst>
              <a:gd name="adj" fmla="val 4225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675888"/>
            <a:ext cx="550468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DEREFERENCED WITH INDEX: 12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DEREFERENCED (NO INDEX): 0x7ffeb22f150c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DEREFERENCED x2:         11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 TO POINTER:      0x7ffeb22f14f0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298448"/>
            <a:ext cx="4736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last two lines: arr_ptr prints the same address as arr did. Printing a pointer tells you nothing about its type — only the compiler knows, and only the compiler can warn you.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2834640"/>
            <a:ext cx="4736592" cy="1564132"/>
          </a:xfrm>
          <a:prstGeom prst="roundRect">
            <a:avLst>
              <a:gd name="adj" fmla="val 3508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0024" y="304038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99008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type() IN C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68312" y="3282696"/>
            <a:ext cx="4224528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what type an expression has, assign it to something and let gcc complain. Uncomment int(* tab)[] = *arr_ptr; in the file: the warning tells you *arr_ptr is an int*.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12280" y="4617720"/>
            <a:ext cx="4736592" cy="1138682"/>
          </a:xfrm>
          <a:prstGeom prst="roundRect">
            <a:avLst>
              <a:gd name="adj" fmla="val 481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0024" y="482346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477316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5065776"/>
            <a:ext cx="422452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arr + 1 and arr_ptr + 1. Compare how far each one moved.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752905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752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02_array_pointers.c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passed to functions are not copied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02_array_pointers.c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943600" cy="2121408"/>
          </a:xfrm>
          <a:prstGeom prst="roundRect">
            <a:avLst>
              <a:gd name="adj" fmla="val 215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50468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modifyArray(int any_array[3]);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printf("ARRAY BEFORE: %d\n", arr[1]);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modifyArray(arr);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printf("ARRAY AFTER: %d\n", arr[1]);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modifyArray(int any_array[3]){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any_array[1] = 999;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673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4014216"/>
            <a:ext cx="5943600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151376"/>
            <a:ext cx="5504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BEFORE: 12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AFTER: 999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298448"/>
            <a:ext cx="4736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any_array[3] in a parameter list is a polite fiction. The compiler rewrites it as int* any_array — the array decays to a pointer, so the function edits your original data.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[3] is not checked and not enforced. You may pass an array of any length.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3310128"/>
            <a:ext cx="4736592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0024" y="3515868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346557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68312" y="3758184"/>
            <a:ext cx="4224528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consequence: inside the function, sizeof(any_array) is the size of a pointer, not of the array. If the function needs the length, you must pass it as a second argument.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56048"/>
            <a:ext cx="10908792" cy="1376934"/>
          </a:xfrm>
          <a:prstGeom prst="roundRect">
            <a:avLst>
              <a:gd name="adj" fmla="val 3985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5161788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5111496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FROM PYTHON?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404104"/>
            <a:ext cx="10396728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list passed to a function behaves the same way — the callee sees the same object. But in C this is not a design decision about mutability; it falls out of the fact that only an address was ever passed. To copy an array you must do it yourself: memcpy(array2, array1, sizeof(array2)) from &lt;string.h&gt;.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9395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02_array_pointers.c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ampersand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int* entire_arr_ptr = &amp;arr; to = arr;. Does the warning disappear? Does the printed address change?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7240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warning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5528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int(* tab)[] = *arr_ptr; and read what gcc says about the type on the right.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5488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4944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1494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33232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signature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3232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modifyArray to take int* any_array, then int any_array[]. All three compile and behave identically — convince yourself why.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length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int length parameter to modifyArray and use it to set every element to 999.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7784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7240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72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05528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copy it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05528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&lt;string.h&gt;, declare int arr2[3], memcpy arr into it, then modify arr2 and print both.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5488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4944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14944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33232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arithmetic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33232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*(arr + 2) and arr[2]. They are the same thing written two ways.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and strings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has no string type. It has characters, arrays of characters, and a convention: a string ends at the first zero byte. Everything else is library functions built on that convention.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7498080" cy="1938528"/>
          </a:xfrm>
          <a:prstGeom prst="roundRect">
            <a:avLst>
              <a:gd name="adj" fmla="val 3774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465576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versus "ABCDE" versus char myArray[]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them you are allowed to modify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 versus strlen, and the trailing \0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strings, and why assignment does not copy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text into numbers with strtol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03_char_strings.c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all look like text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03_char_strings.c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10908792" cy="939546"/>
          </a:xfrm>
          <a:prstGeom prst="roundRect">
            <a:avLst>
              <a:gd name="adj" fmla="val 4866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1046988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myOneChar    = 'A';     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character, single quotes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myCharPointer = "ABCDE";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literal, double quotes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myCharArray[] = "VWXYZ";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initialised from a literal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292608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 'A'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36976"/>
            <a:ext cx="29961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byte holding one character code. Not a string: there is no terminating zero.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7784" y="274320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5528" y="292608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  "ABCDE"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3236976"/>
            <a:ext cx="29961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 a string literal stored in read-only memory. Copying the pointer does not copy the text.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74320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3232" y="292608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char[]   "VWXYZ"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33232" y="3236976"/>
            <a:ext cx="29961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writable array of 6 bytes: five letters plus the invisible \0 that marks the end.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0916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%s PRINTS UNTIL THE ZERO BYTE; %c PRINTS ONE CHARACTER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956048"/>
            <a:ext cx="10908792" cy="713232"/>
          </a:xfrm>
          <a:prstGeom prst="roundRect">
            <a:avLst>
              <a:gd name="adj" fmla="val 641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509320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printf("CHAR POINTER: %s\n", myCharPointer);       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ABCDE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printf("CHAR POINTER DEREFERENCED: %c\n", *myCharPointer);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03_char_strings.c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lines crashes the program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03_char_strings.c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852160" cy="939546"/>
          </a:xfrm>
          <a:prstGeom prst="roundRect">
            <a:avLst>
              <a:gd name="adj" fmla="val 4866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413248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myCharArray[2] = '-'; 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fine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//myCharPointer[2] = '-';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Segmentation fault (core dumped)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87168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myCharArray is your own array; you may write anywhere inside it.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myCharPointer points into a read-only section of the executable where the compiler stored the literal "ABCDE". Writing there is refused by the operating system, and the program is killed.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5852160" cy="1351407"/>
          </a:xfrm>
          <a:prstGeom prst="roundRect">
            <a:avLst>
              <a:gd name="adj" fmla="val 4060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22910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1788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71416"/>
            <a:ext cx="5340096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literals as const char* rather than char*. The compiler then rejects the assignment at compile time instead of letting it become a run-time crash.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2984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arithmetic on text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720840" y="1700784"/>
            <a:ext cx="4828032" cy="1115568"/>
          </a:xfrm>
          <a:prstGeom prst="roundRect">
            <a:avLst>
              <a:gd name="adj" fmla="val 4098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0296" y="1837944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secondCharPtr = myCharPointer + 1;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secondCharPtr);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printf("%c\n", *secondCharPtr);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035808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3282696"/>
            <a:ext cx="4828032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0296" y="341985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BCDE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97764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1 to a char* moves one byte forward. Nothing was copied: the shorter string is just a later starting point in the same block of characters.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20840" y="4937760"/>
            <a:ext cx="4828032" cy="1351407"/>
          </a:xfrm>
          <a:prstGeom prst="roundRect">
            <a:avLst>
              <a:gd name="adj" fmla="val 406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8584" y="514350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5093208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5385816"/>
            <a:ext cx="431596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the myCharPointer[2] line and run it. Then change the declaration to char myCharPointer[] = "ABCDE"; and run again.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03_char_strings.c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a string? Two answers, one right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sizeof TRICK ON AN ARRAY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852160" cy="1316736"/>
          </a:xfrm>
          <a:prstGeom prst="roundRect">
            <a:avLst>
              <a:gd name="adj" fmla="val 347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413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myCharArray[] = "VWXYZ";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strlen1 = sizeof(myCharArray)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 sizeof(myCharArray[0]);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strlen1);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6, not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852160" cy="1351407"/>
          </a:xfrm>
          <a:prstGeom prst="roundRect">
            <a:avLst>
              <a:gd name="adj" fmla="val 4060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304038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99008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SIX?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82696"/>
            <a:ext cx="5340096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terminating \0 is invisible when you print the string, but it occupies a byte and sizeof counts it. "VWXYZ" needs six bytes of storage.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7083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TRICK ON A POINTER: BROKEN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5852160" cy="914400"/>
          </a:xfrm>
          <a:prstGeom prst="roundRect">
            <a:avLst>
              <a:gd name="adj" fmla="val 500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4754880"/>
            <a:ext cx="5413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strlen2 = sizeof(myCharPointer)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 sizeof(myCharPointer[0]);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strlen2);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298448"/>
            <a:ext cx="4828032" cy="1351407"/>
          </a:xfrm>
          <a:prstGeom prst="roundRect">
            <a:avLst>
              <a:gd name="adj" fmla="val 4060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8584" y="1504188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1453896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76872" y="1746504"/>
            <a:ext cx="431596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 = 8. sizeof measured the pointer, which is 8 bytes on a 64-bit machine, not the text it points at. This answer never changes, whatever the string.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78892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answer: strlen()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720840" y="3182112"/>
            <a:ext cx="4828032" cy="1115568"/>
          </a:xfrm>
          <a:prstGeom prst="roundRect">
            <a:avLst>
              <a:gd name="adj" fmla="val 4098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0296" y="3319272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printf("%ld\n", strlen(myCharArray));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 -  strlen stops at the \0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4480560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 walks the characters until it meets the zero byte, so it does not count it. It returns a size_t, printed with %ld. It works on both arrays and pointers — and it costs a scan of the whole string each time you call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03_char_strings.c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does not copy a string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WAY - AND IT COMPILES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852160" cy="1920240"/>
          </a:xfrm>
          <a:prstGeom prst="roundRect">
            <a:avLst>
              <a:gd name="adj" fmla="val 2381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413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some_string = "A";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some_string = myCharArray;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printf("COPIED: %s\n", some_string);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some_string[2] = '@';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printf("MODIFIED COPY: %s\n", some_string);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printf("SOURCE: %s\n", myCharArray);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844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831336"/>
            <a:ext cx="5852160" cy="914400"/>
          </a:xfrm>
          <a:prstGeom prst="roundRect">
            <a:avLst>
              <a:gd name="adj" fmla="val 500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968496"/>
            <a:ext cx="5413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COPIED: VW-YZ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MODIFIED COPY: VW@YZ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VW@YZ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298448"/>
            <a:ext cx="4828032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58584" y="1504188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1453896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CHANGED TOO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1746504"/>
            <a:ext cx="4315968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some_string = myCharArray copies an address, not any characters. Both names now refer to the same six bytes, so writing through one is visible through the other.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880360"/>
            <a:ext cx="4828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also that the original literal "A" was one byte long and could never have held five characters. Nothing warned you, because no copy was ever attempted — the pointer was simply pointed somewhere else.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4297680"/>
            <a:ext cx="4828032" cy="1351407"/>
          </a:xfrm>
          <a:prstGeom prst="roundRect">
            <a:avLst>
              <a:gd name="adj" fmla="val 406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58584" y="450342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4453128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76872" y="4745736"/>
            <a:ext cx="431596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some_string and myCharArray with %p before and after the assignment. The two addresses become identical.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03_char_strings.c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properly: strcpy and buffer size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03_char_strings.c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852160" cy="1316736"/>
          </a:xfrm>
          <a:prstGeom prst="roundRect">
            <a:avLst>
              <a:gd name="adj" fmla="val 347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413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some_other_string[12] = {'x', 'x'};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strcpy(some_other_string, "Hello world");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some_other_string);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printf("%ld\n", strlen(some_other_string));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6265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209544"/>
            <a:ext cx="5852160" cy="713232"/>
          </a:xfrm>
          <a:prstGeom prst="roundRect">
            <a:avLst>
              <a:gd name="adj" fmla="val 641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346704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41648"/>
            <a:ext cx="5852160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4247388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19709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BYTES YOURSELF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489704"/>
            <a:ext cx="5340096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world" is 11 characters plus one \0 = exactly 12 bytes, which is why the array was declared as [12]. Add an exclamation mark and it needs 13 — strcpy will write one byte past the end of your array, and nothing at run time will stop it.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2984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zero an array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720840" y="1700784"/>
            <a:ext cx="4828032" cy="1467612"/>
          </a:xfrm>
          <a:prstGeom prst="roundRect">
            <a:avLst>
              <a:gd name="adj" fmla="val 311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0296" y="1837944"/>
            <a:ext cx="4389120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s[11] = {0}; 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eleven \0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s[11] = {};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s[11] = "";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s[12] = {'x', 'x'};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'x','x', then ten \0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246120"/>
            <a:ext cx="4828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element you do not list is filled with zero. There is no syntax for repeating a character — a hundred 'x' needs a loop, or memset().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4206240"/>
            <a:ext cx="4828032" cy="1618996"/>
          </a:xfrm>
          <a:prstGeom prst="roundRect">
            <a:avLst>
              <a:gd name="adj" fmla="val 3389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58584" y="441198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4361688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4654296"/>
            <a:ext cx="4315968" cy="1061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strcpy "Hello world!" into the same 12-byte array and read the warning.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strncpy: it takes a maximum length, and does not add the \0 for you.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03_char_strings.c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numbers out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TO INTEGER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852160" cy="1920240"/>
          </a:xfrm>
          <a:prstGeom prst="roundRect">
            <a:avLst>
              <a:gd name="adj" fmla="val 2381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413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str_number[5] = "1000";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char_ptr;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converted_int =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strtol(str_number, &amp;char_ptr, 10);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printf("%ld\n", converted_int);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5852160" cy="1351407"/>
          </a:xfrm>
          <a:prstGeom prst="roundRect">
            <a:avLst>
              <a:gd name="adj" fmla="val 4060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386334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8130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105656"/>
            <a:ext cx="5340096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str_number[5] holds four digits plus the \0. Declare it as [4] and the string is no longer terminated — strtol then reads on into whatever follows in memory.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29844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toolbox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173736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long; the 10 is the number base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strtof / strtod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39696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float / double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54203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to text: sprintf(str, "%d", 42)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944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strcat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9443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one string to another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346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346704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 bytes with one character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7490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n bytes, strings included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0840" y="4242816"/>
            <a:ext cx="4828032" cy="1351407"/>
          </a:xfrm>
          <a:prstGeom prst="roundRect">
            <a:avLst>
              <a:gd name="adj" fmla="val 4060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58584" y="4448556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4398264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76872" y="4690872"/>
            <a:ext cx="431596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atoi() and itoa() do the same jobs and are widely seen in old code. Avoid both: they cannot report failure, so a bad input becomes undefined behaviour.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9395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03_char_strings.c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 segfault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the myCharPointer[2] assignment. Then prevent it at compile time by declaring the pointer const char*.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7240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on purpose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5528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strcpy "Hello world!" into the 12-byte array. Read the warning, run it, then compile with -fsanitize=address.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5488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4944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1494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33232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the number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3232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char str_number[5] to [4] and print the result of strtol a few times.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copy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some_string = myCharArray with a strcpy into a properly sized array, then modify the copy and check the source is untouched.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7784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7240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72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05528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without strlen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05528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loop that walks a char* until it hits '\0' and counts the characters. Compare with strlen.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5488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4944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14944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33232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33232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memset to fill a char[101] with 'x', put a '\0' at index 100, and print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arguments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is more useful when it can be told what to do from outside. main() can take two parameters that carry everything typed after the program name.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7498080" cy="1316736"/>
          </a:xfrm>
          <a:prstGeom prst="roundRect">
            <a:avLst>
              <a:gd name="adj" fmla="val 5556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465576"/>
            <a:ext cx="6949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argc: how many arguments, including the program name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argv: the arguments themselves, as an array of strings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same executable with different inputs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9395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04_argv.c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arguments in main()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04_argv.c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943600" cy="2926080"/>
          </a:xfrm>
          <a:prstGeom prst="roundRect">
            <a:avLst>
              <a:gd name="adj" fmla="val 1563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5046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 (int argc, char *argv[]) 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i=0;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printf("\ncmdline args count=%d", argc);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First argument is executable name only */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printf("\nexe name=%s", argv[0]);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(i=0; i&lt; argc; i++) 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printf("\narg%d=%s", i, argv[i]);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printf("\n");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29844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12280" y="1545336"/>
            <a:ext cx="4736592" cy="1970532"/>
          </a:xfrm>
          <a:prstGeom prst="roundRect">
            <a:avLst>
              <a:gd name="adj" fmla="val 232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31736" y="1682496"/>
            <a:ext cx="4297680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04_argv.c -Wall -o argv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./argv apple banana "two words"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cmdline args count=4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 name=./argv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arg0=./argv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arg1=apple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arg2=banana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arg3=two words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3703320"/>
            <a:ext cx="4736592" cy="2048256"/>
          </a:xfrm>
          <a:prstGeom prst="roundRect">
            <a:avLst>
              <a:gd name="adj" fmla="val 2679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50024" y="390906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385876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NOTICE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68312" y="4151376"/>
            <a:ext cx="422452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argc is never 0: the program name is always argument zero.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argv is an array of char* — an array of strings, exactly as in file 03.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splits on spaces before your program sees anything. Quotes keep a value together.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5943600" cy="1435608"/>
          </a:xfrm>
          <a:prstGeom prst="roundRect">
            <a:avLst>
              <a:gd name="adj" fmla="val 3822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482346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7731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065776"/>
            <a:ext cx="54315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no arguments at all. What is argc?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argv[argc]. One past the end, yet guaranteed to be NULL.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strtol from file 03 to turn argv[1] into a number.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files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C are reached through a FILE pointer. You open it, you use it, you close it — and you check every time that the open actually worked.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7498080" cy="1316736"/>
          </a:xfrm>
          <a:prstGeom prst="roundRect">
            <a:avLst>
              <a:gd name="adj" fmla="val 5556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465576"/>
            <a:ext cx="6949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05_write_files.c: fopen, fprintf, fclose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06_file_lines_to_string_array.c: fgets into a 2D char array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case where the file is not there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525219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525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05_write_files.c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a file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05_write_files.c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943600" cy="3730752"/>
          </a:xfrm>
          <a:prstGeom prst="roundRect">
            <a:avLst>
              <a:gd name="adj" fmla="val 122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50468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*f = fopen("file.txt", "w");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 == NULL){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printf("Error opening file!\n");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exit(1);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*text = "Write this to the file";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fprintf(f, "Some text: %s\n", text);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pi = 3.1415927;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fprintf(f, "Integer: %d, float: %f\n", i, pi);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 = 'A';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fprintf(f, "A character: %c\n", c);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fclose(f);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298448"/>
            <a:ext cx="4736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fprintf is printf with one extra first argument: which stream to write to. Everything you know about format specifiers carries straight over.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2514600"/>
            <a:ext cx="685800" cy="310896"/>
          </a:xfrm>
          <a:prstGeom prst="roundRect">
            <a:avLst>
              <a:gd name="adj" fmla="val 1470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25146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51460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- truncates an existing file to nothing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2916936"/>
            <a:ext cx="685800" cy="310896"/>
          </a:xfrm>
          <a:prstGeom prst="roundRect">
            <a:avLst>
              <a:gd name="adj" fmla="val 1470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291693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91693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- adds to the end instead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3319272"/>
            <a:ext cx="685800" cy="310896"/>
          </a:xfrm>
          <a:prstGeom prst="roundRect">
            <a:avLst>
              <a:gd name="adj" fmla="val 1470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331927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31927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only; fails if the file is absent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3721608"/>
            <a:ext cx="685800" cy="310896"/>
          </a:xfrm>
          <a:prstGeom prst="roundRect">
            <a:avLst>
              <a:gd name="adj" fmla="val 14706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37216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"r+"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72160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write, file must exist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4206240"/>
            <a:ext cx="4736592" cy="1351407"/>
          </a:xfrm>
          <a:prstGeom prst="roundRect">
            <a:avLst>
              <a:gd name="adj" fmla="val 4060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0024" y="441198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436168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fclose()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68312" y="4654296"/>
            <a:ext cx="422452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buffered. Without fclose, the last lines may never reach the disk. And a file left open is a resource leak.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525219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525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05_write_files.c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fix in this file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void main() is not standard C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5943600" cy="1517904"/>
          </a:xfrm>
          <a:prstGeom prst="roundRect">
            <a:avLst>
              <a:gd name="adj" fmla="val 301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19656"/>
            <a:ext cx="55046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main(){   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 written in the file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main(void){       </a:t>
            </a:r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it should be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must return int: that value is the program's exit status. Many compilers accept void main() out of habit, but it is not valid C and -Wall will tell you 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5943600" cy="1406271"/>
          </a:xfrm>
          <a:prstGeom prst="roundRect">
            <a:avLst>
              <a:gd name="adj" fmla="val 3901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0342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4531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745736"/>
            <a:ext cx="5431536" cy="848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-Wall -Wextra and read the warning about main.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it, then check the exit status from the shell with echo $? after running.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1280160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Errors belong on stderr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812280" y="1682496"/>
            <a:ext cx="4736592" cy="1274826"/>
          </a:xfrm>
          <a:prstGeom prst="roundRect">
            <a:avLst>
              <a:gd name="adj" fmla="val 3586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31736" y="1819656"/>
            <a:ext cx="4297680" cy="100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 == NULL){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fprintf(stderr,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"Error opening file!\n");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exit(1);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063240"/>
            <a:ext cx="4736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writes to stdout, which is what a user redirects into a file. Error messages sent there disappear into the output. That is what stderr is for — the same reason fputs used it back in file 01.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4343400"/>
            <a:ext cx="4736592" cy="1351407"/>
          </a:xfrm>
          <a:prstGeom prst="roundRect">
            <a:avLst>
              <a:gd name="adj" fmla="val 406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0024" y="454914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449884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68312" y="4791456"/>
            <a:ext cx="422452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path to "/nope/file.txt" so fopen fails, then run ./write &gt; out.txt and see where the message goes.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06_file_lines...c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file back, line by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06_file_lines_to_string_array.c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6309360" cy="4359402"/>
          </a:xfrm>
          <a:prstGeom prst="roundRect">
            <a:avLst>
              <a:gd name="adj" fmla="val 1049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870448" cy="408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MAX_LINES 100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MAX_LEN 1000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data[MAX_LINES][MAX_LEN];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*file;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fopen("some_text.txt", "r");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(file == NULL){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printf("Error opening file.\n");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line = 0;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(!feof(file) &amp;&amp; !ferror(file))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(fgets(data[line], MAX_LEN, file) != NULL)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line++;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fclose(file);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line; i++)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printf("%s", data[i]);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298448"/>
            <a:ext cx="4370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data[100][1000] is a 2D array: one hundred slots, each able to hold a 999-character line plus its \0. That is 100 KB reserved up front, whether the file has three lines or none.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static approach. File 07 shows how to ask for exactly as much memory as you need.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3200400"/>
            <a:ext cx="4370832" cy="1351407"/>
          </a:xfrm>
          <a:prstGeom prst="roundRect">
            <a:avLst>
              <a:gd name="adj" fmla="val 4060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15784" y="340614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335584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PRINTF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34072" y="3648456"/>
            <a:ext cx="385876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printf("%s", data[i]) has no \n. It does not need one: fgets keeps the newline character that ended each line.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4617720"/>
            <a:ext cx="4370832" cy="1351407"/>
          </a:xfrm>
          <a:prstGeom prst="roundRect">
            <a:avLst>
              <a:gd name="adj" fmla="val 4060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15784" y="482346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477316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434072" y="5065776"/>
            <a:ext cx="385876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stops line from passing 100. A file with more lines than MAX_LINES writes straight past the end of data.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1601114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1601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06_file_lines...c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loop closely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5943600" cy="939546"/>
          </a:xfrm>
          <a:prstGeom prst="roundRect">
            <a:avLst>
              <a:gd name="adj" fmla="val 4866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435608"/>
            <a:ext cx="5504688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(!feof(file) &amp;&amp; !ferror(file))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(fgets(data[line], MAX_LEN, file) != NULL)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line++;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33172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at most MAX_LEN-1 characters, or up to and including the first newline, whichever comes first. Adds the \0 itself.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feof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15468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once a read has already hit the end of the file. It reports the past, not the future — which is why the NULL check is still needed.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77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97764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something went wrong while reading. Without it, an I/O error would spin this loop forever.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80060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fgets returns when it read nothing. Only then is line left alone, so no empty slot is counted.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1298448"/>
            <a:ext cx="4736592" cy="1564132"/>
          </a:xfrm>
          <a:prstGeom prst="roundRect">
            <a:avLst>
              <a:gd name="adj" fmla="val 3508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0024" y="1504188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453896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while (fgets(...))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68312" y="1746504"/>
            <a:ext cx="4224528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 programmers write while (fgets(data[line], MAX_LEN, file) != NULL) line++; — shorter, and correct for the same reasons. Try rewriting it that way and check the output is identical.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12280" y="3063240"/>
            <a:ext cx="4736592" cy="1886585"/>
          </a:xfrm>
          <a:prstGeom prst="roundRect">
            <a:avLst>
              <a:gd name="adj" fmla="val 290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0024" y="326898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321868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511296"/>
            <a:ext cx="4224528" cy="1328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MAX_LINES to 2 and give the file five lines.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MAX_LEN to 8 and add a long line: watch it come back split across several slots.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some_text.txt and run again to exercise the error branch.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9395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04, 05 and 06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from the command line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04 and 06: take the filename from argv[1] instead of hard-coding "some_text.txt", and print a usage message if argc &lt; 2.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7240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5528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05 to create file.txt, then point 06 at it and print it back. You have written and read the same file.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5488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4944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1494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33232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instead of overwrite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3232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"w" to "a" in 05 and run it three times. Look at the file after each run.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lines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06 print how many lines it read, and the length of the longest one.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7784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7240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72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05528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 output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05528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each line prefixed by its index, and add the \n yourself after stripping the one fgets kept.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5488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4944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14944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33232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on purpose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33232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both programs open a file in a directory that does not exist, and check that each one exits with a non-zero status.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has been sized when you wrote the code. malloc lets a program decide how much memory it needs while it is running — and makes you responsible for giving it back.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7498080" cy="1938528"/>
          </a:xfrm>
          <a:prstGeom prst="roundRect">
            <a:avLst>
              <a:gd name="adj" fmla="val 3774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465576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allocation versus the heap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and realloc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array declared with [] can never be resized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out-of-bounds access really looks like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the line missing from this file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2056486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205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07_..._malloc_realloc.c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your data can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/ automatic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865376"/>
            <a:ext cx="4937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array2[] = {11, 12, 13};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fixed when you write the code. Space is reserved automatically when the function starts and released when it returns.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effortless — and completely inflexible. You cannot resize it, and it disappears when the function ends.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53912" y="13716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1656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(the heap)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91656" y="1865376"/>
            <a:ext cx="4937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int* array = malloc(3 * sizeof(int));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decided at run time — it can depend on user input or a file's contents. The block stays alive until you free it, even across function returns.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and entirely your responsibility.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07_example_malloc_realloc.c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4133088"/>
            <a:ext cx="10908792" cy="1358646"/>
          </a:xfrm>
          <a:prstGeom prst="roundRect">
            <a:avLst>
              <a:gd name="adj" fmla="val 336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4270248"/>
            <a:ext cx="10469880" cy="1084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array = malloc(3 * sizeof(int));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type casting needed in C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array[2] = 5;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printf("FIRST PRINT: %d\n", array[2]);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14416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takes a number of bytes, which is why you multiply by sizeof(int) rather than counting elements. It returns a void* that assigns to any pointer type — and NULL if the allocation failed, which real code must check.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2056486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205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07_..._malloc_realloc.c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realloc: resizing a block you own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WORKS: THE BLOCK CAME FROM malloc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943600" cy="1115568"/>
          </a:xfrm>
          <a:prstGeom prst="roundRect">
            <a:avLst>
              <a:gd name="adj" fmla="val 4098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504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= realloc(array, 4000000 * sizeof(int));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array[3000000] = 10;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printf("AFTER1: %d\n", array[3000000]);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1635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COMPILE: array2 IS STATIC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943600" cy="713232"/>
          </a:xfrm>
          <a:prstGeom prst="roundRect">
            <a:avLst>
              <a:gd name="adj" fmla="val 641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200400"/>
            <a:ext cx="5504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array2[] = {11, 12, 13};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//array2 = realloc(array2, 4000000 * sizeof(int));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50208"/>
            <a:ext cx="5943600" cy="1564132"/>
          </a:xfrm>
          <a:prstGeom prst="roundRect">
            <a:avLst>
              <a:gd name="adj" fmla="val 350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4155948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1056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398264"/>
            <a:ext cx="5431536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array2 is not a pointer variable — it is the name of a fixed block. You cannot assign to it at all, so it can never be pointed somewhere new. That is the practical difference between the two kinds of allocation.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298448"/>
            <a:ext cx="4736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 may return a completely different address: if the block cannot grow where it is, the contents are copied somewhere with room and the old block is released. Always assign the result back.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12280" y="3108960"/>
            <a:ext cx="4736592" cy="1564132"/>
          </a:xfrm>
          <a:prstGeom prst="roundRect">
            <a:avLst>
              <a:gd name="adj" fmla="val 3508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0024" y="331470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326440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PATTERN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3557016"/>
            <a:ext cx="4224528" cy="100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= realloc(array, n) loses your only pointer if realloc fails and returns NULL. Production code assigns to a temporary first, checks it, and only then overwrites array.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12280" y="4892040"/>
            <a:ext cx="4736592" cy="1138682"/>
          </a:xfrm>
          <a:prstGeom prst="roundRect">
            <a:avLst>
              <a:gd name="adj" fmla="val 4818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0024" y="509778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504748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5340096"/>
            <a:ext cx="422452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value of array with %p before and after the realloc call. Did the block move?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2056486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205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07_..._malloc_realloc.c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out-of-bounds write crashes and another does not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ARE OUT OF BOUNDS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6035040" cy="1467612"/>
          </a:xfrm>
          <a:prstGeom prst="roundRect">
            <a:avLst>
              <a:gd name="adj" fmla="val 3115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59612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array = malloc(3 * sizeof(int));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array[30] = 10;        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usually "works"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//array[3000000] = 10;   // usually crashes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array2[] = {11, 12, 13};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array2[30] = 10;       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usually "works"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hands memory to your process in pages, typically 4 KB at a time. Index 30 lands inside a page you already own, so the write succeeds and quietly corrupts whatever was there. Index 3 000 000 lands in a page that was never mapped, and the CPU stops you: segmentation fault.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6035040" cy="1138682"/>
          </a:xfrm>
          <a:prstGeom prst="roundRect">
            <a:avLst>
              <a:gd name="adj" fmla="val 4818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82346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5065776"/>
            <a:ext cx="552297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did not crash" is not the same as "it is correct". The dangerous case is the one that appears to work.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1298448"/>
            <a:ext cx="4645152" cy="3246120"/>
          </a:xfrm>
          <a:prstGeom prst="roundRect">
            <a:avLst>
              <a:gd name="adj" fmla="val 1690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41464" y="1504188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1453896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1746504"/>
            <a:ext cx="413308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file as it is and note that array[30] and array2[30] both print 10.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array2[29] as the file does. Where did that value come from?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the two array[3000000] lines that come before the realloc call and run again.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array[3150002] after the realloc. It is inside the block, but was never assigned — what is in it?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everything with -fsanitize=address and rerun. Every one of these lines is now reported precisely.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2056486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2056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07_..._malloc_realloc.c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this file is missing: free()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malloc and every realloc must eventually be matched by exactly one free. There is no garbage collector. Add this line before the return and the program becomes correct.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LIFECYCLE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6035040" cy="1777746"/>
          </a:xfrm>
          <a:prstGeom prst="roundRect">
            <a:avLst>
              <a:gd name="adj" fmla="val 2572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67128"/>
            <a:ext cx="5596128" cy="150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array = malloc(3 * sizeof(int));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(array == NULL) return 1; 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malloc can fail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0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use it ... */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free(array);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= NULL; 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 nobody uses it by accident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384048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lost the pointer without freeing. The block is unreachable and unusable until the program exits.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90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free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459028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free twice on the same pointer corrupts the allocator. Usually a crash, sometimes worse.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40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after free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534009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 writing through a freed pointer. The memory may already belong to something else.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783080"/>
            <a:ext cx="4645152" cy="2103120"/>
          </a:xfrm>
          <a:prstGeom prst="roundRect">
            <a:avLst>
              <a:gd name="adj" fmla="val 2609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41464" y="1988820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1938528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159752" y="2231136"/>
            <a:ext cx="413308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free(array) at the end of main and recompile — the output is unchanged, which is the point.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print array[2] after the free and see what you get.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03720" y="4069080"/>
            <a:ext cx="4645152" cy="1351407"/>
          </a:xfrm>
          <a:prstGeom prst="roundRect">
            <a:avLst>
              <a:gd name="adj" fmla="val 4060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41464" y="427482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4224528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WORTH KNOWING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4517136"/>
            <a:ext cx="4133088" cy="79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./malloc_demo reports every byte still allocated when the program ended, and points at the malloc that created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9395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07_example_malloc_realloc.c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allocating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count from argv[1], malloc that many ints, fill them with a loop, print them, then free.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7240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as you go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5528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room for 2 ints and double the size with realloc each time the array fills up.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5488" y="146304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4944" y="164592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1494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33232" y="215798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return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3232" y="246888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malloc for an absurd amount of memory. Does it return NULL, and does your code handle it?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malloc with calloc(3, sizeof(int)) and print the values before assigning anything. What is the difference?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7784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7240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72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05528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06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05528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06 so that the lines are stored in a malloc'd array that grows with the file, instead of char data[100][1000].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5488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4944" y="3794760"/>
            <a:ext cx="384048" cy="384048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14944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33232" y="430682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hunt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33232" y="4617720"/>
            <a:ext cx="29961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of your programs under valgrind, with and without the free, and compare the summaries.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4173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600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build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now you have typed the same gcc command dozens of times. A Makefile records those commands once and rebuilds only what actually changed.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0" y="3310128"/>
            <a:ext cx="7498080" cy="1316736"/>
          </a:xfrm>
          <a:prstGeom prst="roundRect">
            <a:avLst>
              <a:gd name="adj" fmla="val 5556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3465576"/>
            <a:ext cx="6949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targets, prerequisites and recipes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make decides that something is out of date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character that catches everybody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1805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with a Makefile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5669280" cy="1719072"/>
          </a:xfrm>
          <a:prstGeom prst="roundRect">
            <a:avLst>
              <a:gd name="adj" fmla="val 2660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2303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01_basics.c -std=c11 -Wall \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-Wextra -O3 -o basics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02_array_pointers.c -std=c11 \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-Wall -Wextra -O3 -o array_pointers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...for every file, every time,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the flags typed the same way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298448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37960" y="1545336"/>
            <a:ext cx="5010912" cy="1115568"/>
          </a:xfrm>
          <a:prstGeom prst="roundRect">
            <a:avLst>
              <a:gd name="adj" fmla="val 4098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57416" y="1682496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builds everything that changed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the flags recorded once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3453384" cy="1463040"/>
          </a:xfrm>
          <a:prstGeom prst="roundRect">
            <a:avLst>
              <a:gd name="adj" fmla="val 375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342900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739896"/>
            <a:ext cx="2996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 live in the file, not in your shell history. Everybody on the project builds it the same way.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7784" y="3246120"/>
            <a:ext cx="3453384" cy="1463040"/>
          </a:xfrm>
          <a:prstGeom prst="roundRect">
            <a:avLst>
              <a:gd name="adj" fmla="val 375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05528" y="342900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05528" y="3739896"/>
            <a:ext cx="2996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compares timestamps and skips any target whose source has not changed since the last build.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5488" y="3246120"/>
            <a:ext cx="3453384" cy="1463040"/>
          </a:xfrm>
          <a:prstGeom prst="roundRect">
            <a:avLst>
              <a:gd name="adj" fmla="val 3750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3232" y="342900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3232" y="3739896"/>
            <a:ext cx="2996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Makefile is an executable description of how the project is put together.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908792" cy="1155700"/>
          </a:xfrm>
          <a:prstGeom prst="roundRect">
            <a:avLst>
              <a:gd name="adj" fmla="val 4747"/>
            </a:avLst>
          </a:prstGeom>
          <a:solidFill>
            <a:srgbClr val="E8F3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5097780"/>
            <a:ext cx="118872" cy="118872"/>
          </a:xfrm>
          <a:prstGeom prst="ellipse">
            <a:avLst/>
          </a:prstGeom>
          <a:solidFill>
            <a:srgbClr val="2F8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5047488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340096"/>
            <a:ext cx="10396728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is not part of C, and it is not tied to gcc. It is a general tool for saying "if this file is newer than that one, run this command" — which happens to fit compilation perfectly.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1805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the course Makefile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FILE, IN FULL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45336"/>
            <a:ext cx="6309360" cy="3328416"/>
          </a:xfrm>
          <a:prstGeom prst="roundRect">
            <a:avLst>
              <a:gd name="adj" fmla="val 137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82496"/>
            <a:ext cx="5870448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     = gcc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 = -std=c11 -Wall -Wextra -O3 -march=native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SRC1    = ./01_basics.c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SRC2    = ./02_array_pointers.c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EXE1    = basics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EXE2    = array_pointers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 $(EXE1) $(EXE2)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$(EXE1): $(SRC1)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$(CC) $(SRC1) $(CFLAGS) -o $(EXE1)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$(EXE2): $(SRC2)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$(CC) $(SRC2) $(CFLAGS) -o $(EXE2)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29844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545336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and CFLAGS are plain assignments. $(CC) expands to their value wherever it appears.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26771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514600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before the colon — usually the file to be produced. $(EXE1) is basics.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23697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3483864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after the colon. If any of them is newer than the target, the target must be rebuilt.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20624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4453128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indented command line beneath. This is the shell command make runs to produce the target.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5175504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5422392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that builds nothing itself; it simply depends on the two executables. It comes first, so it is the default.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6309360" cy="1121664"/>
          </a:xfrm>
          <a:prstGeom prst="roundRect">
            <a:avLst>
              <a:gd name="adj" fmla="val 4891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326380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2760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INDENTS ARE TAB CHARACTERS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568696"/>
            <a:ext cx="579729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look like spaces here, but in the real file every recipe line begins with a single tab. Check yours with cat -A Makefile: a tab shows up as ^I.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1805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that trip everyone up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Recipes must start with a real tab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819656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$(EXE1): $(SRC1)</a:t>
            </a:r>
            <a:endParaRPr lang="en-US" sz="1200" dirty="0"/>
          </a:p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&lt;TAB&gt;$(CC) $(SRC1) $(CFLAGS) -o $(EXE1)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760720" cy="503682"/>
          </a:xfrm>
          <a:prstGeom prst="roundRect">
            <a:avLst>
              <a:gd name="adj" fmla="val 9077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834640"/>
            <a:ext cx="5321808" cy="22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F0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Makefile:12: *** missing separator.  Stop.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message means spaces where a tab was required. Many editors convert tabs to spaces by default — if yours does, turn it off for Makefiles. cat -A shows tabs as ^I so you can check.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2801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make looks at timestamps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629400" y="1682496"/>
            <a:ext cx="4919472" cy="2238756"/>
          </a:xfrm>
          <a:prstGeom prst="roundRect">
            <a:avLst>
              <a:gd name="adj" fmla="val 2042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819656"/>
            <a:ext cx="4480560" cy="196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./01_basics.c ... -o basics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./02_array_pointers.c ...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 Nothing to be done for 'all'.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01_basics.c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./01_basics.c ... -o basics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97764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file whose source changed was rebuilt. On a project with hundreds of files, that is the difference between seconds and minutes.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10912"/>
            <a:ext cx="10908792" cy="1155700"/>
          </a:xfrm>
          <a:prstGeom prst="roundRect">
            <a:avLst>
              <a:gd name="adj" fmla="val 4747"/>
            </a:avLst>
          </a:prstGeom>
          <a:solidFill>
            <a:srgbClr val="FAEB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5216652"/>
            <a:ext cx="118872" cy="118872"/>
          </a:xfrm>
          <a:prstGeom prst="ellipse">
            <a:avLst/>
          </a:prstGeom>
          <a:solidFill>
            <a:srgbClr val="B84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5166360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458968"/>
            <a:ext cx="10396728" cy="59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CFLAGS line does not trigger a rebuild: the Makefile is not listed as a prerequisite of anything. If you change the flags, delete the executables first — or add a clean target, which is your next exercise.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18058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finish the Makefile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supplied Makefile stops at file 02. Extend it to build all seven programs, and add two targets that every real Makefile has.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POINT FOR YOUR VERSION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984248"/>
            <a:ext cx="6035040" cy="3998976"/>
          </a:xfrm>
          <a:prstGeom prst="roundRect">
            <a:avLst>
              <a:gd name="adj" fmla="val 1143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21408"/>
            <a:ext cx="5596128" cy="372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     = gcc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 = -std=c11 -Wall -Wextra -O3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LDLIBS  = -lm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EXES    = basics array_pointers char_strings \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argv write_files read_lines mem_demo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 $(EXES)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basics: 01_basics.c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$(CC) $&lt; $(CFLAGS) -o $@ $(LDLIBS)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array_pointers: 02_array_pointers.c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$(CC) $&lt; $(CFLAGS) -o $@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...one rule per remaining file...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rm -f $(EXES) file.txt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.PHONY: all clean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$&lt;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737360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prerequisite — here, the .c file. Saves repeating the name.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578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$@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578608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being built. Together these two let one rule serve many files.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4198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3419856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everything the build produced, so the next make starts from scratch. Run it with make clean.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42611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.PHONY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4261104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make that all and clean are not filenames. Without it, a file called clean in the folder would stop the target from ever running.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5138928"/>
            <a:ext cx="4645152" cy="1121664"/>
          </a:xfrm>
          <a:prstGeom prst="roundRect">
            <a:avLst>
              <a:gd name="adj" fmla="val 4891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1464" y="5344668"/>
            <a:ext cx="118872" cy="118872"/>
          </a:xfrm>
          <a:prstGeom prst="ellipse">
            <a:avLst/>
          </a:prstGeom>
          <a:solidFill>
            <a:srgbClr val="D9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5294376"/>
            <a:ext cx="4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159752" y="5586984"/>
            <a:ext cx="413308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five missing rules, then run make, make again, make clean, and make once more.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993953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 sheet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83794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file.c -o prog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06654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into an executable named prog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49631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file.c -Wall -Wextra -o prog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72491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with the warnings that matter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15468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file.c -O0 -g -o prog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3832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optimisation, with debug symbols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58184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81304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file.c -o prog -lm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04164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maths library (sqrt, pow...)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16552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47141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./prog arg1 arg2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70001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passing two arguments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512978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$?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35838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exit status of the last run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45352" y="129844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245352" y="1783080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183794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-E file.c | less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06654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the preprocessor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45352" y="2441448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249631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-c file.c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272491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only, produce file.o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5352" y="3099816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315468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-fsanitize=address ...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3832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out-of-bounds access at run 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45352" y="3758184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381304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valgrind ./prog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404164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memory leaks and bad reads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45352" y="4416552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447141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/ make clean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470001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everything / delete the products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45352" y="5074920"/>
            <a:ext cx="5349240" cy="566928"/>
          </a:xfrm>
          <a:prstGeom prst="roundRect">
            <a:avLst>
              <a:gd name="adj" fmla="val 8065"/>
            </a:avLst>
          </a:prstGeom>
          <a:solidFill>
            <a:srgbClr val="F2F5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46520" y="512978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-A Makefile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535838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tabs as ^I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1752"/>
            <a:ext cx="690372" cy="274320"/>
          </a:xfrm>
          <a:prstGeom prst="roundRect">
            <a:avLst>
              <a:gd name="adj" fmla="val 46667"/>
            </a:avLst>
          </a:prstGeom>
          <a:solidFill>
            <a:srgbClr val="FBF1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01752"/>
            <a:ext cx="69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mistakes this course is designed to make you commit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7160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recompile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45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old executable and concluding your edit did nothing.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0428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7860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count throws away the remainder before any float is involved.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36976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past an array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511296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bounds check exists. It may print garbage, or corrupt something else.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16966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printf specifier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4398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%d for a pointer, %f for an int. printf believes whatever you tell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148072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1023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a string literal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376672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char* s = "..." points at read-only memory. Segmentation fault.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54496" y="1417320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54496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137160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 on a pointer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11696" y="1645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8, not the length of the data. Use strlen, or pass the length.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54496" y="2350008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54496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711696" y="2304288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instead of copying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11696" y="257860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q shares the data; only strcpy or memcpy duplicates 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54496" y="3282696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54496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11696" y="3236976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\0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711696" y="3511296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sized to the visible characters is one byte too small.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54496" y="4215384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54496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711696" y="416966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calling free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711696" y="444398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malloc needs exactly one free. Nothing cleans up for you.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54496" y="5148072"/>
            <a:ext cx="310896" cy="3108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54496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711696" y="510235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instead of a tab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711696" y="5376672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Makefile recipe: "missing separator. Stop."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270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71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1945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whole language in outline: types, arrays, pointers, functions, structures, files and dynamic memory. What is left is practice, and the parts of the standard library you have not needed yet.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5204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program across several .c files and write your own header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linked list, then a hash table, out of structs and malloc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debugger: gdb ./prog, then break main and step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K&amp;R, The C Programming Language - still the shortest route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086600" y="169164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6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ONE LAST TIME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086600" y="1938528"/>
            <a:ext cx="4343400" cy="1987296"/>
          </a:xfrm>
          <a:prstGeom prst="roundRect">
            <a:avLst>
              <a:gd name="adj" fmla="val 2301"/>
            </a:avLst>
          </a:prstGeom>
          <a:solidFill>
            <a:srgbClr val="1E2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06056" y="2075688"/>
            <a:ext cx="3904488" cy="171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prog.c -Wall -Wextra -o prog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./prog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one line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the result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compile, run, compare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FD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repeat.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 - hands on</dc:title>
  <dc:subject>PptxGenJS Presentation</dc:subject>
  <dc:creator>C course</dc:creator>
  <cp:lastModifiedBy>C course</cp:lastModifiedBy>
  <cp:revision>1</cp:revision>
  <dcterms:created xsi:type="dcterms:W3CDTF">2026-09-06T15:12:08Z</dcterms:created>
  <dcterms:modified xsi:type="dcterms:W3CDTF">2026-09-06T15:12:08Z</dcterms:modified>
</cp:coreProperties>
</file>
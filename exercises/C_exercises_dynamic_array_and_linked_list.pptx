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777240" y="1783080"/>
            <a:ext cx="603504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Two structures to build</a:t>
            </a:r>
            <a:endParaRPr lang="en-US" sz="4400" dirty="0"/>
          </a:p>
        </p:txBody>
      </p:sp>
      <p:sp>
        <p:nvSpPr>
          <p:cNvPr id="3" name="Text 1"/>
          <p:cNvSpPr txBox="1"/>
          <p:nvPr/>
        </p:nvSpPr>
        <p:spPr>
          <a:xfrm>
            <a:off x="777240" y="2633472"/>
            <a:ext cx="6035040" cy="457200"/>
          </a:xfrm>
          <a:prstGeom prst="rect">
            <a:avLst/>
          </a:prstGeom>
          <a:noFill/>
          <a:ln/>
        </p:spPr>
        <p:txBody>
          <a:bodyPr wrap="square" lIns="0" tIns="0" rIns="0" bIns="0" rtlCol="0" anchor="ctr"/>
          <a:lstStyle/>
          <a:p>
            <a:pPr indent="0" marL="0">
              <a:buNone/>
            </a:pPr>
            <a:r>
              <a:rPr lang="en-US" sz="2100" dirty="0">
                <a:solidFill>
                  <a:srgbClr val="D9901F"/>
                </a:solidFill>
                <a:latin typeface="Calibri" pitchFamily="34" charset="0"/>
                <a:ea typeface="Calibri" pitchFamily="34" charset="-122"/>
                <a:cs typeface="Calibri" pitchFamily="34" charset="-120"/>
              </a:rPr>
              <a:t>A dynamic array, and a linked list</a:t>
            </a:r>
            <a:endParaRPr lang="en-US" sz="2100" dirty="0"/>
          </a:p>
        </p:txBody>
      </p:sp>
      <p:sp>
        <p:nvSpPr>
          <p:cNvPr id="4" name="Text 2"/>
          <p:cNvSpPr txBox="1"/>
          <p:nvPr/>
        </p:nvSpPr>
        <p:spPr>
          <a:xfrm>
            <a:off x="777240" y="3246120"/>
            <a:ext cx="5852160" cy="1005840"/>
          </a:xfrm>
          <a:prstGeom prst="rect">
            <a:avLst/>
          </a:prstGeom>
          <a:noFill/>
          <a:ln/>
        </p:spPr>
        <p:txBody>
          <a:bodyPr wrap="square" lIns="0" tIns="0" rIns="0" bIns="0" rtlCol="0" anchor="t"/>
          <a:lstStyle/>
          <a:p>
            <a:pPr indent="0" marL="0">
              <a:lnSpc>
                <a:spcPts val="2000"/>
              </a:lnSpc>
              <a:buNone/>
            </a:pPr>
            <a:r>
              <a:rPr lang="en-US" sz="1400" dirty="0">
                <a:solidFill>
                  <a:srgbClr val="A9B7C4"/>
                </a:solidFill>
                <a:latin typeface="Calibri" pitchFamily="34" charset="0"/>
                <a:ea typeface="Calibri" pitchFamily="34" charset="-122"/>
                <a:cs typeface="Calibri" pitchFamily="34" charset="-120"/>
              </a:rPr>
              <a:t>Two exercises, with staged hints. One skeleton to fill in, one broken program to repair.</a:t>
            </a:r>
            <a:endParaRPr lang="en-US" sz="1400" dirty="0"/>
          </a:p>
          <a:p>
            <a:pPr indent="0" marL="0">
              <a:lnSpc>
                <a:spcPts val="2000"/>
              </a:lnSpc>
              <a:buNone/>
            </a:pPr>
            <a:r>
              <a:rPr lang="en-US" sz="1400" dirty="0">
                <a:solidFill>
                  <a:srgbClr val="A9B7C4"/>
                </a:solidFill>
                <a:latin typeface="Calibri" pitchFamily="34" charset="0"/>
                <a:ea typeface="Calibri" pitchFamily="34" charset="-122"/>
                <a:cs typeface="Calibri" pitchFamily="34" charset="-120"/>
              </a:rPr>
              <a:t>Both are built out of nothing but structs, pointers and malloc — everything you already have.</a:t>
            </a:r>
            <a:endParaRPr lang="en-US" sz="1400" dirty="0"/>
          </a:p>
        </p:txBody>
      </p:sp>
      <p:sp>
        <p:nvSpPr>
          <p:cNvPr id="5" name="Text 3"/>
          <p:cNvSpPr txBox="1"/>
          <p:nvPr/>
        </p:nvSpPr>
        <p:spPr>
          <a:xfrm>
            <a:off x="7086600" y="1828800"/>
            <a:ext cx="4343400" cy="219456"/>
          </a:xfrm>
          <a:prstGeom prst="rect">
            <a:avLst/>
          </a:prstGeom>
          <a:noFill/>
          <a:ln/>
        </p:spPr>
        <p:txBody>
          <a:bodyPr wrap="square" lIns="0" tIns="0" rIns="0" bIns="0" rtlCol="0" anchor="ctr"/>
          <a:lstStyle/>
          <a:p>
            <a:pPr indent="0" marL="0">
              <a:buNone/>
            </a:pPr>
            <a:r>
              <a:rPr lang="en-US" sz="950" b="1" spc="110" kern="0" dirty="0">
                <a:solidFill>
                  <a:srgbClr val="8697A5"/>
                </a:solidFill>
                <a:latin typeface="Calibri" pitchFamily="34" charset="0"/>
                <a:ea typeface="Calibri" pitchFamily="34" charset="-122"/>
                <a:cs typeface="Calibri" pitchFamily="34" charset="-120"/>
              </a:rPr>
              <a:t>THE TWO FILES</a:t>
            </a:r>
            <a:endParaRPr lang="en-US" sz="950" dirty="0"/>
          </a:p>
        </p:txBody>
      </p:sp>
      <p:sp>
        <p:nvSpPr>
          <p:cNvPr id="6" name="Shape 4"/>
          <p:cNvSpPr/>
          <p:nvPr/>
        </p:nvSpPr>
        <p:spPr>
          <a:xfrm>
            <a:off x="7086600" y="2075688"/>
            <a:ext cx="4343400" cy="1568196"/>
          </a:xfrm>
          <a:prstGeom prst="roundRect">
            <a:avLst>
              <a:gd name="adj" fmla="val 2915"/>
            </a:avLst>
          </a:prstGeom>
          <a:solidFill>
            <a:srgbClr val="1E2A38"/>
          </a:solidFill>
          <a:ln w="12700">
            <a:solidFill>
              <a:srgbClr val="333333"/>
            </a:solidFill>
            <a:prstDash val="solid"/>
          </a:ln>
        </p:spPr>
      </p:sp>
      <p:sp>
        <p:nvSpPr>
          <p:cNvPr id="7" name="Text 5"/>
          <p:cNvSpPr txBox="1"/>
          <p:nvPr/>
        </p:nvSpPr>
        <p:spPr>
          <a:xfrm>
            <a:off x="7306056" y="2212848"/>
            <a:ext cx="3904488" cy="1293876"/>
          </a:xfrm>
          <a:prstGeom prst="rect">
            <a:avLst/>
          </a:prstGeom>
          <a:noFill/>
          <a:ln/>
        </p:spPr>
        <p:txBody>
          <a:bodyPr wrap="square" lIns="0" tIns="0" rIns="0" bIns="0" rtlCol="0" anchor="t"/>
          <a:lstStyle/>
          <a:p>
            <a:pPr indent="0" marL="0">
              <a:lnSpc>
                <a:spcPts val="1650"/>
              </a:lnSpc>
              <a:buNone/>
            </a:pPr>
            <a:r>
              <a:rPr lang="en-US" sz="1250" dirty="0">
                <a:solidFill>
                  <a:srgbClr val="8FD9AE"/>
                </a:solidFill>
                <a:latin typeface="Courier New" pitchFamily="34" charset="0"/>
                <a:ea typeface="Courier New" pitchFamily="34" charset="-122"/>
                <a:cs typeface="Courier New" pitchFamily="34" charset="-120"/>
              </a:rPr>
              <a:t>dynamic_array.c   # fill in</a:t>
            </a:r>
            <a:endParaRPr lang="en-US" sz="1250" dirty="0"/>
          </a:p>
          <a:p>
            <a:pPr indent="0" marL="0">
              <a:lnSpc>
                <a:spcPts val="1650"/>
              </a:lnSpc>
              <a:buNone/>
            </a:pPr>
            <a:r>
              <a:rPr lang="en-US" sz="1250" dirty="0">
                <a:solidFill>
                  <a:srgbClr val="8FD9AE"/>
                </a:solidFill>
                <a:latin typeface="Courier New" pitchFamily="34" charset="0"/>
                <a:ea typeface="Courier New" pitchFamily="34" charset="-122"/>
                <a:cs typeface="Courier New" pitchFamily="34" charset="-120"/>
              </a:rPr>
              <a:t>linked_list.c     # repair</a:t>
            </a:r>
            <a:endParaRPr lang="en-US" sz="1250" dirty="0"/>
          </a:p>
          <a:p>
            <a:pPr indent="0" marL="0">
              <a:lnSpc>
                <a:spcPts val="1650"/>
              </a:lnSpc>
              <a:buNone/>
            </a:pPr>
            <a:r>
              <a:rPr lang="en-US" sz="1250" dirty="0">
                <a:solidFill>
                  <a:srgbClr val="8FD9AE"/>
                </a:solidFill>
                <a:latin typeface="Courier New" pitchFamily="34" charset="0"/>
                <a:ea typeface="Courier New" pitchFamily="34" charset="-122"/>
                <a:cs typeface="Courier New" pitchFamily="34" charset="-120"/>
              </a:rPr>
              <a:t> </a:t>
            </a:r>
            <a:endParaRPr lang="en-US" sz="1250" dirty="0"/>
          </a:p>
          <a:p>
            <a:pPr indent="0" marL="0">
              <a:lnSpc>
                <a:spcPts val="1650"/>
              </a:lnSpc>
              <a:buNone/>
            </a:pPr>
            <a:r>
              <a:rPr lang="en-US" sz="1250" dirty="0">
                <a:solidFill>
                  <a:srgbClr val="8FD9AE"/>
                </a:solidFill>
                <a:latin typeface="Courier New" pitchFamily="34" charset="0"/>
                <a:ea typeface="Courier New" pitchFamily="34" charset="-122"/>
                <a:cs typeface="Courier New" pitchFamily="34" charset="-120"/>
              </a:rPr>
              <a:t>$ gcc dynamic_array.c -Wall \</a:t>
            </a:r>
            <a:endParaRPr lang="en-US" sz="1250" dirty="0"/>
          </a:p>
          <a:p>
            <a:pPr indent="0" marL="0">
              <a:lnSpc>
                <a:spcPts val="1650"/>
              </a:lnSpc>
              <a:buNone/>
            </a:pPr>
            <a:r>
              <a:rPr lang="en-US" sz="1250" dirty="0">
                <a:solidFill>
                  <a:srgbClr val="8FD9AE"/>
                </a:solidFill>
                <a:latin typeface="Courier New" pitchFamily="34" charset="0"/>
                <a:ea typeface="Courier New" pitchFamily="34" charset="-122"/>
                <a:cs typeface="Courier New" pitchFamily="34" charset="-120"/>
              </a:rPr>
              <a:t>      -Wextra -g -o dynarr</a:t>
            </a:r>
            <a:endParaRPr lang="en-US" sz="1250" dirty="0"/>
          </a:p>
          <a:p>
            <a:pPr indent="0" marL="0">
              <a:lnSpc>
                <a:spcPts val="1650"/>
              </a:lnSpc>
              <a:buNone/>
            </a:pPr>
            <a:r>
              <a:rPr lang="en-US" sz="1250" dirty="0">
                <a:solidFill>
                  <a:srgbClr val="8FD9AE"/>
                </a:solidFill>
                <a:latin typeface="Courier New" pitchFamily="34" charset="0"/>
                <a:ea typeface="Courier New" pitchFamily="34" charset="-122"/>
                <a:cs typeface="Courier New" pitchFamily="34" charset="-120"/>
              </a:rPr>
              <a:t>$ ./dynarr</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993953"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993953"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exercises</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Why these two</a:t>
            </a:r>
            <a:endParaRPr lang="en-US" sz="3000" dirty="0"/>
          </a:p>
        </p:txBody>
      </p:sp>
      <p:sp>
        <p:nvSpPr>
          <p:cNvPr id="5" name="Text 3"/>
          <p:cNvSpPr txBox="1"/>
          <p:nvPr/>
        </p:nvSpPr>
        <p:spPr>
          <a:xfrm>
            <a:off x="640080" y="1188720"/>
            <a:ext cx="10908792" cy="457200"/>
          </a:xfrm>
          <a:prstGeom prst="rect">
            <a:avLst/>
          </a:prstGeom>
          <a:noFill/>
          <a:ln/>
        </p:spPr>
        <p:txBody>
          <a:bodyPr wrap="square" lIns="0" tIns="0" rIns="0" bIns="0" rtlCol="0" anchor="t"/>
          <a:lstStyle/>
          <a:p>
            <a:pPr indent="0" marL="0">
              <a:lnSpc>
                <a:spcPts val="1823"/>
              </a:lnSpc>
              <a:buNone/>
            </a:pPr>
            <a:r>
              <a:rPr lang="en-US" sz="1350" dirty="0">
                <a:solidFill>
                  <a:srgbClr val="62707E"/>
                </a:solidFill>
                <a:latin typeface="Calibri" pitchFamily="34" charset="0"/>
                <a:ea typeface="Calibri" pitchFamily="34" charset="-122"/>
                <a:cs typeface="Calibri" pitchFamily="34" charset="-120"/>
              </a:rPr>
              <a:t>Neither exercise introduces anything new. They ask you to combine things you met one at a time in files 01 to 07, and that combination is where C actually gets difficult.</a:t>
            </a:r>
            <a:endParaRPr lang="en-US" sz="1350" dirty="0"/>
          </a:p>
        </p:txBody>
      </p:sp>
      <p:sp>
        <p:nvSpPr>
          <p:cNvPr id="6" name="Shape 4"/>
          <p:cNvSpPr/>
          <p:nvPr/>
        </p:nvSpPr>
        <p:spPr>
          <a:xfrm>
            <a:off x="640080" y="1783080"/>
            <a:ext cx="2521458" cy="1737360"/>
          </a:xfrm>
          <a:prstGeom prst="roundRect">
            <a:avLst>
              <a:gd name="adj" fmla="val 3158"/>
            </a:avLst>
          </a:prstGeom>
          <a:solidFill>
            <a:srgbClr val="F2F5F8"/>
          </a:solidFill>
          <a:ln w="12700">
            <a:solidFill>
              <a:srgbClr val="333333"/>
            </a:solidFill>
            <a:prstDash val="solid"/>
          </a:ln>
        </p:spPr>
      </p:sp>
      <p:sp>
        <p:nvSpPr>
          <p:cNvPr id="7" name="Text 5"/>
          <p:cNvSpPr txBox="1"/>
          <p:nvPr/>
        </p:nvSpPr>
        <p:spPr>
          <a:xfrm>
            <a:off x="877824" y="1965960"/>
            <a:ext cx="2064258" cy="274320"/>
          </a:xfrm>
          <a:prstGeom prst="rect">
            <a:avLst/>
          </a:prstGeom>
          <a:noFill/>
          <a:ln/>
        </p:spPr>
        <p:txBody>
          <a:bodyPr wrap="square" lIns="0" tIns="0" rIns="0" bIns="0"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Structures</a:t>
            </a:r>
            <a:endParaRPr lang="en-US" sz="1400" dirty="0"/>
          </a:p>
        </p:txBody>
      </p:sp>
      <p:sp>
        <p:nvSpPr>
          <p:cNvPr id="8" name="Text 6"/>
          <p:cNvSpPr txBox="1"/>
          <p:nvPr/>
        </p:nvSpPr>
        <p:spPr>
          <a:xfrm>
            <a:off x="877824" y="2276856"/>
            <a:ext cx="2064258" cy="1115568"/>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Grouping a pointer and two counters into one thing that travels together.</a:t>
            </a:r>
            <a:endParaRPr lang="en-US" sz="1200" dirty="0"/>
          </a:p>
        </p:txBody>
      </p:sp>
      <p:sp>
        <p:nvSpPr>
          <p:cNvPr id="9" name="Shape 7"/>
          <p:cNvSpPr/>
          <p:nvPr/>
        </p:nvSpPr>
        <p:spPr>
          <a:xfrm>
            <a:off x="3435858" y="1783080"/>
            <a:ext cx="2521458" cy="1737360"/>
          </a:xfrm>
          <a:prstGeom prst="roundRect">
            <a:avLst>
              <a:gd name="adj" fmla="val 3158"/>
            </a:avLst>
          </a:prstGeom>
          <a:solidFill>
            <a:srgbClr val="F2F5F8"/>
          </a:solidFill>
          <a:ln w="12700">
            <a:solidFill>
              <a:srgbClr val="333333"/>
            </a:solidFill>
            <a:prstDash val="solid"/>
          </a:ln>
        </p:spPr>
      </p:sp>
      <p:sp>
        <p:nvSpPr>
          <p:cNvPr id="10" name="Text 8"/>
          <p:cNvSpPr txBox="1"/>
          <p:nvPr/>
        </p:nvSpPr>
        <p:spPr>
          <a:xfrm>
            <a:off x="3673602" y="1965960"/>
            <a:ext cx="2064258" cy="274320"/>
          </a:xfrm>
          <a:prstGeom prst="rect">
            <a:avLst/>
          </a:prstGeom>
          <a:noFill/>
          <a:ln/>
        </p:spPr>
        <p:txBody>
          <a:bodyPr wrap="square" lIns="0" tIns="0" rIns="0" bIns="0"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Pointers</a:t>
            </a:r>
            <a:endParaRPr lang="en-US" sz="1400" dirty="0"/>
          </a:p>
        </p:txBody>
      </p:sp>
      <p:sp>
        <p:nvSpPr>
          <p:cNvPr id="11" name="Text 9"/>
          <p:cNvSpPr txBox="1"/>
          <p:nvPr/>
        </p:nvSpPr>
        <p:spPr>
          <a:xfrm>
            <a:off x="3673602" y="2276856"/>
            <a:ext cx="2064258" cy="1115568"/>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Functions that modify the caller's data, and pointers that live inside structs.</a:t>
            </a:r>
            <a:endParaRPr lang="en-US" sz="1200" dirty="0"/>
          </a:p>
        </p:txBody>
      </p:sp>
      <p:sp>
        <p:nvSpPr>
          <p:cNvPr id="12" name="Shape 10"/>
          <p:cNvSpPr/>
          <p:nvPr/>
        </p:nvSpPr>
        <p:spPr>
          <a:xfrm>
            <a:off x="6231636" y="1783080"/>
            <a:ext cx="2521458" cy="1737360"/>
          </a:xfrm>
          <a:prstGeom prst="roundRect">
            <a:avLst>
              <a:gd name="adj" fmla="val 3158"/>
            </a:avLst>
          </a:prstGeom>
          <a:solidFill>
            <a:srgbClr val="F2F5F8"/>
          </a:solidFill>
          <a:ln w="12700">
            <a:solidFill>
              <a:srgbClr val="333333"/>
            </a:solidFill>
            <a:prstDash val="solid"/>
          </a:ln>
        </p:spPr>
      </p:sp>
      <p:sp>
        <p:nvSpPr>
          <p:cNvPr id="13" name="Text 11"/>
          <p:cNvSpPr txBox="1"/>
          <p:nvPr/>
        </p:nvSpPr>
        <p:spPr>
          <a:xfrm>
            <a:off x="6469380" y="1965960"/>
            <a:ext cx="2064258" cy="274320"/>
          </a:xfrm>
          <a:prstGeom prst="rect">
            <a:avLst/>
          </a:prstGeom>
          <a:noFill/>
          <a:ln/>
        </p:spPr>
        <p:txBody>
          <a:bodyPr wrap="square" lIns="0" tIns="0" rIns="0" bIns="0"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malloc, realloc, free</a:t>
            </a:r>
            <a:endParaRPr lang="en-US" sz="1400" dirty="0"/>
          </a:p>
        </p:txBody>
      </p:sp>
      <p:sp>
        <p:nvSpPr>
          <p:cNvPr id="14" name="Text 12"/>
          <p:cNvSpPr txBox="1"/>
          <p:nvPr/>
        </p:nvSpPr>
        <p:spPr>
          <a:xfrm>
            <a:off x="6469380" y="2276856"/>
            <a:ext cx="2064258" cy="1115568"/>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Deciding when memory is yours, when it grows, and when it stops being yours.</a:t>
            </a:r>
            <a:endParaRPr lang="en-US" sz="1200" dirty="0"/>
          </a:p>
        </p:txBody>
      </p:sp>
      <p:sp>
        <p:nvSpPr>
          <p:cNvPr id="15" name="Shape 13"/>
          <p:cNvSpPr/>
          <p:nvPr/>
        </p:nvSpPr>
        <p:spPr>
          <a:xfrm>
            <a:off x="9027414" y="1783080"/>
            <a:ext cx="2521458" cy="1737360"/>
          </a:xfrm>
          <a:prstGeom prst="roundRect">
            <a:avLst>
              <a:gd name="adj" fmla="val 3158"/>
            </a:avLst>
          </a:prstGeom>
          <a:solidFill>
            <a:srgbClr val="F2F5F8"/>
          </a:solidFill>
          <a:ln w="12700">
            <a:solidFill>
              <a:srgbClr val="333333"/>
            </a:solidFill>
            <a:prstDash val="solid"/>
          </a:ln>
        </p:spPr>
      </p:sp>
      <p:sp>
        <p:nvSpPr>
          <p:cNvPr id="16" name="Text 14"/>
          <p:cNvSpPr txBox="1"/>
          <p:nvPr/>
        </p:nvSpPr>
        <p:spPr>
          <a:xfrm>
            <a:off x="9265158" y="1965960"/>
            <a:ext cx="2064258" cy="274320"/>
          </a:xfrm>
          <a:prstGeom prst="rect">
            <a:avLst/>
          </a:prstGeom>
          <a:noFill/>
          <a:ln/>
        </p:spPr>
        <p:txBody>
          <a:bodyPr wrap="square" lIns="0" tIns="0" rIns="0" bIns="0"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No safety net</a:t>
            </a:r>
            <a:endParaRPr lang="en-US" sz="1400" dirty="0"/>
          </a:p>
        </p:txBody>
      </p:sp>
      <p:sp>
        <p:nvSpPr>
          <p:cNvPr id="17" name="Text 15"/>
          <p:cNvSpPr txBox="1"/>
          <p:nvPr/>
        </p:nvSpPr>
        <p:spPr>
          <a:xfrm>
            <a:off x="9265158" y="2276856"/>
            <a:ext cx="2064258" cy="1115568"/>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No bounds check, no garbage collector, no exception. Only what you write.</a:t>
            </a:r>
            <a:endParaRPr lang="en-US" sz="1200" dirty="0"/>
          </a:p>
        </p:txBody>
      </p:sp>
      <p:sp>
        <p:nvSpPr>
          <p:cNvPr id="18" name="Shape 16"/>
          <p:cNvSpPr/>
          <p:nvPr/>
        </p:nvSpPr>
        <p:spPr>
          <a:xfrm>
            <a:off x="640080" y="3749040"/>
            <a:ext cx="5394960" cy="1417320"/>
          </a:xfrm>
          <a:prstGeom prst="roundRect">
            <a:avLst>
              <a:gd name="adj" fmla="val 3871"/>
            </a:avLst>
          </a:prstGeom>
          <a:solidFill>
            <a:srgbClr val="FBF1DF"/>
          </a:solidFill>
          <a:ln w="12700">
            <a:solidFill>
              <a:srgbClr val="333333"/>
            </a:solidFill>
            <a:prstDash val="solid"/>
          </a:ln>
        </p:spPr>
      </p:sp>
      <p:sp>
        <p:nvSpPr>
          <p:cNvPr id="19" name="Text 17"/>
          <p:cNvSpPr txBox="1"/>
          <p:nvPr/>
        </p:nvSpPr>
        <p:spPr>
          <a:xfrm>
            <a:off x="877824" y="3931920"/>
            <a:ext cx="4937760"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Exercise A  ·  dynamic array</a:t>
            </a:r>
            <a:endParaRPr lang="en-US" sz="1500" dirty="0"/>
          </a:p>
        </p:txBody>
      </p:sp>
      <p:sp>
        <p:nvSpPr>
          <p:cNvPr id="20" name="Text 18"/>
          <p:cNvSpPr txBox="1"/>
          <p:nvPr/>
        </p:nvSpPr>
        <p:spPr>
          <a:xfrm>
            <a:off x="877824" y="4242816"/>
            <a:ext cx="4937760" cy="795528"/>
          </a:xfrm>
          <a:prstGeom prst="rect">
            <a:avLst/>
          </a:prstGeom>
          <a:noFill/>
          <a:ln/>
        </p:spPr>
        <p:txBody>
          <a:bodyPr wrap="square" lIns="0" tIns="0" rIns="0" bIns="0" rtlCol="0" anchor="t"/>
          <a:lstStyle/>
          <a:p>
            <a:pPr indent="0" marL="0">
              <a:buNone/>
            </a:pPr>
            <a:r>
              <a:rPr lang="en-US" sz="1250" dirty="0">
                <a:solidFill>
                  <a:srgbClr val="1A2530"/>
                </a:solidFill>
                <a:latin typeface="Calibri" pitchFamily="34" charset="0"/>
                <a:ea typeface="Calibri" pitchFamily="34" charset="-122"/>
                <a:cs typeface="Calibri" pitchFamily="34" charset="-120"/>
              </a:rPr>
              <a:t>An array that grows as you add to it. This is roughly what a Python list is underneath. You are given a skeleton with three empty functions.</a:t>
            </a:r>
            <a:endParaRPr lang="en-US" sz="1250" dirty="0"/>
          </a:p>
        </p:txBody>
      </p:sp>
      <p:sp>
        <p:nvSpPr>
          <p:cNvPr id="21" name="Shape 19"/>
          <p:cNvSpPr/>
          <p:nvPr/>
        </p:nvSpPr>
        <p:spPr>
          <a:xfrm>
            <a:off x="6153912" y="3749040"/>
            <a:ext cx="5394960" cy="1417320"/>
          </a:xfrm>
          <a:prstGeom prst="roundRect">
            <a:avLst>
              <a:gd name="adj" fmla="val 3871"/>
            </a:avLst>
          </a:prstGeom>
          <a:solidFill>
            <a:srgbClr val="FBF1DF"/>
          </a:solidFill>
          <a:ln w="12700">
            <a:solidFill>
              <a:srgbClr val="333333"/>
            </a:solidFill>
            <a:prstDash val="solid"/>
          </a:ln>
        </p:spPr>
      </p:sp>
      <p:sp>
        <p:nvSpPr>
          <p:cNvPr id="22" name="Text 20"/>
          <p:cNvSpPr txBox="1"/>
          <p:nvPr/>
        </p:nvSpPr>
        <p:spPr>
          <a:xfrm>
            <a:off x="6391656" y="3931920"/>
            <a:ext cx="4937760"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Exercise B  ·  linked list</a:t>
            </a:r>
            <a:endParaRPr lang="en-US" sz="1500" dirty="0"/>
          </a:p>
        </p:txBody>
      </p:sp>
      <p:sp>
        <p:nvSpPr>
          <p:cNvPr id="23" name="Text 21"/>
          <p:cNvSpPr txBox="1"/>
          <p:nvPr/>
        </p:nvSpPr>
        <p:spPr>
          <a:xfrm>
            <a:off x="6391656" y="4242816"/>
            <a:ext cx="4937760" cy="795528"/>
          </a:xfrm>
          <a:prstGeom prst="rect">
            <a:avLst/>
          </a:prstGeom>
          <a:noFill/>
          <a:ln/>
        </p:spPr>
        <p:txBody>
          <a:bodyPr wrap="square" lIns="0" tIns="0" rIns="0" bIns="0" rtlCol="0" anchor="t"/>
          <a:lstStyle/>
          <a:p>
            <a:pPr indent="0" marL="0">
              <a:buNone/>
            </a:pPr>
            <a:r>
              <a:rPr lang="en-US" sz="1250" dirty="0">
                <a:solidFill>
                  <a:srgbClr val="1A2530"/>
                </a:solidFill>
                <a:latin typeface="Calibri" pitchFamily="34" charset="0"/>
                <a:ea typeface="Calibri" pitchFamily="34" charset="-122"/>
                <a:cs typeface="Calibri" pitchFamily="34" charset="-120"/>
              </a:rPr>
              <a:t>A chain of separately allocated nodes. You are given a program that compiles, appears to run, and is wrong in at least four ways.</a:t>
            </a:r>
            <a:endParaRPr lang="en-US" sz="12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221638"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221638"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ground rules</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How to work on these</a:t>
            </a:r>
            <a:endParaRPr lang="en-US" sz="3000" dirty="0"/>
          </a:p>
        </p:txBody>
      </p:sp>
      <p:sp>
        <p:nvSpPr>
          <p:cNvPr id="5" name="Shape 3"/>
          <p:cNvSpPr/>
          <p:nvPr/>
        </p:nvSpPr>
        <p:spPr>
          <a:xfrm>
            <a:off x="640080" y="1572768"/>
            <a:ext cx="2521458" cy="2514600"/>
          </a:xfrm>
          <a:prstGeom prst="roundRect">
            <a:avLst>
              <a:gd name="adj" fmla="val 2182"/>
            </a:avLst>
          </a:prstGeom>
          <a:solidFill>
            <a:srgbClr val="F2F5F8"/>
          </a:solidFill>
          <a:ln w="12700">
            <a:solidFill>
              <a:srgbClr val="333333"/>
            </a:solidFill>
            <a:prstDash val="solid"/>
          </a:ln>
        </p:spPr>
      </p:sp>
      <p:sp>
        <p:nvSpPr>
          <p:cNvPr id="6" name="Shape 4"/>
          <p:cNvSpPr/>
          <p:nvPr/>
        </p:nvSpPr>
        <p:spPr>
          <a:xfrm>
            <a:off x="859536" y="1755648"/>
            <a:ext cx="384048" cy="384048"/>
          </a:xfrm>
          <a:prstGeom prst="ellipse">
            <a:avLst/>
          </a:prstGeom>
          <a:solidFill>
            <a:srgbClr val="D9901F"/>
          </a:solidFill>
          <a:ln w="12700">
            <a:solidFill>
              <a:srgbClr val="333333"/>
            </a:solidFill>
            <a:prstDash val="solid"/>
          </a:ln>
        </p:spPr>
      </p:sp>
      <p:sp>
        <p:nvSpPr>
          <p:cNvPr id="7" name="Text 5"/>
          <p:cNvSpPr txBox="1"/>
          <p:nvPr/>
        </p:nvSpPr>
        <p:spPr>
          <a:xfrm>
            <a:off x="859536" y="1755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77824" y="2267712"/>
            <a:ext cx="2064258"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Run it first</a:t>
            </a:r>
            <a:endParaRPr lang="en-US" sz="1500" dirty="0"/>
          </a:p>
        </p:txBody>
      </p:sp>
      <p:sp>
        <p:nvSpPr>
          <p:cNvPr id="9" name="Text 7"/>
          <p:cNvSpPr txBox="1"/>
          <p:nvPr/>
        </p:nvSpPr>
        <p:spPr>
          <a:xfrm>
            <a:off x="877824" y="2578608"/>
            <a:ext cx="2064258" cy="138074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Even a broken program tells you something. Compile and run before you change a single character, and keep that output to compare against.</a:t>
            </a:r>
            <a:endParaRPr lang="en-US" sz="1200" dirty="0"/>
          </a:p>
        </p:txBody>
      </p:sp>
      <p:sp>
        <p:nvSpPr>
          <p:cNvPr id="10" name="Shape 8"/>
          <p:cNvSpPr/>
          <p:nvPr/>
        </p:nvSpPr>
        <p:spPr>
          <a:xfrm>
            <a:off x="3435858" y="1572768"/>
            <a:ext cx="2521458" cy="2514600"/>
          </a:xfrm>
          <a:prstGeom prst="roundRect">
            <a:avLst>
              <a:gd name="adj" fmla="val 2182"/>
            </a:avLst>
          </a:prstGeom>
          <a:solidFill>
            <a:srgbClr val="F2F5F8"/>
          </a:solidFill>
          <a:ln w="12700">
            <a:solidFill>
              <a:srgbClr val="333333"/>
            </a:solidFill>
            <a:prstDash val="solid"/>
          </a:ln>
        </p:spPr>
      </p:sp>
      <p:sp>
        <p:nvSpPr>
          <p:cNvPr id="11" name="Shape 9"/>
          <p:cNvSpPr/>
          <p:nvPr/>
        </p:nvSpPr>
        <p:spPr>
          <a:xfrm>
            <a:off x="3655314" y="1755648"/>
            <a:ext cx="384048" cy="384048"/>
          </a:xfrm>
          <a:prstGeom prst="ellipse">
            <a:avLst/>
          </a:prstGeom>
          <a:solidFill>
            <a:srgbClr val="D9901F"/>
          </a:solidFill>
          <a:ln w="12700">
            <a:solidFill>
              <a:srgbClr val="333333"/>
            </a:solidFill>
            <a:prstDash val="solid"/>
          </a:ln>
        </p:spPr>
      </p:sp>
      <p:sp>
        <p:nvSpPr>
          <p:cNvPr id="12" name="Text 10"/>
          <p:cNvSpPr txBox="1"/>
          <p:nvPr/>
        </p:nvSpPr>
        <p:spPr>
          <a:xfrm>
            <a:off x="3655314" y="1755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673602" y="2267712"/>
            <a:ext cx="2064258"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Draw it on paper</a:t>
            </a:r>
            <a:endParaRPr lang="en-US" sz="1500" dirty="0"/>
          </a:p>
        </p:txBody>
      </p:sp>
      <p:sp>
        <p:nvSpPr>
          <p:cNvPr id="14" name="Text 12"/>
          <p:cNvSpPr txBox="1"/>
          <p:nvPr/>
        </p:nvSpPr>
        <p:spPr>
          <a:xfrm>
            <a:off x="3673602" y="2578608"/>
            <a:ext cx="2064258" cy="138074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Both structures are pictures before they are code. Three boxes and two arrows will answer most of your questions faster than the debugger.</a:t>
            </a:r>
            <a:endParaRPr lang="en-US" sz="1200" dirty="0"/>
          </a:p>
        </p:txBody>
      </p:sp>
      <p:sp>
        <p:nvSpPr>
          <p:cNvPr id="15" name="Shape 13"/>
          <p:cNvSpPr/>
          <p:nvPr/>
        </p:nvSpPr>
        <p:spPr>
          <a:xfrm>
            <a:off x="6231636" y="1572768"/>
            <a:ext cx="2521458" cy="2514600"/>
          </a:xfrm>
          <a:prstGeom prst="roundRect">
            <a:avLst>
              <a:gd name="adj" fmla="val 2182"/>
            </a:avLst>
          </a:prstGeom>
          <a:solidFill>
            <a:srgbClr val="F2F5F8"/>
          </a:solidFill>
          <a:ln w="12700">
            <a:solidFill>
              <a:srgbClr val="333333"/>
            </a:solidFill>
            <a:prstDash val="solid"/>
          </a:ln>
        </p:spPr>
      </p:sp>
      <p:sp>
        <p:nvSpPr>
          <p:cNvPr id="16" name="Shape 14"/>
          <p:cNvSpPr/>
          <p:nvPr/>
        </p:nvSpPr>
        <p:spPr>
          <a:xfrm>
            <a:off x="6451092" y="1755648"/>
            <a:ext cx="384048" cy="384048"/>
          </a:xfrm>
          <a:prstGeom prst="ellipse">
            <a:avLst/>
          </a:prstGeom>
          <a:solidFill>
            <a:srgbClr val="D9901F"/>
          </a:solidFill>
          <a:ln w="12700">
            <a:solidFill>
              <a:srgbClr val="333333"/>
            </a:solidFill>
            <a:prstDash val="solid"/>
          </a:ln>
        </p:spPr>
      </p:sp>
      <p:sp>
        <p:nvSpPr>
          <p:cNvPr id="17" name="Text 15"/>
          <p:cNvSpPr txBox="1"/>
          <p:nvPr/>
        </p:nvSpPr>
        <p:spPr>
          <a:xfrm>
            <a:off x="6451092" y="1755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469380" y="2267712"/>
            <a:ext cx="2064258"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Build with the sanitizer</a:t>
            </a:r>
            <a:endParaRPr lang="en-US" sz="1500" dirty="0"/>
          </a:p>
        </p:txBody>
      </p:sp>
      <p:sp>
        <p:nvSpPr>
          <p:cNvPr id="19" name="Text 17"/>
          <p:cNvSpPr txBox="1"/>
          <p:nvPr/>
        </p:nvSpPr>
        <p:spPr>
          <a:xfrm>
            <a:off x="6469380" y="2578608"/>
            <a:ext cx="2064258" cy="138074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gcc -Wall -Wextra -g -fsanitize=address. For these two exercises it is not optional: most of the mistakes you will make are invisible without it.</a:t>
            </a:r>
            <a:endParaRPr lang="en-US" sz="1200" dirty="0"/>
          </a:p>
        </p:txBody>
      </p:sp>
      <p:sp>
        <p:nvSpPr>
          <p:cNvPr id="20" name="Shape 18"/>
          <p:cNvSpPr/>
          <p:nvPr/>
        </p:nvSpPr>
        <p:spPr>
          <a:xfrm>
            <a:off x="9027414" y="1572768"/>
            <a:ext cx="2521458" cy="2514600"/>
          </a:xfrm>
          <a:prstGeom prst="roundRect">
            <a:avLst>
              <a:gd name="adj" fmla="val 2182"/>
            </a:avLst>
          </a:prstGeom>
          <a:solidFill>
            <a:srgbClr val="F2F5F8"/>
          </a:solidFill>
          <a:ln w="12700">
            <a:solidFill>
              <a:srgbClr val="333333"/>
            </a:solidFill>
            <a:prstDash val="solid"/>
          </a:ln>
        </p:spPr>
      </p:sp>
      <p:sp>
        <p:nvSpPr>
          <p:cNvPr id="21" name="Shape 19"/>
          <p:cNvSpPr/>
          <p:nvPr/>
        </p:nvSpPr>
        <p:spPr>
          <a:xfrm>
            <a:off x="9246870" y="1755648"/>
            <a:ext cx="384048" cy="384048"/>
          </a:xfrm>
          <a:prstGeom prst="ellipse">
            <a:avLst/>
          </a:prstGeom>
          <a:solidFill>
            <a:srgbClr val="D9901F"/>
          </a:solidFill>
          <a:ln w="12700">
            <a:solidFill>
              <a:srgbClr val="333333"/>
            </a:solidFill>
            <a:prstDash val="solid"/>
          </a:ln>
        </p:spPr>
      </p:sp>
      <p:sp>
        <p:nvSpPr>
          <p:cNvPr id="22" name="Text 20"/>
          <p:cNvSpPr txBox="1"/>
          <p:nvPr/>
        </p:nvSpPr>
        <p:spPr>
          <a:xfrm>
            <a:off x="9246870" y="1755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9265158" y="2267712"/>
            <a:ext cx="2064258"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One change, one compile</a:t>
            </a:r>
            <a:endParaRPr lang="en-US" sz="1500" dirty="0"/>
          </a:p>
        </p:txBody>
      </p:sp>
      <p:sp>
        <p:nvSpPr>
          <p:cNvPr id="24" name="Text 22"/>
          <p:cNvSpPr txBox="1"/>
          <p:nvPr/>
        </p:nvSpPr>
        <p:spPr>
          <a:xfrm>
            <a:off x="9265158" y="2578608"/>
            <a:ext cx="2064258" cy="138074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The same loop as before. Change one line, predict the result, recompile, compare. Two changes at once and you learn nothing from the crash.</a:t>
            </a:r>
            <a:endParaRPr lang="en-US" sz="1200" dirty="0"/>
          </a:p>
        </p:txBody>
      </p:sp>
      <p:sp>
        <p:nvSpPr>
          <p:cNvPr id="25" name="Shape 23"/>
          <p:cNvSpPr/>
          <p:nvPr/>
        </p:nvSpPr>
        <p:spPr>
          <a:xfrm>
            <a:off x="640080" y="4343400"/>
            <a:ext cx="10908792" cy="1653032"/>
          </a:xfrm>
          <a:prstGeom prst="roundRect">
            <a:avLst>
              <a:gd name="adj" fmla="val 3319"/>
            </a:avLst>
          </a:prstGeom>
          <a:solidFill>
            <a:srgbClr val="E8F3ED"/>
          </a:solidFill>
          <a:ln w="12700">
            <a:solidFill>
              <a:srgbClr val="333333"/>
            </a:solidFill>
            <a:prstDash val="solid"/>
          </a:ln>
        </p:spPr>
      </p:sp>
      <p:sp>
        <p:nvSpPr>
          <p:cNvPr id="26" name="Shape 24"/>
          <p:cNvSpPr/>
          <p:nvPr/>
        </p:nvSpPr>
        <p:spPr>
          <a:xfrm>
            <a:off x="877824" y="4549140"/>
            <a:ext cx="118872" cy="118872"/>
          </a:xfrm>
          <a:prstGeom prst="ellipse">
            <a:avLst/>
          </a:prstGeom>
          <a:solidFill>
            <a:srgbClr val="2F8A63"/>
          </a:solidFill>
          <a:ln w="12700">
            <a:solidFill>
              <a:srgbClr val="333333"/>
            </a:solidFill>
            <a:prstDash val="solid"/>
          </a:ln>
        </p:spPr>
      </p:sp>
      <p:sp>
        <p:nvSpPr>
          <p:cNvPr id="27" name="Text 25"/>
          <p:cNvSpPr txBox="1"/>
          <p:nvPr/>
        </p:nvSpPr>
        <p:spPr>
          <a:xfrm>
            <a:off x="1097280" y="4498848"/>
            <a:ext cx="10268712" cy="228600"/>
          </a:xfrm>
          <a:prstGeom prst="rect">
            <a:avLst/>
          </a:prstGeom>
          <a:noFill/>
          <a:ln/>
        </p:spPr>
        <p:txBody>
          <a:bodyPr wrap="square" lIns="0" tIns="0" rIns="0" bIns="0" rtlCol="0" anchor="ctr"/>
          <a:lstStyle/>
          <a:p>
            <a:pPr indent="0" marL="0">
              <a:buNone/>
            </a:pPr>
            <a:r>
              <a:rPr lang="en-US" sz="1050" b="1" spc="120" kern="0" dirty="0">
                <a:solidFill>
                  <a:srgbClr val="2F8A63"/>
                </a:solidFill>
                <a:latin typeface="Calibri" pitchFamily="34" charset="0"/>
                <a:ea typeface="Calibri" pitchFamily="34" charset="-122"/>
                <a:cs typeface="Calibri" pitchFamily="34" charset="-120"/>
              </a:rPr>
              <a:t>ABOUT THE HINTS IN THIS DECK</a:t>
            </a:r>
            <a:endParaRPr lang="en-US" sz="1050" dirty="0"/>
          </a:p>
        </p:txBody>
      </p:sp>
      <p:sp>
        <p:nvSpPr>
          <p:cNvPr id="28" name="Text 26"/>
          <p:cNvSpPr txBox="1"/>
          <p:nvPr/>
        </p:nvSpPr>
        <p:spPr>
          <a:xfrm>
            <a:off x="896112" y="4791456"/>
            <a:ext cx="10396728" cy="1095248"/>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A2530"/>
                </a:solidFill>
                <a:latin typeface="Calibri" pitchFamily="34" charset="0"/>
                <a:ea typeface="Calibri" pitchFamily="34" charset="-122"/>
                <a:cs typeface="Calibri" pitchFamily="34" charset="-120"/>
              </a:rPr>
              <a:t>Each exercise has its hints numbered and ordered. They get more explicit as they go, and the last ones contain code with blanks in it.</a:t>
            </a:r>
            <a:endParaRPr lang="en-US" sz="1300" dirty="0"/>
          </a:p>
          <a:p>
            <a:pPr marL="342900" indent="-342900">
              <a:spcAft>
                <a:spcPts val="400"/>
              </a:spcAft>
              <a:buSzPct val="100000"/>
              <a:buChar char="•"/>
            </a:pPr>
            <a:r>
              <a:rPr lang="en-US" sz="1300" dirty="0">
                <a:solidFill>
                  <a:srgbClr val="1A2530"/>
                </a:solidFill>
                <a:latin typeface="Calibri" pitchFamily="34" charset="0"/>
                <a:ea typeface="Calibri" pitchFamily="34" charset="-122"/>
                <a:cs typeface="Calibri" pitchFamily="34" charset="-120"/>
              </a:rPr>
              <a:t>Try the exercise first, then take the hints one at a time and stop at the first one that unblocks you. Nothing here is a finished solution — the blanks are yours to fill.</a:t>
            </a:r>
            <a:endParaRPr lang="en-US" sz="130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777240" y="1417320"/>
            <a:ext cx="2743200" cy="2194560"/>
          </a:xfrm>
          <a:prstGeom prst="rect">
            <a:avLst/>
          </a:prstGeom>
          <a:noFill/>
          <a:ln/>
        </p:spPr>
        <p:txBody>
          <a:bodyPr wrap="square" lIns="0" tIns="0" rIns="0" bIns="0" rtlCol="0" anchor="ctr"/>
          <a:lstStyle/>
          <a:p>
            <a:pPr indent="0" marL="0">
              <a:buNone/>
            </a:pPr>
            <a:r>
              <a:rPr lang="en-US" sz="15000" b="1" dirty="0">
                <a:solidFill>
                  <a:srgbClr val="D9901F"/>
                </a:solidFill>
                <a:latin typeface="Courier New" pitchFamily="34" charset="0"/>
                <a:ea typeface="Courier New" pitchFamily="34" charset="-122"/>
                <a:cs typeface="Courier New" pitchFamily="34" charset="-120"/>
              </a:rPr>
              <a:t>A</a:t>
            </a:r>
            <a:endParaRPr lang="en-US" sz="15000" dirty="0"/>
          </a:p>
        </p:txBody>
      </p:sp>
      <p:sp>
        <p:nvSpPr>
          <p:cNvPr id="3" name="Text 1"/>
          <p:cNvSpPr txBox="1"/>
          <p:nvPr/>
        </p:nvSpPr>
        <p:spPr>
          <a:xfrm>
            <a:off x="3931920" y="1600200"/>
            <a:ext cx="749808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Dynamic array</a:t>
            </a:r>
            <a:endParaRPr lang="en-US" sz="3600" dirty="0"/>
          </a:p>
        </p:txBody>
      </p:sp>
      <p:sp>
        <p:nvSpPr>
          <p:cNvPr id="4" name="Text 2"/>
          <p:cNvSpPr txBox="1"/>
          <p:nvPr/>
        </p:nvSpPr>
        <p:spPr>
          <a:xfrm>
            <a:off x="3931920" y="2450592"/>
            <a:ext cx="7498080" cy="640080"/>
          </a:xfrm>
          <a:prstGeom prst="rect">
            <a:avLst/>
          </a:prstGeom>
          <a:noFill/>
          <a:ln/>
        </p:spPr>
        <p:txBody>
          <a:bodyPr wrap="square" lIns="0" tIns="0" rIns="0" bIns="0" rtlCol="0" anchor="t"/>
          <a:lstStyle/>
          <a:p>
            <a:pPr indent="0" marL="0">
              <a:buNone/>
            </a:pPr>
            <a:r>
              <a:rPr lang="en-US" sz="1500" dirty="0">
                <a:solidFill>
                  <a:srgbClr val="A9B7C4"/>
                </a:solidFill>
                <a:latin typeface="Calibri" pitchFamily="34" charset="0"/>
                <a:ea typeface="Calibri" pitchFamily="34" charset="-122"/>
                <a:cs typeface="Calibri" pitchFamily="34" charset="-120"/>
              </a:rPr>
              <a:t>An array of int that grows on demand. You are given the struct, three empty functions and a main() that already says exactly how they must behave.</a:t>
            </a:r>
            <a:endParaRPr lang="en-US" sz="1500" dirty="0"/>
          </a:p>
        </p:txBody>
      </p:sp>
      <p:sp>
        <p:nvSpPr>
          <p:cNvPr id="5" name="Shape 3"/>
          <p:cNvSpPr/>
          <p:nvPr/>
        </p:nvSpPr>
        <p:spPr>
          <a:xfrm>
            <a:off x="3931920" y="3310128"/>
            <a:ext cx="7498080" cy="1627632"/>
          </a:xfrm>
          <a:prstGeom prst="roundRect">
            <a:avLst>
              <a:gd name="adj" fmla="val 4494"/>
            </a:avLst>
          </a:prstGeom>
          <a:solidFill>
            <a:srgbClr val="1E2A38"/>
          </a:solidFill>
          <a:ln w="12700">
            <a:solidFill>
              <a:srgbClr val="333333"/>
            </a:solidFill>
            <a:prstDash val="solid"/>
          </a:ln>
        </p:spPr>
      </p:sp>
      <p:sp>
        <p:nvSpPr>
          <p:cNvPr id="6" name="Text 4"/>
          <p:cNvSpPr txBox="1"/>
          <p:nvPr/>
        </p:nvSpPr>
        <p:spPr>
          <a:xfrm>
            <a:off x="4206240" y="3465576"/>
            <a:ext cx="6949440" cy="1335024"/>
          </a:xfrm>
          <a:prstGeom prst="rect">
            <a:avLst/>
          </a:prstGeom>
          <a:noFill/>
          <a:ln/>
        </p:spPr>
        <p:txBody>
          <a:bodyPr wrap="square" lIns="0" tIns="0" rIns="0" bIns="0" rtlCol="0" anchor="ctr"/>
          <a:lstStyle/>
          <a:p>
            <a:pPr marL="342900" indent="-342900">
              <a:spcAft>
                <a:spcPts val="300"/>
              </a:spcAft>
              <a:buSzPct val="100000"/>
              <a:buChar char="•"/>
            </a:pPr>
            <a:r>
              <a:rPr lang="en-US" sz="1300" dirty="0">
                <a:solidFill>
                  <a:srgbClr val="CFDAE4"/>
                </a:solidFill>
                <a:latin typeface="Calibri" pitchFamily="34" charset="0"/>
                <a:ea typeface="Calibri" pitchFamily="34" charset="-122"/>
                <a:cs typeface="Calibri" pitchFamily="34" charset="-120"/>
              </a:rPr>
              <a:t>Read the struct and work out what each field is for</a:t>
            </a:r>
            <a:endParaRPr lang="en-US" sz="1300" dirty="0"/>
          </a:p>
          <a:p>
            <a:pPr marL="342900" indent="-342900">
              <a:spcAft>
                <a:spcPts val="300"/>
              </a:spcAft>
              <a:buSzPct val="100000"/>
              <a:buChar char="•"/>
            </a:pPr>
            <a:r>
              <a:rPr lang="en-US" sz="1300" dirty="0">
                <a:solidFill>
                  <a:srgbClr val="CFDAE4"/>
                </a:solidFill>
                <a:latin typeface="Calibri" pitchFamily="34" charset="0"/>
                <a:ea typeface="Calibri" pitchFamily="34" charset="-122"/>
                <a:cs typeface="Calibri" pitchFamily="34" charset="-120"/>
              </a:rPr>
              <a:t>Implement initialize_arr, insert_arr and free_arr</a:t>
            </a:r>
            <a:endParaRPr lang="en-US" sz="1300" dirty="0"/>
          </a:p>
          <a:p>
            <a:pPr marL="342900" indent="-342900">
              <a:spcAft>
                <a:spcPts val="300"/>
              </a:spcAft>
              <a:buSzPct val="100000"/>
              <a:buChar char="•"/>
            </a:pPr>
            <a:r>
              <a:rPr lang="en-US" sz="1300" dirty="0">
                <a:solidFill>
                  <a:srgbClr val="CFDAE4"/>
                </a:solidFill>
                <a:latin typeface="Calibri" pitchFamily="34" charset="0"/>
                <a:ea typeface="Calibri" pitchFamily="34" charset="-122"/>
                <a:cs typeface="Calibri" pitchFamily="34" charset="-120"/>
              </a:rPr>
              <a:t>Decide how much bigger to make the block each time</a:t>
            </a:r>
            <a:endParaRPr lang="en-US" sz="1300" dirty="0"/>
          </a:p>
          <a:p>
            <a:pPr marL="342900" indent="-342900">
              <a:spcAft>
                <a:spcPts val="300"/>
              </a:spcAft>
              <a:buSzPct val="100000"/>
              <a:buChar char="•"/>
            </a:pPr>
            <a:r>
              <a:rPr lang="en-US" sz="1300" dirty="0">
                <a:solidFill>
                  <a:srgbClr val="CFDAE4"/>
                </a:solidFill>
                <a:latin typeface="Calibri" pitchFamily="34" charset="0"/>
                <a:ea typeface="Calibri" pitchFamily="34" charset="-122"/>
                <a:cs typeface="Calibri" pitchFamily="34" charset="-120"/>
              </a:rPr>
              <a:t>Fix the two mistakes that are already in main()</a:t>
            </a:r>
            <a:endParaRPr lang="en-US" sz="130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A7A8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449324"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449324"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dynamic_array.c</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The problem it solves</a:t>
            </a:r>
            <a:endParaRPr lang="en-US" sz="3000" dirty="0"/>
          </a:p>
        </p:txBody>
      </p:sp>
      <p:sp>
        <p:nvSpPr>
          <p:cNvPr id="5" name="Shape 3"/>
          <p:cNvSpPr/>
          <p:nvPr/>
        </p:nvSpPr>
        <p:spPr>
          <a:xfrm>
            <a:off x="640080" y="1325880"/>
            <a:ext cx="5394960" cy="2148840"/>
          </a:xfrm>
          <a:prstGeom prst="roundRect">
            <a:avLst>
              <a:gd name="adj" fmla="val 2553"/>
            </a:avLst>
          </a:prstGeom>
          <a:solidFill>
            <a:srgbClr val="F2F5F8"/>
          </a:solidFill>
          <a:ln w="12700">
            <a:solidFill>
              <a:srgbClr val="333333"/>
            </a:solidFill>
            <a:prstDash val="solid"/>
          </a:ln>
        </p:spPr>
      </p:sp>
      <p:sp>
        <p:nvSpPr>
          <p:cNvPr id="6" name="Text 4"/>
          <p:cNvSpPr txBox="1"/>
          <p:nvPr/>
        </p:nvSpPr>
        <p:spPr>
          <a:xfrm>
            <a:off x="877824" y="1508760"/>
            <a:ext cx="4937760"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What you cannot do</a:t>
            </a:r>
            <a:endParaRPr lang="en-US" sz="1500" dirty="0"/>
          </a:p>
        </p:txBody>
      </p:sp>
      <p:sp>
        <p:nvSpPr>
          <p:cNvPr id="7" name="Text 5"/>
          <p:cNvSpPr txBox="1"/>
          <p:nvPr/>
        </p:nvSpPr>
        <p:spPr>
          <a:xfrm>
            <a:off x="877824" y="1819656"/>
            <a:ext cx="4937760" cy="1527048"/>
          </a:xfrm>
          <a:prstGeom prst="rect">
            <a:avLst/>
          </a:prstGeom>
          <a:noFill/>
          <a:ln/>
        </p:spPr>
        <p:txBody>
          <a:bodyPr wrap="square" lIns="0" tIns="0" rIns="0" bIns="0" rtlCol="0" anchor="t"/>
          <a:lstStyle/>
          <a:p>
            <a:pPr indent="0" marL="0">
              <a:buNone/>
            </a:pPr>
            <a:r>
              <a:rPr lang="en-US" sz="1250" dirty="0">
                <a:solidFill>
                  <a:srgbClr val="62707E"/>
                </a:solidFill>
                <a:latin typeface="Calibri" pitchFamily="34" charset="0"/>
                <a:ea typeface="Calibri" pitchFamily="34" charset="-122"/>
                <a:cs typeface="Calibri" pitchFamily="34" charset="-120"/>
              </a:rPr>
              <a:t>int arr[7];</a:t>
            </a:r>
            <a:endParaRPr lang="en-US" sz="1250" dirty="0"/>
          </a:p>
          <a:p>
            <a:pPr indent="0" marL="0">
              <a:buNone/>
            </a:pPr>
            <a:endParaRPr lang="en-US" sz="1250" dirty="0"/>
          </a:p>
          <a:p>
            <a:pPr indent="0" marL="0">
              <a:buNone/>
            </a:pPr>
            <a:r>
              <a:rPr lang="en-US" sz="1250" dirty="0">
                <a:solidFill>
                  <a:srgbClr val="62707E"/>
                </a:solidFill>
                <a:latin typeface="Calibri" pitchFamily="34" charset="0"/>
                <a:ea typeface="Calibri" pitchFamily="34" charset="-122"/>
                <a:cs typeface="Calibri" pitchFamily="34" charset="-120"/>
              </a:rPr>
              <a:t>Seven, decided when you wrote the line, and seven forever. If the data arrives from a file or from the user, you do not know the number at compile time — and there is no way to make this array bigger later.</a:t>
            </a:r>
            <a:endParaRPr lang="en-US" sz="1250" dirty="0"/>
          </a:p>
        </p:txBody>
      </p:sp>
      <p:sp>
        <p:nvSpPr>
          <p:cNvPr id="8" name="Shape 6"/>
          <p:cNvSpPr/>
          <p:nvPr/>
        </p:nvSpPr>
        <p:spPr>
          <a:xfrm>
            <a:off x="6153912" y="1325880"/>
            <a:ext cx="5394960" cy="2148840"/>
          </a:xfrm>
          <a:prstGeom prst="roundRect">
            <a:avLst>
              <a:gd name="adj" fmla="val 2553"/>
            </a:avLst>
          </a:prstGeom>
          <a:solidFill>
            <a:srgbClr val="F2F5F8"/>
          </a:solidFill>
          <a:ln w="12700">
            <a:solidFill>
              <a:srgbClr val="333333"/>
            </a:solidFill>
            <a:prstDash val="solid"/>
          </a:ln>
        </p:spPr>
      </p:sp>
      <p:sp>
        <p:nvSpPr>
          <p:cNvPr id="9" name="Text 7"/>
          <p:cNvSpPr txBox="1"/>
          <p:nvPr/>
        </p:nvSpPr>
        <p:spPr>
          <a:xfrm>
            <a:off x="6391656" y="1508760"/>
            <a:ext cx="4937760"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What realloc alone does not solve</a:t>
            </a:r>
            <a:endParaRPr lang="en-US" sz="1500" dirty="0"/>
          </a:p>
        </p:txBody>
      </p:sp>
      <p:sp>
        <p:nvSpPr>
          <p:cNvPr id="10" name="Text 8"/>
          <p:cNvSpPr txBox="1"/>
          <p:nvPr/>
        </p:nvSpPr>
        <p:spPr>
          <a:xfrm>
            <a:off x="6391656" y="1819656"/>
            <a:ext cx="4937760" cy="1527048"/>
          </a:xfrm>
          <a:prstGeom prst="rect">
            <a:avLst/>
          </a:prstGeom>
          <a:noFill/>
          <a:ln/>
        </p:spPr>
        <p:txBody>
          <a:bodyPr wrap="square" lIns="0" tIns="0" rIns="0" bIns="0" rtlCol="0" anchor="t"/>
          <a:lstStyle/>
          <a:p>
            <a:pPr indent="0" marL="0">
              <a:buNone/>
            </a:pPr>
            <a:r>
              <a:rPr lang="en-US" sz="1250" dirty="0">
                <a:solidFill>
                  <a:srgbClr val="62707E"/>
                </a:solidFill>
                <a:latin typeface="Calibri" pitchFamily="34" charset="0"/>
                <a:ea typeface="Calibri" pitchFamily="34" charset="-122"/>
                <a:cs typeface="Calibri" pitchFamily="34" charset="-120"/>
              </a:rPr>
              <a:t>realloc can grow a malloc'd block. But calling it once per inserted element means copying the whole array again and again, and you would still have to remember the current length in a separate variable that nothing keeps in sync.</a:t>
            </a:r>
            <a:endParaRPr lang="en-US" sz="1250" dirty="0"/>
          </a:p>
        </p:txBody>
      </p:sp>
      <p:sp>
        <p:nvSpPr>
          <p:cNvPr id="11" name="Shape 9"/>
          <p:cNvSpPr/>
          <p:nvPr/>
        </p:nvSpPr>
        <p:spPr>
          <a:xfrm>
            <a:off x="640080" y="3703320"/>
            <a:ext cx="10908792" cy="1172718"/>
          </a:xfrm>
          <a:prstGeom prst="roundRect">
            <a:avLst>
              <a:gd name="adj" fmla="val 4678"/>
            </a:avLst>
          </a:prstGeom>
          <a:solidFill>
            <a:srgbClr val="E8F3ED"/>
          </a:solidFill>
          <a:ln w="12700">
            <a:solidFill>
              <a:srgbClr val="333333"/>
            </a:solidFill>
            <a:prstDash val="solid"/>
          </a:ln>
        </p:spPr>
      </p:sp>
      <p:sp>
        <p:nvSpPr>
          <p:cNvPr id="12" name="Shape 10"/>
          <p:cNvSpPr/>
          <p:nvPr/>
        </p:nvSpPr>
        <p:spPr>
          <a:xfrm>
            <a:off x="877824" y="3909060"/>
            <a:ext cx="118872" cy="118872"/>
          </a:xfrm>
          <a:prstGeom prst="ellipse">
            <a:avLst/>
          </a:prstGeom>
          <a:solidFill>
            <a:srgbClr val="2F8A63"/>
          </a:solidFill>
          <a:ln w="12700">
            <a:solidFill>
              <a:srgbClr val="333333"/>
            </a:solidFill>
            <a:prstDash val="solid"/>
          </a:ln>
        </p:spPr>
      </p:sp>
      <p:sp>
        <p:nvSpPr>
          <p:cNvPr id="13" name="Text 11"/>
          <p:cNvSpPr txBox="1"/>
          <p:nvPr/>
        </p:nvSpPr>
        <p:spPr>
          <a:xfrm>
            <a:off x="1097280" y="3858768"/>
            <a:ext cx="10268712" cy="228600"/>
          </a:xfrm>
          <a:prstGeom prst="rect">
            <a:avLst/>
          </a:prstGeom>
          <a:noFill/>
          <a:ln/>
        </p:spPr>
        <p:txBody>
          <a:bodyPr wrap="square" lIns="0" tIns="0" rIns="0" bIns="0" rtlCol="0" anchor="ctr"/>
          <a:lstStyle/>
          <a:p>
            <a:pPr indent="0" marL="0">
              <a:buNone/>
            </a:pPr>
            <a:r>
              <a:rPr lang="en-US" sz="1050" b="1" spc="120" kern="0" dirty="0">
                <a:solidFill>
                  <a:srgbClr val="2F8A63"/>
                </a:solidFill>
                <a:latin typeface="Calibri" pitchFamily="34" charset="0"/>
                <a:ea typeface="Calibri" pitchFamily="34" charset="-122"/>
                <a:cs typeface="Calibri" pitchFamily="34" charset="-120"/>
              </a:rPr>
              <a:t>THE ANSWER, IN ONE SENTENCE</a:t>
            </a:r>
            <a:endParaRPr lang="en-US" sz="1050" dirty="0"/>
          </a:p>
        </p:txBody>
      </p:sp>
      <p:sp>
        <p:nvSpPr>
          <p:cNvPr id="14" name="Text 12"/>
          <p:cNvSpPr txBox="1"/>
          <p:nvPr/>
        </p:nvSpPr>
        <p:spPr>
          <a:xfrm>
            <a:off x="896112" y="4151376"/>
            <a:ext cx="10396728" cy="614934"/>
          </a:xfrm>
          <a:prstGeom prst="rect">
            <a:avLst/>
          </a:prstGeom>
          <a:noFill/>
          <a:ln/>
        </p:spPr>
        <p:txBody>
          <a:bodyPr wrap="square" lIns="0" tIns="0" rIns="0" bIns="0" rtlCol="0" anchor="t"/>
          <a:lstStyle/>
          <a:p>
            <a:pPr indent="0" marL="0">
              <a:spcAft>
                <a:spcPts val="400"/>
              </a:spcAft>
              <a:buNone/>
            </a:pPr>
            <a:r>
              <a:rPr lang="en-US" sz="1350" dirty="0">
                <a:solidFill>
                  <a:srgbClr val="1A2530"/>
                </a:solidFill>
                <a:latin typeface="Calibri" pitchFamily="34" charset="0"/>
                <a:ea typeface="Calibri" pitchFamily="34" charset="-122"/>
                <a:cs typeface="Calibri" pitchFamily="34" charset="-120"/>
              </a:rPr>
              <a:t>Keep the block, its capacity and the number of elements actually used together inside one struct, and grow the block in large jumps rather than one element at a time.</a:t>
            </a:r>
            <a:endParaRPr lang="en-US" sz="1350" dirty="0"/>
          </a:p>
        </p:txBody>
      </p:sp>
      <p:sp>
        <p:nvSpPr>
          <p:cNvPr id="15" name="Text 13"/>
          <p:cNvSpPr txBox="1"/>
          <p:nvPr/>
        </p:nvSpPr>
        <p:spPr>
          <a:xfrm>
            <a:off x="640080" y="5029200"/>
            <a:ext cx="10908792" cy="640080"/>
          </a:xfrm>
          <a:prstGeom prst="rect">
            <a:avLst/>
          </a:prstGeom>
          <a:noFill/>
          <a:ln/>
        </p:spPr>
        <p:txBody>
          <a:bodyPr wrap="square" lIns="0" tIns="0" rIns="0" bIns="0" rtlCol="0" anchor="t"/>
          <a:lstStyle/>
          <a:p>
            <a:pPr indent="0" marL="0">
              <a:lnSpc>
                <a:spcPts val="1755"/>
              </a:lnSpc>
              <a:buNone/>
            </a:pPr>
            <a:r>
              <a:rPr lang="en-US" sz="1300" dirty="0">
                <a:solidFill>
                  <a:srgbClr val="62707E"/>
                </a:solidFill>
                <a:latin typeface="Calibri" pitchFamily="34" charset="0"/>
                <a:ea typeface="Calibri" pitchFamily="34" charset="-122"/>
                <a:cs typeface="Calibri" pitchFamily="34" charset="-120"/>
              </a:rPr>
              <a:t>That struct is what a Python list, a C++ std::vector and a Java ArrayList all are underneath. You are about to write one in roughly thirty lines.</a:t>
            </a:r>
            <a:endParaRPr lang="en-US" sz="130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449324"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449324"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dynamic_array.c</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The skeleton you are given</a:t>
            </a:r>
            <a:endParaRPr lang="en-US" sz="3000" dirty="0"/>
          </a:p>
        </p:txBody>
      </p:sp>
      <p:sp>
        <p:nvSpPr>
          <p:cNvPr id="5" name="Text 3"/>
          <p:cNvSpPr txBox="1"/>
          <p:nvPr/>
        </p:nvSpPr>
        <p:spPr>
          <a:xfrm>
            <a:off x="640080" y="1298448"/>
            <a:ext cx="630936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THE STRUCT AND THE THREE STUBS</a:t>
            </a:r>
            <a:endParaRPr lang="en-US" sz="950" dirty="0"/>
          </a:p>
        </p:txBody>
      </p:sp>
      <p:sp>
        <p:nvSpPr>
          <p:cNvPr id="6" name="Shape 4"/>
          <p:cNvSpPr/>
          <p:nvPr/>
        </p:nvSpPr>
        <p:spPr>
          <a:xfrm>
            <a:off x="640080" y="1545336"/>
            <a:ext cx="6309360" cy="4552188"/>
          </a:xfrm>
          <a:prstGeom prst="roundRect">
            <a:avLst>
              <a:gd name="adj" fmla="val 1004"/>
            </a:avLst>
          </a:prstGeom>
          <a:solidFill>
            <a:srgbClr val="16202B"/>
          </a:solidFill>
          <a:ln w="12700">
            <a:solidFill>
              <a:srgbClr val="333333"/>
            </a:solidFill>
            <a:prstDash val="solid"/>
          </a:ln>
        </p:spPr>
      </p:sp>
      <p:sp>
        <p:nvSpPr>
          <p:cNvPr id="7" name="Text 5"/>
          <p:cNvSpPr txBox="1"/>
          <p:nvPr/>
        </p:nvSpPr>
        <p:spPr>
          <a:xfrm>
            <a:off x="859536" y="1682496"/>
            <a:ext cx="5870448" cy="4277868"/>
          </a:xfrm>
          <a:prstGeom prst="rect">
            <a:avLst/>
          </a:prstGeom>
          <a:noFill/>
          <a:ln/>
        </p:spPr>
        <p:txBody>
          <a:bodyPr wrap="square" lIns="0" tIns="0" rIns="0" bIns="0" rtlCol="0" anchor="t"/>
          <a:lstStyle/>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#include &lt;stdio.h&gt;</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#include &lt;stdlib.h&gt;</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typedef struct dynArray DynArray;</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struct dynArray{</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int* array;   </a:t>
            </a:r>
            <a:pPr indent="0" marL="0">
              <a:lnSpc>
                <a:spcPts val="1452"/>
              </a:lnSpc>
              <a:buNone/>
            </a:pPr>
            <a:r>
              <a:rPr lang="en-US" sz="1100" dirty="0">
                <a:solidFill>
                  <a:srgbClr val="8090A0"/>
                </a:solidFill>
                <a:latin typeface="Courier New" pitchFamily="34" charset="0"/>
                <a:ea typeface="Courier New" pitchFamily="34" charset="-122"/>
                <a:cs typeface="Courier New" pitchFamily="34" charset="-120"/>
              </a:rPr>
              <a:t>// a dynamic array of int</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size_t used;  </a:t>
            </a:r>
            <a:pPr indent="0" marL="0">
              <a:lnSpc>
                <a:spcPts val="1452"/>
              </a:lnSpc>
              <a:buNone/>
            </a:pPr>
            <a:r>
              <a:rPr lang="en-US" sz="1100" dirty="0">
                <a:solidFill>
                  <a:srgbClr val="8090A0"/>
                </a:solidFill>
                <a:latin typeface="Courier New" pitchFamily="34" charset="0"/>
                <a:ea typeface="Courier New" pitchFamily="34" charset="-122"/>
                <a:cs typeface="Courier New" pitchFamily="34" charset="-120"/>
              </a:rPr>
              <a:t>// the number of used entries</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size_t size;  </a:t>
            </a:r>
            <a:pPr indent="0" marL="0">
              <a:lnSpc>
                <a:spcPts val="1452"/>
              </a:lnSpc>
              <a:buNone/>
            </a:pPr>
            <a:r>
              <a:rPr lang="en-US" sz="1100" dirty="0">
                <a:solidFill>
                  <a:srgbClr val="8090A0"/>
                </a:solidFill>
                <a:latin typeface="Courier New" pitchFamily="34" charset="0"/>
                <a:ea typeface="Courier New" pitchFamily="34" charset="-122"/>
                <a:cs typeface="Courier New" pitchFamily="34" charset="-120"/>
              </a:rPr>
              <a:t>// the memory allocated to it</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void initialize_arr(DynArray* da, size_t size){</a:t>
            </a:r>
            <a:endParaRPr lang="en-US" sz="1100" dirty="0"/>
          </a:p>
          <a:p>
            <a:pPr indent="0" marL="0">
              <a:lnSpc>
                <a:spcPts val="1452"/>
              </a:lnSpc>
              <a:buNone/>
            </a:pPr>
            <a:r>
              <a:rPr lang="en-US" sz="1100" dirty="0">
                <a:solidFill>
                  <a:srgbClr val="8090A0"/>
                </a:solidFill>
                <a:latin typeface="Courier New" pitchFamily="34" charset="0"/>
                <a:ea typeface="Courier New" pitchFamily="34" charset="-122"/>
                <a:cs typeface="Courier New" pitchFamily="34" charset="-120"/>
              </a:rPr>
              <a:t>/* Initialize the dynamic array with "size" elements */</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void insert_arr(DynArray* da, int element) {</a:t>
            </a:r>
            <a:endParaRPr lang="en-US" sz="1100" dirty="0"/>
          </a:p>
          <a:p>
            <a:pPr indent="0" marL="0">
              <a:lnSpc>
                <a:spcPts val="1452"/>
              </a:lnSpc>
              <a:buNone/>
            </a:pPr>
            <a:r>
              <a:rPr lang="en-US" sz="1100" dirty="0">
                <a:solidFill>
                  <a:srgbClr val="8090A0"/>
                </a:solidFill>
                <a:latin typeface="Courier New" pitchFamily="34" charset="0"/>
                <a:ea typeface="Courier New" pitchFamily="34" charset="-122"/>
                <a:cs typeface="Courier New" pitchFamily="34" charset="-120"/>
              </a:rPr>
              <a:t>        // check if array is full, then "extend" the array</a:t>
            </a:r>
            <a:endParaRPr lang="en-US" sz="1100" dirty="0"/>
          </a:p>
          <a:p>
            <a:pPr indent="0" marL="0">
              <a:lnSpc>
                <a:spcPts val="1452"/>
              </a:lnSpc>
              <a:buNone/>
            </a:pPr>
            <a:r>
              <a:rPr lang="en-US" sz="1100" dirty="0">
                <a:solidFill>
                  <a:srgbClr val="8090A0"/>
                </a:solidFill>
                <a:latin typeface="Courier New" pitchFamily="34" charset="0"/>
                <a:ea typeface="Courier New" pitchFamily="34" charset="-122"/>
                <a:cs typeface="Courier New" pitchFamily="34" charset="-120"/>
              </a:rPr>
              <a:t>        // update the size record</a:t>
            </a:r>
            <a:endParaRPr lang="en-US" sz="1100" dirty="0"/>
          </a:p>
          <a:p>
            <a:pPr indent="0" marL="0">
              <a:lnSpc>
                <a:spcPts val="1452"/>
              </a:lnSpc>
              <a:buNone/>
            </a:pPr>
            <a:r>
              <a:rPr lang="en-US" sz="1100" dirty="0">
                <a:solidFill>
                  <a:srgbClr val="8090A0"/>
                </a:solidFill>
                <a:latin typeface="Courier New" pitchFamily="34" charset="0"/>
                <a:ea typeface="Courier New" pitchFamily="34" charset="-122"/>
                <a:cs typeface="Courier New" pitchFamily="34" charset="-120"/>
              </a:rPr>
              <a:t>        // apply realloc with the updated size value</a:t>
            </a:r>
            <a:endParaRPr lang="en-US" sz="1100" dirty="0"/>
          </a:p>
          <a:p>
            <a:pPr indent="0" marL="0">
              <a:lnSpc>
                <a:spcPts val="1452"/>
              </a:lnSpc>
              <a:buNone/>
            </a:pPr>
            <a:r>
              <a:rPr lang="en-US" sz="1100" dirty="0">
                <a:solidFill>
                  <a:srgbClr val="8090A0"/>
                </a:solidFill>
                <a:latin typeface="Courier New" pitchFamily="34" charset="0"/>
                <a:ea typeface="Courier New" pitchFamily="34" charset="-122"/>
                <a:cs typeface="Courier New" pitchFamily="34" charset="-120"/>
              </a:rPr>
              <a:t>        // add element at the next index</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void free_arr(DynArray* da) {</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a:t>
            </a:r>
            <a:endParaRPr lang="en-US" sz="1100" dirty="0"/>
          </a:p>
        </p:txBody>
      </p:sp>
      <p:sp>
        <p:nvSpPr>
          <p:cNvPr id="8" name="Text 6"/>
          <p:cNvSpPr txBox="1"/>
          <p:nvPr/>
        </p:nvSpPr>
        <p:spPr>
          <a:xfrm>
            <a:off x="7178040" y="1298448"/>
            <a:ext cx="4370832"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AND THE main() IT MUST SATISFY</a:t>
            </a:r>
            <a:endParaRPr lang="en-US" sz="950" dirty="0"/>
          </a:p>
        </p:txBody>
      </p:sp>
      <p:sp>
        <p:nvSpPr>
          <p:cNvPr id="9" name="Shape 7"/>
          <p:cNvSpPr/>
          <p:nvPr/>
        </p:nvSpPr>
        <p:spPr>
          <a:xfrm>
            <a:off x="7178040" y="1545336"/>
            <a:ext cx="4370832" cy="2523744"/>
          </a:xfrm>
          <a:prstGeom prst="roundRect">
            <a:avLst>
              <a:gd name="adj" fmla="val 1812"/>
            </a:avLst>
          </a:prstGeom>
          <a:solidFill>
            <a:srgbClr val="16202B"/>
          </a:solidFill>
          <a:ln w="12700">
            <a:solidFill>
              <a:srgbClr val="333333"/>
            </a:solidFill>
            <a:prstDash val="solid"/>
          </a:ln>
        </p:spPr>
      </p:sp>
      <p:sp>
        <p:nvSpPr>
          <p:cNvPr id="10" name="Text 8"/>
          <p:cNvSpPr txBox="1"/>
          <p:nvPr/>
        </p:nvSpPr>
        <p:spPr>
          <a:xfrm>
            <a:off x="7397496" y="1682496"/>
            <a:ext cx="3931920" cy="2249424"/>
          </a:xfrm>
          <a:prstGeom prst="rect">
            <a:avLst/>
          </a:prstGeom>
          <a:noFill/>
          <a:ln/>
        </p:spPr>
        <p:txBody>
          <a:bodyPr wrap="square" lIns="0" tIns="0" rIns="0" bIns="0" rtlCol="0" anchor="t"/>
          <a:lstStyle/>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int main(){</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DynArray* dynarr;</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initialize_arr(dynarr, 7);</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for (int i = 0; i &lt; 1000; i++)</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insert_arr(dynarr, i);</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printf("%d\n", dynarr-&gt;array[12]);</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printf("%d\n", dynarr-&gt;used);</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free_arr(dynarr);</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        return 0;</a:t>
            </a:r>
            <a:endParaRPr lang="en-US" sz="1100" dirty="0"/>
          </a:p>
          <a:p>
            <a:pPr indent="0" marL="0">
              <a:lnSpc>
                <a:spcPts val="1452"/>
              </a:lnSpc>
              <a:buNone/>
            </a:pPr>
            <a:r>
              <a:rPr lang="en-US" sz="1100" dirty="0">
                <a:solidFill>
                  <a:srgbClr val="E3EAF1"/>
                </a:solidFill>
                <a:latin typeface="Courier New" pitchFamily="34" charset="0"/>
                <a:ea typeface="Courier New" pitchFamily="34" charset="-122"/>
                <a:cs typeface="Courier New" pitchFamily="34" charset="-120"/>
              </a:rPr>
              <a:t>}</a:t>
            </a:r>
            <a:endParaRPr lang="en-US" sz="1100" dirty="0"/>
          </a:p>
        </p:txBody>
      </p:sp>
      <p:sp>
        <p:nvSpPr>
          <p:cNvPr id="11" name="Shape 9"/>
          <p:cNvSpPr/>
          <p:nvPr/>
        </p:nvSpPr>
        <p:spPr>
          <a:xfrm>
            <a:off x="7178040" y="4114800"/>
            <a:ext cx="4370832" cy="1325880"/>
          </a:xfrm>
          <a:prstGeom prst="roundRect">
            <a:avLst>
              <a:gd name="adj" fmla="val 4138"/>
            </a:avLst>
          </a:prstGeom>
          <a:solidFill>
            <a:srgbClr val="FAEBE8"/>
          </a:solidFill>
          <a:ln w="12700">
            <a:solidFill>
              <a:srgbClr val="333333"/>
            </a:solidFill>
            <a:prstDash val="solid"/>
          </a:ln>
        </p:spPr>
      </p:sp>
      <p:sp>
        <p:nvSpPr>
          <p:cNvPr id="12" name="Shape 10"/>
          <p:cNvSpPr/>
          <p:nvPr/>
        </p:nvSpPr>
        <p:spPr>
          <a:xfrm>
            <a:off x="7415784" y="4320540"/>
            <a:ext cx="118872" cy="118872"/>
          </a:xfrm>
          <a:prstGeom prst="ellipse">
            <a:avLst/>
          </a:prstGeom>
          <a:solidFill>
            <a:srgbClr val="B8412F"/>
          </a:solidFill>
          <a:ln w="12700">
            <a:solidFill>
              <a:srgbClr val="333333"/>
            </a:solidFill>
            <a:prstDash val="solid"/>
          </a:ln>
        </p:spPr>
      </p:sp>
      <p:sp>
        <p:nvSpPr>
          <p:cNvPr id="13" name="Text 11"/>
          <p:cNvSpPr txBox="1"/>
          <p:nvPr/>
        </p:nvSpPr>
        <p:spPr>
          <a:xfrm>
            <a:off x="7635240" y="4270248"/>
            <a:ext cx="3730752" cy="228600"/>
          </a:xfrm>
          <a:prstGeom prst="rect">
            <a:avLst/>
          </a:prstGeom>
          <a:noFill/>
          <a:ln/>
        </p:spPr>
        <p:txBody>
          <a:bodyPr wrap="square" lIns="0" tIns="0" rIns="0" bIns="0" rtlCol="0" anchor="ctr"/>
          <a:lstStyle/>
          <a:p>
            <a:pPr indent="0" marL="0">
              <a:buNone/>
            </a:pPr>
            <a:r>
              <a:rPr lang="en-US" sz="1050" b="1" spc="120" kern="0" dirty="0">
                <a:solidFill>
                  <a:srgbClr val="B8412F"/>
                </a:solidFill>
                <a:latin typeface="Calibri" pitchFamily="34" charset="0"/>
                <a:ea typeface="Calibri" pitchFamily="34" charset="-122"/>
                <a:cs typeface="Calibri" pitchFamily="34" charset="-120"/>
              </a:rPr>
              <a:t>READ main() BEFORE YOU WRITE ANYTHING</a:t>
            </a:r>
            <a:endParaRPr lang="en-US" sz="1050" dirty="0"/>
          </a:p>
        </p:txBody>
      </p:sp>
      <p:sp>
        <p:nvSpPr>
          <p:cNvPr id="14" name="Text 12"/>
          <p:cNvSpPr txBox="1"/>
          <p:nvPr/>
        </p:nvSpPr>
        <p:spPr>
          <a:xfrm>
            <a:off x="7434072" y="4562856"/>
            <a:ext cx="3858768" cy="768096"/>
          </a:xfrm>
          <a:prstGeom prst="rect">
            <a:avLst/>
          </a:prstGeom>
          <a:noFill/>
          <a:ln/>
        </p:spPr>
        <p:txBody>
          <a:bodyPr wrap="square" lIns="0" tIns="0" rIns="0" bIns="0" rtlCol="0" anchor="t"/>
          <a:lstStyle/>
          <a:p>
            <a:pPr indent="0" marL="0">
              <a:spcAft>
                <a:spcPts val="400"/>
              </a:spcAft>
              <a:buNone/>
            </a:pPr>
            <a:r>
              <a:rPr lang="en-US" sz="1200" dirty="0">
                <a:solidFill>
                  <a:srgbClr val="1A2530"/>
                </a:solidFill>
                <a:latin typeface="Calibri" pitchFamily="34" charset="0"/>
                <a:ea typeface="Calibri" pitchFamily="34" charset="-122"/>
                <a:cs typeface="Calibri" pitchFamily="34" charset="-120"/>
              </a:rPr>
              <a:t>It is a specification: seven elements to start, a thousand inserted, element 12 readable afterwards. It also contains two mistakes of its own.</a:t>
            </a:r>
            <a:endParaRPr lang="en-US" sz="120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449324"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449324"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dynamic_array.c</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Three fields, and one rule that must never break</a:t>
            </a:r>
            <a:endParaRPr lang="en-US" sz="3000" dirty="0"/>
          </a:p>
        </p:txBody>
      </p:sp>
      <p:sp>
        <p:nvSpPr>
          <p:cNvPr id="5" name="Shape 3"/>
          <p:cNvSpPr/>
          <p:nvPr/>
        </p:nvSpPr>
        <p:spPr>
          <a:xfrm>
            <a:off x="640080" y="1371600"/>
            <a:ext cx="5943600" cy="841248"/>
          </a:xfrm>
          <a:prstGeom prst="roundRect">
            <a:avLst>
              <a:gd name="adj" fmla="val 6522"/>
            </a:avLst>
          </a:prstGeom>
          <a:solidFill>
            <a:srgbClr val="F2F5F8"/>
          </a:solidFill>
          <a:ln w="12700">
            <a:solidFill>
              <a:srgbClr val="333333"/>
            </a:solidFill>
            <a:prstDash val="solid"/>
          </a:ln>
        </p:spPr>
      </p:sp>
      <p:sp>
        <p:nvSpPr>
          <p:cNvPr id="6" name="Text 4"/>
          <p:cNvSpPr txBox="1"/>
          <p:nvPr/>
        </p:nvSpPr>
        <p:spPr>
          <a:xfrm>
            <a:off x="877824" y="1481328"/>
            <a:ext cx="5486400" cy="256032"/>
          </a:xfrm>
          <a:prstGeom prst="rect">
            <a:avLst/>
          </a:prstGeom>
          <a:noFill/>
          <a:ln/>
        </p:spPr>
        <p:txBody>
          <a:bodyPr wrap="square" lIns="0" tIns="0" rIns="0" bIns="0" rtlCol="0" anchor="ctr"/>
          <a:lstStyle/>
          <a:p>
            <a:pPr indent="0" marL="0">
              <a:buNone/>
            </a:pPr>
            <a:r>
              <a:rPr lang="en-US" sz="1350" b="1" dirty="0">
                <a:solidFill>
                  <a:srgbClr val="16202B"/>
                </a:solidFill>
                <a:latin typeface="Courier New" pitchFamily="34" charset="0"/>
                <a:ea typeface="Courier New" pitchFamily="34" charset="-122"/>
                <a:cs typeface="Courier New" pitchFamily="34" charset="-120"/>
              </a:rPr>
              <a:t>int* array</a:t>
            </a:r>
            <a:endParaRPr lang="en-US" sz="1350" dirty="0"/>
          </a:p>
        </p:txBody>
      </p:sp>
      <p:sp>
        <p:nvSpPr>
          <p:cNvPr id="7" name="Text 5"/>
          <p:cNvSpPr txBox="1"/>
          <p:nvPr/>
        </p:nvSpPr>
        <p:spPr>
          <a:xfrm>
            <a:off x="877824" y="1755648"/>
            <a:ext cx="5486400" cy="384048"/>
          </a:xfrm>
          <a:prstGeom prst="rect">
            <a:avLst/>
          </a:prstGeom>
          <a:noFill/>
          <a:ln/>
        </p:spPr>
        <p:txBody>
          <a:bodyPr wrap="square" lIns="0" tIns="0" rIns="0" bIns="0" rtlCol="0" anchor="t"/>
          <a:lstStyle/>
          <a:p>
            <a:pPr indent="0" marL="0">
              <a:lnSpc>
                <a:spcPts val="1500"/>
              </a:lnSpc>
              <a:buNone/>
            </a:pPr>
            <a:r>
              <a:rPr lang="en-US" sz="1200" dirty="0">
                <a:solidFill>
                  <a:srgbClr val="62707E"/>
                </a:solidFill>
                <a:latin typeface="Calibri" pitchFamily="34" charset="0"/>
                <a:ea typeface="Calibri" pitchFamily="34" charset="-122"/>
                <a:cs typeface="Calibri" pitchFamily="34" charset="-120"/>
              </a:rPr>
              <a:t>The address malloc gave you. Every element lives inside that one block, side by side.</a:t>
            </a:r>
            <a:endParaRPr lang="en-US" sz="1200" dirty="0"/>
          </a:p>
        </p:txBody>
      </p:sp>
      <p:sp>
        <p:nvSpPr>
          <p:cNvPr id="8" name="Shape 6"/>
          <p:cNvSpPr/>
          <p:nvPr/>
        </p:nvSpPr>
        <p:spPr>
          <a:xfrm>
            <a:off x="640080" y="2322576"/>
            <a:ext cx="5943600" cy="841248"/>
          </a:xfrm>
          <a:prstGeom prst="roundRect">
            <a:avLst>
              <a:gd name="adj" fmla="val 6522"/>
            </a:avLst>
          </a:prstGeom>
          <a:solidFill>
            <a:srgbClr val="F2F5F8"/>
          </a:solidFill>
          <a:ln w="12700">
            <a:solidFill>
              <a:srgbClr val="333333"/>
            </a:solidFill>
            <a:prstDash val="solid"/>
          </a:ln>
        </p:spPr>
      </p:sp>
      <p:sp>
        <p:nvSpPr>
          <p:cNvPr id="9" name="Text 7"/>
          <p:cNvSpPr txBox="1"/>
          <p:nvPr/>
        </p:nvSpPr>
        <p:spPr>
          <a:xfrm>
            <a:off x="877824" y="2432304"/>
            <a:ext cx="5486400" cy="256032"/>
          </a:xfrm>
          <a:prstGeom prst="rect">
            <a:avLst/>
          </a:prstGeom>
          <a:noFill/>
          <a:ln/>
        </p:spPr>
        <p:txBody>
          <a:bodyPr wrap="square" lIns="0" tIns="0" rIns="0" bIns="0" rtlCol="0" anchor="ctr"/>
          <a:lstStyle/>
          <a:p>
            <a:pPr indent="0" marL="0">
              <a:buNone/>
            </a:pPr>
            <a:r>
              <a:rPr lang="en-US" sz="1350" b="1" dirty="0">
                <a:solidFill>
                  <a:srgbClr val="16202B"/>
                </a:solidFill>
                <a:latin typeface="Courier New" pitchFamily="34" charset="0"/>
                <a:ea typeface="Courier New" pitchFamily="34" charset="-122"/>
                <a:cs typeface="Courier New" pitchFamily="34" charset="-120"/>
              </a:rPr>
              <a:t>size_t used</a:t>
            </a:r>
            <a:endParaRPr lang="en-US" sz="1350" dirty="0"/>
          </a:p>
        </p:txBody>
      </p:sp>
      <p:sp>
        <p:nvSpPr>
          <p:cNvPr id="10" name="Text 8"/>
          <p:cNvSpPr txBox="1"/>
          <p:nvPr/>
        </p:nvSpPr>
        <p:spPr>
          <a:xfrm>
            <a:off x="877824" y="2706624"/>
            <a:ext cx="5486400" cy="384048"/>
          </a:xfrm>
          <a:prstGeom prst="rect">
            <a:avLst/>
          </a:prstGeom>
          <a:noFill/>
          <a:ln/>
        </p:spPr>
        <p:txBody>
          <a:bodyPr wrap="square" lIns="0" tIns="0" rIns="0" bIns="0" rtlCol="0" anchor="t"/>
          <a:lstStyle/>
          <a:p>
            <a:pPr indent="0" marL="0">
              <a:lnSpc>
                <a:spcPts val="1500"/>
              </a:lnSpc>
              <a:buNone/>
            </a:pPr>
            <a:r>
              <a:rPr lang="en-US" sz="1200" dirty="0">
                <a:solidFill>
                  <a:srgbClr val="62707E"/>
                </a:solidFill>
                <a:latin typeface="Calibri" pitchFamily="34" charset="0"/>
                <a:ea typeface="Calibri" pitchFamily="34" charset="-122"/>
                <a:cs typeface="Calibri" pitchFamily="34" charset="-120"/>
              </a:rPr>
              <a:t>How many elements you have actually stored. This is the number anyone using your array cares about.</a:t>
            </a:r>
            <a:endParaRPr lang="en-US" sz="1200" dirty="0"/>
          </a:p>
        </p:txBody>
      </p:sp>
      <p:sp>
        <p:nvSpPr>
          <p:cNvPr id="11" name="Shape 9"/>
          <p:cNvSpPr/>
          <p:nvPr/>
        </p:nvSpPr>
        <p:spPr>
          <a:xfrm>
            <a:off x="640080" y="3273552"/>
            <a:ext cx="5943600" cy="841248"/>
          </a:xfrm>
          <a:prstGeom prst="roundRect">
            <a:avLst>
              <a:gd name="adj" fmla="val 6522"/>
            </a:avLst>
          </a:prstGeom>
          <a:solidFill>
            <a:srgbClr val="F2F5F8"/>
          </a:solidFill>
          <a:ln w="12700">
            <a:solidFill>
              <a:srgbClr val="333333"/>
            </a:solidFill>
            <a:prstDash val="solid"/>
          </a:ln>
        </p:spPr>
      </p:sp>
      <p:sp>
        <p:nvSpPr>
          <p:cNvPr id="12" name="Text 10"/>
          <p:cNvSpPr txBox="1"/>
          <p:nvPr/>
        </p:nvSpPr>
        <p:spPr>
          <a:xfrm>
            <a:off x="877824" y="3383280"/>
            <a:ext cx="5486400" cy="256032"/>
          </a:xfrm>
          <a:prstGeom prst="rect">
            <a:avLst/>
          </a:prstGeom>
          <a:noFill/>
          <a:ln/>
        </p:spPr>
        <p:txBody>
          <a:bodyPr wrap="square" lIns="0" tIns="0" rIns="0" bIns="0" rtlCol="0" anchor="ctr"/>
          <a:lstStyle/>
          <a:p>
            <a:pPr indent="0" marL="0">
              <a:buNone/>
            </a:pPr>
            <a:r>
              <a:rPr lang="en-US" sz="1350" b="1" dirty="0">
                <a:solidFill>
                  <a:srgbClr val="16202B"/>
                </a:solidFill>
                <a:latin typeface="Courier New" pitchFamily="34" charset="0"/>
                <a:ea typeface="Courier New" pitchFamily="34" charset="-122"/>
                <a:cs typeface="Courier New" pitchFamily="34" charset="-120"/>
              </a:rPr>
              <a:t>size_t size</a:t>
            </a:r>
            <a:endParaRPr lang="en-US" sz="1350" dirty="0"/>
          </a:p>
        </p:txBody>
      </p:sp>
      <p:sp>
        <p:nvSpPr>
          <p:cNvPr id="13" name="Text 11"/>
          <p:cNvSpPr txBox="1"/>
          <p:nvPr/>
        </p:nvSpPr>
        <p:spPr>
          <a:xfrm>
            <a:off x="877824" y="3657600"/>
            <a:ext cx="5486400" cy="384048"/>
          </a:xfrm>
          <a:prstGeom prst="rect">
            <a:avLst/>
          </a:prstGeom>
          <a:noFill/>
          <a:ln/>
        </p:spPr>
        <p:txBody>
          <a:bodyPr wrap="square" lIns="0" tIns="0" rIns="0" bIns="0" rtlCol="0" anchor="t"/>
          <a:lstStyle/>
          <a:p>
            <a:pPr indent="0" marL="0">
              <a:lnSpc>
                <a:spcPts val="1500"/>
              </a:lnSpc>
              <a:buNone/>
            </a:pPr>
            <a:r>
              <a:rPr lang="en-US" sz="1200" dirty="0">
                <a:solidFill>
                  <a:srgbClr val="62707E"/>
                </a:solidFill>
                <a:latin typeface="Calibri" pitchFamily="34" charset="0"/>
                <a:ea typeface="Calibri" pitchFamily="34" charset="-122"/>
                <a:cs typeface="Calibri" pitchFamily="34" charset="-120"/>
              </a:rPr>
              <a:t>How many would fit before you must call realloc. The capacity — normally larger than used.</a:t>
            </a:r>
            <a:endParaRPr lang="en-US" sz="1200" dirty="0"/>
          </a:p>
        </p:txBody>
      </p:sp>
      <p:sp>
        <p:nvSpPr>
          <p:cNvPr id="14" name="Text 12"/>
          <p:cNvSpPr txBox="1"/>
          <p:nvPr/>
        </p:nvSpPr>
        <p:spPr>
          <a:xfrm>
            <a:off x="6812280" y="1371600"/>
            <a:ext cx="1097280" cy="237744"/>
          </a:xfrm>
          <a:prstGeom prst="rect">
            <a:avLst/>
          </a:prstGeom>
          <a:noFill/>
          <a:ln/>
        </p:spPr>
        <p:txBody>
          <a:bodyPr wrap="square" lIns="0" tIns="0" rIns="0" bIns="0" rtlCol="0" anchor="ctr"/>
          <a:lstStyle/>
          <a:p>
            <a:pPr indent="0" marL="0">
              <a:buNone/>
            </a:pPr>
            <a:r>
              <a:rPr lang="en-US" sz="1150" b="1" dirty="0">
                <a:solidFill>
                  <a:srgbClr val="D9901F"/>
                </a:solidFill>
                <a:latin typeface="Courier New" pitchFamily="34" charset="0"/>
                <a:ea typeface="Courier New" pitchFamily="34" charset="-122"/>
                <a:cs typeface="Courier New" pitchFamily="34" charset="-120"/>
              </a:rPr>
              <a:t>array</a:t>
            </a:r>
            <a:endParaRPr lang="en-US" sz="1150" dirty="0"/>
          </a:p>
        </p:txBody>
      </p:sp>
      <p:sp>
        <p:nvSpPr>
          <p:cNvPr id="15" name="Shape 13"/>
          <p:cNvSpPr/>
          <p:nvPr/>
        </p:nvSpPr>
        <p:spPr>
          <a:xfrm>
            <a:off x="6931152" y="1645920"/>
            <a:ext cx="201168" cy="256032"/>
          </a:xfrm>
          <a:prstGeom prst="downArrow">
            <a:avLst/>
          </a:prstGeom>
          <a:solidFill>
            <a:srgbClr val="D9901F"/>
          </a:solidFill>
          <a:ln w="12700">
            <a:solidFill>
              <a:srgbClr val="333333"/>
            </a:solidFill>
            <a:prstDash val="solid"/>
          </a:ln>
        </p:spPr>
      </p:sp>
      <p:sp>
        <p:nvSpPr>
          <p:cNvPr id="16" name="Shape 14"/>
          <p:cNvSpPr/>
          <p:nvPr/>
        </p:nvSpPr>
        <p:spPr>
          <a:xfrm>
            <a:off x="6812280" y="1965960"/>
            <a:ext cx="512064" cy="566928"/>
          </a:xfrm>
          <a:prstGeom prst="roundRect">
            <a:avLst>
              <a:gd name="adj" fmla="val 8929"/>
            </a:avLst>
          </a:prstGeom>
          <a:solidFill>
            <a:srgbClr val="16202B"/>
          </a:solidFill>
          <a:ln w="12700">
            <a:solidFill>
              <a:srgbClr val="333333"/>
            </a:solidFill>
            <a:prstDash val="solid"/>
          </a:ln>
        </p:spPr>
      </p:sp>
      <p:sp>
        <p:nvSpPr>
          <p:cNvPr id="17" name="Text 15"/>
          <p:cNvSpPr txBox="1"/>
          <p:nvPr/>
        </p:nvSpPr>
        <p:spPr>
          <a:xfrm>
            <a:off x="6812280" y="1965960"/>
            <a:ext cx="512064"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11</a:t>
            </a:r>
            <a:endParaRPr lang="en-US" sz="1250" dirty="0"/>
          </a:p>
        </p:txBody>
      </p:sp>
      <p:sp>
        <p:nvSpPr>
          <p:cNvPr id="18" name="Shape 16"/>
          <p:cNvSpPr/>
          <p:nvPr/>
        </p:nvSpPr>
        <p:spPr>
          <a:xfrm>
            <a:off x="7379208" y="1965960"/>
            <a:ext cx="512064" cy="566928"/>
          </a:xfrm>
          <a:prstGeom prst="roundRect">
            <a:avLst>
              <a:gd name="adj" fmla="val 8929"/>
            </a:avLst>
          </a:prstGeom>
          <a:solidFill>
            <a:srgbClr val="16202B"/>
          </a:solidFill>
          <a:ln w="12700">
            <a:solidFill>
              <a:srgbClr val="333333"/>
            </a:solidFill>
            <a:prstDash val="solid"/>
          </a:ln>
        </p:spPr>
      </p:sp>
      <p:sp>
        <p:nvSpPr>
          <p:cNvPr id="19" name="Text 17"/>
          <p:cNvSpPr txBox="1"/>
          <p:nvPr/>
        </p:nvSpPr>
        <p:spPr>
          <a:xfrm>
            <a:off x="7379208" y="1965960"/>
            <a:ext cx="512064"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12</a:t>
            </a:r>
            <a:endParaRPr lang="en-US" sz="1250" dirty="0"/>
          </a:p>
        </p:txBody>
      </p:sp>
      <p:sp>
        <p:nvSpPr>
          <p:cNvPr id="20" name="Shape 18"/>
          <p:cNvSpPr/>
          <p:nvPr/>
        </p:nvSpPr>
        <p:spPr>
          <a:xfrm>
            <a:off x="7946136" y="1965960"/>
            <a:ext cx="512064" cy="566928"/>
          </a:xfrm>
          <a:prstGeom prst="roundRect">
            <a:avLst>
              <a:gd name="adj" fmla="val 8929"/>
            </a:avLst>
          </a:prstGeom>
          <a:solidFill>
            <a:srgbClr val="16202B"/>
          </a:solidFill>
          <a:ln w="12700">
            <a:solidFill>
              <a:srgbClr val="333333"/>
            </a:solidFill>
            <a:prstDash val="solid"/>
          </a:ln>
        </p:spPr>
      </p:sp>
      <p:sp>
        <p:nvSpPr>
          <p:cNvPr id="21" name="Text 19"/>
          <p:cNvSpPr txBox="1"/>
          <p:nvPr/>
        </p:nvSpPr>
        <p:spPr>
          <a:xfrm>
            <a:off x="7946136" y="1965960"/>
            <a:ext cx="512064"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13</a:t>
            </a:r>
            <a:endParaRPr lang="en-US" sz="1250" dirty="0"/>
          </a:p>
        </p:txBody>
      </p:sp>
      <p:sp>
        <p:nvSpPr>
          <p:cNvPr id="22" name="Shape 20"/>
          <p:cNvSpPr/>
          <p:nvPr/>
        </p:nvSpPr>
        <p:spPr>
          <a:xfrm>
            <a:off x="8513064" y="1965960"/>
            <a:ext cx="512064" cy="566928"/>
          </a:xfrm>
          <a:prstGeom prst="roundRect">
            <a:avLst>
              <a:gd name="adj" fmla="val 8929"/>
            </a:avLst>
          </a:prstGeom>
          <a:solidFill>
            <a:srgbClr val="F2F5F8"/>
          </a:solidFill>
          <a:ln w="12700">
            <a:solidFill>
              <a:srgbClr val="333333"/>
            </a:solidFill>
            <a:prstDash val="solid"/>
          </a:ln>
        </p:spPr>
      </p:sp>
      <p:sp>
        <p:nvSpPr>
          <p:cNvPr id="23" name="Shape 21"/>
          <p:cNvSpPr/>
          <p:nvPr/>
        </p:nvSpPr>
        <p:spPr>
          <a:xfrm>
            <a:off x="9079992" y="1965960"/>
            <a:ext cx="512064" cy="566928"/>
          </a:xfrm>
          <a:prstGeom prst="roundRect">
            <a:avLst>
              <a:gd name="adj" fmla="val 8929"/>
            </a:avLst>
          </a:prstGeom>
          <a:solidFill>
            <a:srgbClr val="F2F5F8"/>
          </a:solidFill>
          <a:ln w="12700">
            <a:solidFill>
              <a:srgbClr val="333333"/>
            </a:solidFill>
            <a:prstDash val="solid"/>
          </a:ln>
        </p:spPr>
      </p:sp>
      <p:sp>
        <p:nvSpPr>
          <p:cNvPr id="24" name="Shape 22"/>
          <p:cNvSpPr/>
          <p:nvPr/>
        </p:nvSpPr>
        <p:spPr>
          <a:xfrm>
            <a:off x="9646920" y="1965960"/>
            <a:ext cx="512064" cy="566928"/>
          </a:xfrm>
          <a:prstGeom prst="roundRect">
            <a:avLst>
              <a:gd name="adj" fmla="val 8929"/>
            </a:avLst>
          </a:prstGeom>
          <a:solidFill>
            <a:srgbClr val="F2F5F8"/>
          </a:solidFill>
          <a:ln w="12700">
            <a:solidFill>
              <a:srgbClr val="333333"/>
            </a:solidFill>
            <a:prstDash val="solid"/>
          </a:ln>
        </p:spPr>
      </p:sp>
      <p:sp>
        <p:nvSpPr>
          <p:cNvPr id="25" name="Shape 23"/>
          <p:cNvSpPr/>
          <p:nvPr/>
        </p:nvSpPr>
        <p:spPr>
          <a:xfrm>
            <a:off x="10213848" y="1965960"/>
            <a:ext cx="512064" cy="566928"/>
          </a:xfrm>
          <a:prstGeom prst="roundRect">
            <a:avLst>
              <a:gd name="adj" fmla="val 8929"/>
            </a:avLst>
          </a:prstGeom>
          <a:solidFill>
            <a:srgbClr val="F2F5F8"/>
          </a:solidFill>
          <a:ln w="12700">
            <a:solidFill>
              <a:srgbClr val="333333"/>
            </a:solidFill>
            <a:prstDash val="solid"/>
          </a:ln>
        </p:spPr>
      </p:sp>
      <p:sp>
        <p:nvSpPr>
          <p:cNvPr id="26" name="Shape 24"/>
          <p:cNvSpPr/>
          <p:nvPr/>
        </p:nvSpPr>
        <p:spPr>
          <a:xfrm>
            <a:off x="10780776" y="1965960"/>
            <a:ext cx="512064" cy="566928"/>
          </a:xfrm>
          <a:prstGeom prst="roundRect">
            <a:avLst>
              <a:gd name="adj" fmla="val 8929"/>
            </a:avLst>
          </a:prstGeom>
          <a:solidFill>
            <a:srgbClr val="F2F5F8"/>
          </a:solidFill>
          <a:ln w="12700">
            <a:solidFill>
              <a:srgbClr val="333333"/>
            </a:solidFill>
            <a:prstDash val="solid"/>
          </a:ln>
        </p:spPr>
      </p:sp>
      <p:sp>
        <p:nvSpPr>
          <p:cNvPr id="27" name="Text 25"/>
          <p:cNvSpPr txBox="1"/>
          <p:nvPr/>
        </p:nvSpPr>
        <p:spPr>
          <a:xfrm>
            <a:off x="6812280" y="2596896"/>
            <a:ext cx="1645920" cy="237744"/>
          </a:xfrm>
          <a:prstGeom prst="rect">
            <a:avLst/>
          </a:prstGeom>
          <a:noFill/>
          <a:ln/>
        </p:spPr>
        <p:txBody>
          <a:bodyPr wrap="square" lIns="0" tIns="0" rIns="0" bIns="0" rtlCol="0" anchor="ctr"/>
          <a:lstStyle/>
          <a:p>
            <a:pPr indent="0" marL="0">
              <a:buNone/>
            </a:pPr>
            <a:r>
              <a:rPr lang="en-US" sz="1150" b="1" dirty="0">
                <a:solidFill>
                  <a:srgbClr val="16202B"/>
                </a:solidFill>
                <a:latin typeface="Courier New" pitchFamily="34" charset="0"/>
                <a:ea typeface="Courier New" pitchFamily="34" charset="-122"/>
                <a:cs typeface="Courier New" pitchFamily="34" charset="-120"/>
              </a:rPr>
              <a:t>used = 3</a:t>
            </a:r>
            <a:endParaRPr lang="en-US" sz="1150" dirty="0"/>
          </a:p>
        </p:txBody>
      </p:sp>
      <p:sp>
        <p:nvSpPr>
          <p:cNvPr id="28" name="Text 26"/>
          <p:cNvSpPr txBox="1"/>
          <p:nvPr/>
        </p:nvSpPr>
        <p:spPr>
          <a:xfrm>
            <a:off x="8577072" y="2596896"/>
            <a:ext cx="2377440" cy="237744"/>
          </a:xfrm>
          <a:prstGeom prst="rect">
            <a:avLst/>
          </a:prstGeom>
          <a:noFill/>
          <a:ln/>
        </p:spPr>
        <p:txBody>
          <a:bodyPr wrap="square" lIns="0" tIns="0" rIns="0" bIns="0" rtlCol="0" anchor="ctr"/>
          <a:lstStyle/>
          <a:p>
            <a:pPr indent="0" marL="0">
              <a:buNone/>
            </a:pPr>
            <a:r>
              <a:rPr lang="en-US" sz="1150" dirty="0">
                <a:solidFill>
                  <a:srgbClr val="62707E"/>
                </a:solidFill>
                <a:latin typeface="Courier New" pitchFamily="34" charset="0"/>
                <a:ea typeface="Courier New" pitchFamily="34" charset="-122"/>
                <a:cs typeface="Courier New" pitchFamily="34" charset="-120"/>
              </a:rPr>
              <a:t>spare capacity</a:t>
            </a:r>
            <a:endParaRPr lang="en-US" sz="1150" dirty="0"/>
          </a:p>
        </p:txBody>
      </p:sp>
      <p:sp>
        <p:nvSpPr>
          <p:cNvPr id="29" name="Text 27"/>
          <p:cNvSpPr txBox="1"/>
          <p:nvPr/>
        </p:nvSpPr>
        <p:spPr>
          <a:xfrm>
            <a:off x="6812280" y="2871216"/>
            <a:ext cx="4480560" cy="237744"/>
          </a:xfrm>
          <a:prstGeom prst="rect">
            <a:avLst/>
          </a:prstGeom>
          <a:noFill/>
          <a:ln/>
        </p:spPr>
        <p:txBody>
          <a:bodyPr wrap="square" lIns="0" tIns="0" rIns="0" bIns="0" rtlCol="0" anchor="ctr"/>
          <a:lstStyle/>
          <a:p>
            <a:pPr algn="r" indent="0" marL="0">
              <a:buNone/>
            </a:pPr>
            <a:r>
              <a:rPr lang="en-US" sz="1150" b="1" dirty="0">
                <a:solidFill>
                  <a:srgbClr val="D9901F"/>
                </a:solidFill>
                <a:latin typeface="Courier New" pitchFamily="34" charset="0"/>
                <a:ea typeface="Courier New" pitchFamily="34" charset="-122"/>
                <a:cs typeface="Courier New" pitchFamily="34" charset="-120"/>
              </a:rPr>
              <a:t>size = 8</a:t>
            </a:r>
            <a:endParaRPr lang="en-US" sz="1150" dirty="0"/>
          </a:p>
        </p:txBody>
      </p:sp>
      <p:sp>
        <p:nvSpPr>
          <p:cNvPr id="30" name="Shape 28"/>
          <p:cNvSpPr/>
          <p:nvPr/>
        </p:nvSpPr>
        <p:spPr>
          <a:xfrm>
            <a:off x="6812280" y="3310128"/>
            <a:ext cx="4736592" cy="1564132"/>
          </a:xfrm>
          <a:prstGeom prst="roundRect">
            <a:avLst>
              <a:gd name="adj" fmla="val 3508"/>
            </a:avLst>
          </a:prstGeom>
          <a:solidFill>
            <a:srgbClr val="E8F3ED"/>
          </a:solidFill>
          <a:ln w="12700">
            <a:solidFill>
              <a:srgbClr val="333333"/>
            </a:solidFill>
            <a:prstDash val="solid"/>
          </a:ln>
        </p:spPr>
      </p:sp>
      <p:sp>
        <p:nvSpPr>
          <p:cNvPr id="31" name="Shape 29"/>
          <p:cNvSpPr/>
          <p:nvPr/>
        </p:nvSpPr>
        <p:spPr>
          <a:xfrm>
            <a:off x="7050024" y="3515868"/>
            <a:ext cx="118872" cy="118872"/>
          </a:xfrm>
          <a:prstGeom prst="ellipse">
            <a:avLst/>
          </a:prstGeom>
          <a:solidFill>
            <a:srgbClr val="2F8A63"/>
          </a:solidFill>
          <a:ln w="12700">
            <a:solidFill>
              <a:srgbClr val="333333"/>
            </a:solidFill>
            <a:prstDash val="solid"/>
          </a:ln>
        </p:spPr>
      </p:sp>
      <p:sp>
        <p:nvSpPr>
          <p:cNvPr id="32" name="Text 30"/>
          <p:cNvSpPr txBox="1"/>
          <p:nvPr/>
        </p:nvSpPr>
        <p:spPr>
          <a:xfrm>
            <a:off x="7269480" y="3465576"/>
            <a:ext cx="4096512" cy="228600"/>
          </a:xfrm>
          <a:prstGeom prst="rect">
            <a:avLst/>
          </a:prstGeom>
          <a:noFill/>
          <a:ln/>
        </p:spPr>
        <p:txBody>
          <a:bodyPr wrap="square" lIns="0" tIns="0" rIns="0" bIns="0" rtlCol="0" anchor="ctr"/>
          <a:lstStyle/>
          <a:p>
            <a:pPr indent="0" marL="0">
              <a:buNone/>
            </a:pPr>
            <a:r>
              <a:rPr lang="en-US" sz="1050" b="1" spc="120" kern="0" dirty="0">
                <a:solidFill>
                  <a:srgbClr val="2F8A63"/>
                </a:solidFill>
                <a:latin typeface="Calibri" pitchFamily="34" charset="0"/>
                <a:ea typeface="Calibri" pitchFamily="34" charset="-122"/>
                <a:cs typeface="Calibri" pitchFamily="34" charset="-120"/>
              </a:rPr>
              <a:t>THE INVARIANT</a:t>
            </a:r>
            <a:endParaRPr lang="en-US" sz="1050" dirty="0"/>
          </a:p>
        </p:txBody>
      </p:sp>
      <p:sp>
        <p:nvSpPr>
          <p:cNvPr id="33" name="Text 31"/>
          <p:cNvSpPr txBox="1"/>
          <p:nvPr/>
        </p:nvSpPr>
        <p:spPr>
          <a:xfrm>
            <a:off x="7068312" y="3758184"/>
            <a:ext cx="4224528" cy="1006348"/>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0 &lt;= used &lt;= size, at every moment between your function calls. Every function you write must leave that true. The day you find used larger than size, you have already written past the end of the block.</a:t>
            </a:r>
            <a:endParaRPr lang="en-US" sz="1250" dirty="0"/>
          </a:p>
        </p:txBody>
      </p:sp>
      <p:sp>
        <p:nvSpPr>
          <p:cNvPr id="34" name="Shape 32"/>
          <p:cNvSpPr/>
          <p:nvPr/>
        </p:nvSpPr>
        <p:spPr>
          <a:xfrm>
            <a:off x="640080" y="4343400"/>
            <a:ext cx="5943600" cy="1351407"/>
          </a:xfrm>
          <a:prstGeom prst="roundRect">
            <a:avLst>
              <a:gd name="adj" fmla="val 4060"/>
            </a:avLst>
          </a:prstGeom>
          <a:solidFill>
            <a:srgbClr val="FBF1DF"/>
          </a:solidFill>
          <a:ln w="12700">
            <a:solidFill>
              <a:srgbClr val="333333"/>
            </a:solidFill>
            <a:prstDash val="solid"/>
          </a:ln>
        </p:spPr>
      </p:sp>
      <p:sp>
        <p:nvSpPr>
          <p:cNvPr id="35" name="Shape 33"/>
          <p:cNvSpPr/>
          <p:nvPr/>
        </p:nvSpPr>
        <p:spPr>
          <a:xfrm>
            <a:off x="877824" y="4549140"/>
            <a:ext cx="118872" cy="118872"/>
          </a:xfrm>
          <a:prstGeom prst="ellipse">
            <a:avLst/>
          </a:prstGeom>
          <a:solidFill>
            <a:srgbClr val="D9901F"/>
          </a:solidFill>
          <a:ln w="12700">
            <a:solidFill>
              <a:srgbClr val="333333"/>
            </a:solidFill>
            <a:prstDash val="solid"/>
          </a:ln>
        </p:spPr>
      </p:sp>
      <p:sp>
        <p:nvSpPr>
          <p:cNvPr id="36" name="Text 34"/>
          <p:cNvSpPr txBox="1"/>
          <p:nvPr/>
        </p:nvSpPr>
        <p:spPr>
          <a:xfrm>
            <a:off x="1097280" y="4498848"/>
            <a:ext cx="5303520" cy="228600"/>
          </a:xfrm>
          <a:prstGeom prst="rect">
            <a:avLst/>
          </a:prstGeom>
          <a:noFill/>
          <a:ln/>
        </p:spPr>
        <p:txBody>
          <a:bodyPr wrap="square" lIns="0" tIns="0" rIns="0" bIns="0" rtlCol="0" anchor="ctr"/>
          <a:lstStyle/>
          <a:p>
            <a:pPr indent="0" marL="0">
              <a:buNone/>
            </a:pPr>
            <a:r>
              <a:rPr lang="en-US" sz="1050" b="1" spc="120" kern="0" dirty="0">
                <a:solidFill>
                  <a:srgbClr val="D9901F"/>
                </a:solidFill>
                <a:latin typeface="Calibri" pitchFamily="34" charset="0"/>
                <a:ea typeface="Calibri" pitchFamily="34" charset="-122"/>
                <a:cs typeface="Calibri" pitchFamily="34" charset="-120"/>
              </a:rPr>
              <a:t>BEFORE CODING</a:t>
            </a:r>
            <a:endParaRPr lang="en-US" sz="1050" dirty="0"/>
          </a:p>
        </p:txBody>
      </p:sp>
      <p:sp>
        <p:nvSpPr>
          <p:cNvPr id="37" name="Text 35"/>
          <p:cNvSpPr txBox="1"/>
          <p:nvPr/>
        </p:nvSpPr>
        <p:spPr>
          <a:xfrm>
            <a:off x="896112" y="4791456"/>
            <a:ext cx="5431536" cy="793623"/>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Write down, for each of the three functions, what used and size must be when it returns. That is your specification, and it is shorter than the code.</a:t>
            </a:r>
            <a:endParaRPr lang="en-US" sz="12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449324"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449324"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dynamic_array.c</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Your task: three functions</a:t>
            </a:r>
            <a:endParaRPr lang="en-US" sz="3000" dirty="0"/>
          </a:p>
        </p:txBody>
      </p:sp>
      <p:sp>
        <p:nvSpPr>
          <p:cNvPr id="5" name="Text 3"/>
          <p:cNvSpPr txBox="1"/>
          <p:nvPr/>
        </p:nvSpPr>
        <p:spPr>
          <a:xfrm>
            <a:off x="640080" y="1188720"/>
            <a:ext cx="10908792" cy="411480"/>
          </a:xfrm>
          <a:prstGeom prst="rect">
            <a:avLst/>
          </a:prstGeom>
          <a:noFill/>
          <a:ln/>
        </p:spPr>
        <p:txBody>
          <a:bodyPr wrap="square" lIns="0" tIns="0" rIns="0" bIns="0" rtlCol="0" anchor="t"/>
          <a:lstStyle/>
          <a:p>
            <a:pPr indent="0" marL="0">
              <a:lnSpc>
                <a:spcPts val="1823"/>
              </a:lnSpc>
              <a:buNone/>
            </a:pPr>
            <a:r>
              <a:rPr lang="en-US" sz="1350" dirty="0">
                <a:solidFill>
                  <a:srgbClr val="62707E"/>
                </a:solidFill>
                <a:latin typeface="Calibri" pitchFamily="34" charset="0"/>
                <a:ea typeface="Calibri" pitchFamily="34" charset="-122"/>
                <a:cs typeface="Calibri" pitchFamily="34" charset="-120"/>
              </a:rPr>
              <a:t>Do not change the signatures. Each one is described below by what must be true after it returns, not by how to write it.</a:t>
            </a:r>
            <a:endParaRPr lang="en-US" sz="1350" dirty="0"/>
          </a:p>
        </p:txBody>
      </p:sp>
      <p:sp>
        <p:nvSpPr>
          <p:cNvPr id="6" name="Shape 4"/>
          <p:cNvSpPr/>
          <p:nvPr/>
        </p:nvSpPr>
        <p:spPr>
          <a:xfrm>
            <a:off x="640080" y="1737360"/>
            <a:ext cx="3453384" cy="3246120"/>
          </a:xfrm>
          <a:prstGeom prst="roundRect">
            <a:avLst>
              <a:gd name="adj" fmla="val 1690"/>
            </a:avLst>
          </a:prstGeom>
          <a:solidFill>
            <a:srgbClr val="F2F5F8"/>
          </a:solidFill>
          <a:ln w="12700">
            <a:solidFill>
              <a:srgbClr val="333333"/>
            </a:solidFill>
            <a:prstDash val="solid"/>
          </a:ln>
        </p:spPr>
      </p:sp>
      <p:sp>
        <p:nvSpPr>
          <p:cNvPr id="7" name="Text 5"/>
          <p:cNvSpPr txBox="1"/>
          <p:nvPr/>
        </p:nvSpPr>
        <p:spPr>
          <a:xfrm>
            <a:off x="877824" y="1883664"/>
            <a:ext cx="2996184" cy="274320"/>
          </a:xfrm>
          <a:prstGeom prst="rect">
            <a:avLst/>
          </a:prstGeom>
          <a:noFill/>
          <a:ln/>
        </p:spPr>
        <p:txBody>
          <a:bodyPr wrap="square" lIns="0" tIns="0" rIns="0" bIns="0" rtlCol="0" anchor="ctr"/>
          <a:lstStyle/>
          <a:p>
            <a:pPr indent="0" marL="0">
              <a:buNone/>
            </a:pPr>
            <a:r>
              <a:rPr lang="en-US" sz="1500" b="1" dirty="0">
                <a:solidFill>
                  <a:srgbClr val="16202B"/>
                </a:solidFill>
                <a:latin typeface="Courier New" pitchFamily="34" charset="0"/>
                <a:ea typeface="Courier New" pitchFamily="34" charset="-122"/>
                <a:cs typeface="Courier New" pitchFamily="34" charset="-120"/>
              </a:rPr>
              <a:t>initialize_arr</a:t>
            </a:r>
            <a:endParaRPr lang="en-US" sz="1500" dirty="0"/>
          </a:p>
        </p:txBody>
      </p:sp>
      <p:sp>
        <p:nvSpPr>
          <p:cNvPr id="8" name="Text 6"/>
          <p:cNvSpPr txBox="1"/>
          <p:nvPr/>
        </p:nvSpPr>
        <p:spPr>
          <a:xfrm>
            <a:off x="877824" y="2194560"/>
            <a:ext cx="2996184" cy="457200"/>
          </a:xfrm>
          <a:prstGeom prst="rect">
            <a:avLst/>
          </a:prstGeom>
          <a:noFill/>
          <a:ln/>
        </p:spPr>
        <p:txBody>
          <a:bodyPr wrap="square" lIns="0" tIns="0" rIns="0" bIns="0" rtlCol="0" anchor="t"/>
          <a:lstStyle/>
          <a:p>
            <a:pPr indent="0" marL="0">
              <a:lnSpc>
                <a:spcPts val="1300"/>
              </a:lnSpc>
              <a:buNone/>
            </a:pPr>
            <a:r>
              <a:rPr lang="en-US" sz="1000" dirty="0">
                <a:solidFill>
                  <a:srgbClr val="62707E"/>
                </a:solidFill>
                <a:latin typeface="Courier New" pitchFamily="34" charset="0"/>
                <a:ea typeface="Courier New" pitchFamily="34" charset="-122"/>
                <a:cs typeface="Courier New" pitchFamily="34" charset="-120"/>
              </a:rPr>
              <a:t>void initialize_arr(DynArray* da, size_t size)</a:t>
            </a:r>
            <a:endParaRPr lang="en-US" sz="1000" dirty="0"/>
          </a:p>
        </p:txBody>
      </p:sp>
      <p:sp>
        <p:nvSpPr>
          <p:cNvPr id="9" name="Text 7"/>
          <p:cNvSpPr txBox="1"/>
          <p:nvPr/>
        </p:nvSpPr>
        <p:spPr>
          <a:xfrm>
            <a:off x="877824" y="2724912"/>
            <a:ext cx="2996184" cy="201168"/>
          </a:xfrm>
          <a:prstGeom prst="rect">
            <a:avLst/>
          </a:prstGeom>
          <a:noFill/>
          <a:ln/>
        </p:spPr>
        <p:txBody>
          <a:bodyPr wrap="square" lIns="0" tIns="0" rIns="0" bIns="0" rtlCol="0" anchor="ctr"/>
          <a:lstStyle/>
          <a:p>
            <a:pPr indent="0" marL="0">
              <a:buNone/>
            </a:pPr>
            <a:r>
              <a:rPr lang="en-US" sz="950" b="1" spc="110" kern="0" dirty="0">
                <a:solidFill>
                  <a:srgbClr val="D9901F"/>
                </a:solidFill>
                <a:latin typeface="Calibri" pitchFamily="34" charset="0"/>
                <a:ea typeface="Calibri" pitchFamily="34" charset="-122"/>
                <a:cs typeface="Calibri" pitchFamily="34" charset="-120"/>
              </a:rPr>
              <a:t>AFTERWARDS</a:t>
            </a:r>
            <a:endParaRPr lang="en-US" sz="950" dirty="0"/>
          </a:p>
        </p:txBody>
      </p:sp>
      <p:sp>
        <p:nvSpPr>
          <p:cNvPr id="10" name="Text 8"/>
          <p:cNvSpPr txBox="1"/>
          <p:nvPr/>
        </p:nvSpPr>
        <p:spPr>
          <a:xfrm>
            <a:off x="877824" y="2962656"/>
            <a:ext cx="2996184" cy="1874520"/>
          </a:xfrm>
          <a:prstGeom prst="rect">
            <a:avLst/>
          </a:prstGeom>
          <a:noFill/>
          <a:ln/>
        </p:spPr>
        <p:txBody>
          <a:bodyPr wrap="square" lIns="0" tIns="0" rIns="0" bIns="0" rtlCol="0" anchor="t"/>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da-&gt;array points at a block with room for size ints.</a:t>
            </a:r>
            <a:endParaRPr lang="en-US" sz="1200" dirty="0"/>
          </a:p>
          <a:p>
            <a:pPr indent="0" marL="0">
              <a:lnSpc>
                <a:spcPts val="1500"/>
              </a:lnSpc>
              <a:buNone/>
            </a:pPr>
            <a:endParaRPr lang="en-US" sz="1200" dirty="0"/>
          </a:p>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da-&gt;used is 0 — the array is empty, not full.</a:t>
            </a:r>
            <a:endParaRPr lang="en-US" sz="1200" dirty="0"/>
          </a:p>
          <a:p>
            <a:pPr indent="0" marL="0">
              <a:lnSpc>
                <a:spcPts val="1500"/>
              </a:lnSpc>
              <a:buNone/>
            </a:pPr>
            <a:endParaRPr lang="en-US" sz="1200" dirty="0"/>
          </a:p>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da-&gt;size records that capacity.</a:t>
            </a:r>
            <a:endParaRPr lang="en-US" sz="1200" dirty="0"/>
          </a:p>
        </p:txBody>
      </p:sp>
      <p:sp>
        <p:nvSpPr>
          <p:cNvPr id="11" name="Shape 9"/>
          <p:cNvSpPr/>
          <p:nvPr/>
        </p:nvSpPr>
        <p:spPr>
          <a:xfrm>
            <a:off x="4367784" y="1737360"/>
            <a:ext cx="3453384" cy="3246120"/>
          </a:xfrm>
          <a:prstGeom prst="roundRect">
            <a:avLst>
              <a:gd name="adj" fmla="val 1690"/>
            </a:avLst>
          </a:prstGeom>
          <a:solidFill>
            <a:srgbClr val="F2F5F8"/>
          </a:solidFill>
          <a:ln w="12700">
            <a:solidFill>
              <a:srgbClr val="333333"/>
            </a:solidFill>
            <a:prstDash val="solid"/>
          </a:ln>
        </p:spPr>
      </p:sp>
      <p:sp>
        <p:nvSpPr>
          <p:cNvPr id="12" name="Text 10"/>
          <p:cNvSpPr txBox="1"/>
          <p:nvPr/>
        </p:nvSpPr>
        <p:spPr>
          <a:xfrm>
            <a:off x="4605528" y="1883664"/>
            <a:ext cx="2996184" cy="274320"/>
          </a:xfrm>
          <a:prstGeom prst="rect">
            <a:avLst/>
          </a:prstGeom>
          <a:noFill/>
          <a:ln/>
        </p:spPr>
        <p:txBody>
          <a:bodyPr wrap="square" lIns="0" tIns="0" rIns="0" bIns="0" rtlCol="0" anchor="ctr"/>
          <a:lstStyle/>
          <a:p>
            <a:pPr indent="0" marL="0">
              <a:buNone/>
            </a:pPr>
            <a:r>
              <a:rPr lang="en-US" sz="1500" b="1" dirty="0">
                <a:solidFill>
                  <a:srgbClr val="16202B"/>
                </a:solidFill>
                <a:latin typeface="Courier New" pitchFamily="34" charset="0"/>
                <a:ea typeface="Courier New" pitchFamily="34" charset="-122"/>
                <a:cs typeface="Courier New" pitchFamily="34" charset="-120"/>
              </a:rPr>
              <a:t>insert_arr</a:t>
            </a:r>
            <a:endParaRPr lang="en-US" sz="1500" dirty="0"/>
          </a:p>
        </p:txBody>
      </p:sp>
      <p:sp>
        <p:nvSpPr>
          <p:cNvPr id="13" name="Text 11"/>
          <p:cNvSpPr txBox="1"/>
          <p:nvPr/>
        </p:nvSpPr>
        <p:spPr>
          <a:xfrm>
            <a:off x="4605528" y="2194560"/>
            <a:ext cx="2996184" cy="457200"/>
          </a:xfrm>
          <a:prstGeom prst="rect">
            <a:avLst/>
          </a:prstGeom>
          <a:noFill/>
          <a:ln/>
        </p:spPr>
        <p:txBody>
          <a:bodyPr wrap="square" lIns="0" tIns="0" rIns="0" bIns="0" rtlCol="0" anchor="t"/>
          <a:lstStyle/>
          <a:p>
            <a:pPr indent="0" marL="0">
              <a:lnSpc>
                <a:spcPts val="1300"/>
              </a:lnSpc>
              <a:buNone/>
            </a:pPr>
            <a:r>
              <a:rPr lang="en-US" sz="1000" dirty="0">
                <a:solidFill>
                  <a:srgbClr val="62707E"/>
                </a:solidFill>
                <a:latin typeface="Courier New" pitchFamily="34" charset="0"/>
                <a:ea typeface="Courier New" pitchFamily="34" charset="-122"/>
                <a:cs typeface="Courier New" pitchFamily="34" charset="-120"/>
              </a:rPr>
              <a:t>void insert_arr(DynArray* da, int element)</a:t>
            </a:r>
            <a:endParaRPr lang="en-US" sz="1000" dirty="0"/>
          </a:p>
        </p:txBody>
      </p:sp>
      <p:sp>
        <p:nvSpPr>
          <p:cNvPr id="14" name="Text 12"/>
          <p:cNvSpPr txBox="1"/>
          <p:nvPr/>
        </p:nvSpPr>
        <p:spPr>
          <a:xfrm>
            <a:off x="4605528" y="2724912"/>
            <a:ext cx="2996184" cy="201168"/>
          </a:xfrm>
          <a:prstGeom prst="rect">
            <a:avLst/>
          </a:prstGeom>
          <a:noFill/>
          <a:ln/>
        </p:spPr>
        <p:txBody>
          <a:bodyPr wrap="square" lIns="0" tIns="0" rIns="0" bIns="0" rtlCol="0" anchor="ctr"/>
          <a:lstStyle/>
          <a:p>
            <a:pPr indent="0" marL="0">
              <a:buNone/>
            </a:pPr>
            <a:r>
              <a:rPr lang="en-US" sz="950" b="1" spc="110" kern="0" dirty="0">
                <a:solidFill>
                  <a:srgbClr val="D9901F"/>
                </a:solidFill>
                <a:latin typeface="Calibri" pitchFamily="34" charset="0"/>
                <a:ea typeface="Calibri" pitchFamily="34" charset="-122"/>
                <a:cs typeface="Calibri" pitchFamily="34" charset="-120"/>
              </a:rPr>
              <a:t>AFTERWARDS</a:t>
            </a:r>
            <a:endParaRPr lang="en-US" sz="950" dirty="0"/>
          </a:p>
        </p:txBody>
      </p:sp>
      <p:sp>
        <p:nvSpPr>
          <p:cNvPr id="15" name="Text 13"/>
          <p:cNvSpPr txBox="1"/>
          <p:nvPr/>
        </p:nvSpPr>
        <p:spPr>
          <a:xfrm>
            <a:off x="4605528" y="2962656"/>
            <a:ext cx="2996184" cy="1874520"/>
          </a:xfrm>
          <a:prstGeom prst="rect">
            <a:avLst/>
          </a:prstGeom>
          <a:noFill/>
          <a:ln/>
        </p:spPr>
        <p:txBody>
          <a:bodyPr wrap="square" lIns="0" tIns="0" rIns="0" bIns="0" rtlCol="0" anchor="t"/>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element sits at the first free index.</a:t>
            </a:r>
            <a:endParaRPr lang="en-US" sz="1200" dirty="0"/>
          </a:p>
          <a:p>
            <a:pPr indent="0" marL="0">
              <a:lnSpc>
                <a:spcPts val="1500"/>
              </a:lnSpc>
              <a:buNone/>
            </a:pPr>
            <a:endParaRPr lang="en-US" sz="1200" dirty="0"/>
          </a:p>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used has grown by exactly one.</a:t>
            </a:r>
            <a:endParaRPr lang="en-US" sz="1200" dirty="0"/>
          </a:p>
          <a:p>
            <a:pPr indent="0" marL="0">
              <a:lnSpc>
                <a:spcPts val="1500"/>
              </a:lnSpc>
              <a:buNone/>
            </a:pPr>
            <a:endParaRPr lang="en-US" sz="1200" dirty="0"/>
          </a:p>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The invariant still holds: if the block was full, it was enlarged first.</a:t>
            </a:r>
            <a:endParaRPr lang="en-US" sz="1200" dirty="0"/>
          </a:p>
        </p:txBody>
      </p:sp>
      <p:sp>
        <p:nvSpPr>
          <p:cNvPr id="16" name="Shape 14"/>
          <p:cNvSpPr/>
          <p:nvPr/>
        </p:nvSpPr>
        <p:spPr>
          <a:xfrm>
            <a:off x="8095488" y="1737360"/>
            <a:ext cx="3453384" cy="3246120"/>
          </a:xfrm>
          <a:prstGeom prst="roundRect">
            <a:avLst>
              <a:gd name="adj" fmla="val 1690"/>
            </a:avLst>
          </a:prstGeom>
          <a:solidFill>
            <a:srgbClr val="F2F5F8"/>
          </a:solidFill>
          <a:ln w="12700">
            <a:solidFill>
              <a:srgbClr val="333333"/>
            </a:solidFill>
            <a:prstDash val="solid"/>
          </a:ln>
        </p:spPr>
      </p:sp>
      <p:sp>
        <p:nvSpPr>
          <p:cNvPr id="17" name="Text 15"/>
          <p:cNvSpPr txBox="1"/>
          <p:nvPr/>
        </p:nvSpPr>
        <p:spPr>
          <a:xfrm>
            <a:off x="8333232" y="1883664"/>
            <a:ext cx="2996184" cy="274320"/>
          </a:xfrm>
          <a:prstGeom prst="rect">
            <a:avLst/>
          </a:prstGeom>
          <a:noFill/>
          <a:ln/>
        </p:spPr>
        <p:txBody>
          <a:bodyPr wrap="square" lIns="0" tIns="0" rIns="0" bIns="0" rtlCol="0" anchor="ctr"/>
          <a:lstStyle/>
          <a:p>
            <a:pPr indent="0" marL="0">
              <a:buNone/>
            </a:pPr>
            <a:r>
              <a:rPr lang="en-US" sz="1500" b="1" dirty="0">
                <a:solidFill>
                  <a:srgbClr val="16202B"/>
                </a:solidFill>
                <a:latin typeface="Courier New" pitchFamily="34" charset="0"/>
                <a:ea typeface="Courier New" pitchFamily="34" charset="-122"/>
                <a:cs typeface="Courier New" pitchFamily="34" charset="-120"/>
              </a:rPr>
              <a:t>free_arr</a:t>
            </a:r>
            <a:endParaRPr lang="en-US" sz="1500" dirty="0"/>
          </a:p>
        </p:txBody>
      </p:sp>
      <p:sp>
        <p:nvSpPr>
          <p:cNvPr id="18" name="Text 16"/>
          <p:cNvSpPr txBox="1"/>
          <p:nvPr/>
        </p:nvSpPr>
        <p:spPr>
          <a:xfrm>
            <a:off x="8333232" y="2194560"/>
            <a:ext cx="2996184" cy="457200"/>
          </a:xfrm>
          <a:prstGeom prst="rect">
            <a:avLst/>
          </a:prstGeom>
          <a:noFill/>
          <a:ln/>
        </p:spPr>
        <p:txBody>
          <a:bodyPr wrap="square" lIns="0" tIns="0" rIns="0" bIns="0" rtlCol="0" anchor="t"/>
          <a:lstStyle/>
          <a:p>
            <a:pPr indent="0" marL="0">
              <a:lnSpc>
                <a:spcPts val="1300"/>
              </a:lnSpc>
              <a:buNone/>
            </a:pPr>
            <a:r>
              <a:rPr lang="en-US" sz="1000" dirty="0">
                <a:solidFill>
                  <a:srgbClr val="62707E"/>
                </a:solidFill>
                <a:latin typeface="Courier New" pitchFamily="34" charset="0"/>
                <a:ea typeface="Courier New" pitchFamily="34" charset="-122"/>
                <a:cs typeface="Courier New" pitchFamily="34" charset="-120"/>
              </a:rPr>
              <a:t>void free_arr(DynArray* da)</a:t>
            </a:r>
            <a:endParaRPr lang="en-US" sz="1000" dirty="0"/>
          </a:p>
        </p:txBody>
      </p:sp>
      <p:sp>
        <p:nvSpPr>
          <p:cNvPr id="19" name="Text 17"/>
          <p:cNvSpPr txBox="1"/>
          <p:nvPr/>
        </p:nvSpPr>
        <p:spPr>
          <a:xfrm>
            <a:off x="8333232" y="2724912"/>
            <a:ext cx="2996184" cy="201168"/>
          </a:xfrm>
          <a:prstGeom prst="rect">
            <a:avLst/>
          </a:prstGeom>
          <a:noFill/>
          <a:ln/>
        </p:spPr>
        <p:txBody>
          <a:bodyPr wrap="square" lIns="0" tIns="0" rIns="0" bIns="0" rtlCol="0" anchor="ctr"/>
          <a:lstStyle/>
          <a:p>
            <a:pPr indent="0" marL="0">
              <a:buNone/>
            </a:pPr>
            <a:r>
              <a:rPr lang="en-US" sz="950" b="1" spc="110" kern="0" dirty="0">
                <a:solidFill>
                  <a:srgbClr val="D9901F"/>
                </a:solidFill>
                <a:latin typeface="Calibri" pitchFamily="34" charset="0"/>
                <a:ea typeface="Calibri" pitchFamily="34" charset="-122"/>
                <a:cs typeface="Calibri" pitchFamily="34" charset="-120"/>
              </a:rPr>
              <a:t>AFTERWARDS</a:t>
            </a:r>
            <a:endParaRPr lang="en-US" sz="950" dirty="0"/>
          </a:p>
        </p:txBody>
      </p:sp>
      <p:sp>
        <p:nvSpPr>
          <p:cNvPr id="20" name="Text 18"/>
          <p:cNvSpPr txBox="1"/>
          <p:nvPr/>
        </p:nvSpPr>
        <p:spPr>
          <a:xfrm>
            <a:off x="8333232" y="2962656"/>
            <a:ext cx="2996184" cy="1874520"/>
          </a:xfrm>
          <a:prstGeom prst="rect">
            <a:avLst/>
          </a:prstGeom>
          <a:noFill/>
          <a:ln/>
        </p:spPr>
        <p:txBody>
          <a:bodyPr wrap="square" lIns="0" tIns="0" rIns="0" bIns="0" rtlCol="0" anchor="t"/>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The block is back with the system.</a:t>
            </a:r>
            <a:endParaRPr lang="en-US" sz="1200" dirty="0"/>
          </a:p>
          <a:p>
            <a:pPr indent="0" marL="0">
              <a:lnSpc>
                <a:spcPts val="1500"/>
              </a:lnSpc>
              <a:buNone/>
            </a:pPr>
            <a:endParaRPr lang="en-US" sz="1200" dirty="0"/>
          </a:p>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Nothing left in da can be dereferenced by accident.</a:t>
            </a:r>
            <a:endParaRPr lang="en-US" sz="1200" dirty="0"/>
          </a:p>
          <a:p>
            <a:pPr indent="0" marL="0">
              <a:lnSpc>
                <a:spcPts val="1500"/>
              </a:lnSpc>
              <a:buNone/>
            </a:pPr>
            <a:endParaRPr lang="en-US" sz="1200" dirty="0"/>
          </a:p>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Calling it does not free the struct itself.</a:t>
            </a:r>
            <a:endParaRPr lang="en-US" sz="1200" dirty="0"/>
          </a:p>
        </p:txBody>
      </p:sp>
      <p:sp>
        <p:nvSpPr>
          <p:cNvPr id="21" name="Shape 19"/>
          <p:cNvSpPr/>
          <p:nvPr/>
        </p:nvSpPr>
        <p:spPr>
          <a:xfrm>
            <a:off x="640080" y="5166360"/>
            <a:ext cx="10908792" cy="1155700"/>
          </a:xfrm>
          <a:prstGeom prst="roundRect">
            <a:avLst>
              <a:gd name="adj" fmla="val 4747"/>
            </a:avLst>
          </a:prstGeom>
          <a:solidFill>
            <a:srgbClr val="FBF1DF"/>
          </a:solidFill>
          <a:ln w="12700">
            <a:solidFill>
              <a:srgbClr val="333333"/>
            </a:solidFill>
            <a:prstDash val="solid"/>
          </a:ln>
        </p:spPr>
      </p:sp>
      <p:sp>
        <p:nvSpPr>
          <p:cNvPr id="22" name="Shape 20"/>
          <p:cNvSpPr/>
          <p:nvPr/>
        </p:nvSpPr>
        <p:spPr>
          <a:xfrm>
            <a:off x="877824" y="5372100"/>
            <a:ext cx="118872" cy="118872"/>
          </a:xfrm>
          <a:prstGeom prst="ellipse">
            <a:avLst/>
          </a:prstGeom>
          <a:solidFill>
            <a:srgbClr val="D9901F"/>
          </a:solidFill>
          <a:ln w="12700">
            <a:solidFill>
              <a:srgbClr val="333333"/>
            </a:solidFill>
            <a:prstDash val="solid"/>
          </a:ln>
        </p:spPr>
      </p:sp>
      <p:sp>
        <p:nvSpPr>
          <p:cNvPr id="23" name="Text 21"/>
          <p:cNvSpPr txBox="1"/>
          <p:nvPr/>
        </p:nvSpPr>
        <p:spPr>
          <a:xfrm>
            <a:off x="1097280" y="5321808"/>
            <a:ext cx="10268712" cy="228600"/>
          </a:xfrm>
          <a:prstGeom prst="rect">
            <a:avLst/>
          </a:prstGeom>
          <a:noFill/>
          <a:ln/>
        </p:spPr>
        <p:txBody>
          <a:bodyPr wrap="square" lIns="0" tIns="0" rIns="0" bIns="0" rtlCol="0" anchor="ctr"/>
          <a:lstStyle/>
          <a:p>
            <a:pPr indent="0" marL="0">
              <a:buNone/>
            </a:pPr>
            <a:r>
              <a:rPr lang="en-US" sz="1050" b="1" spc="120" kern="0" dirty="0">
                <a:solidFill>
                  <a:srgbClr val="D9901F"/>
                </a:solidFill>
                <a:latin typeface="Calibri" pitchFamily="34" charset="0"/>
                <a:ea typeface="Calibri" pitchFamily="34" charset="-122"/>
                <a:cs typeface="Calibri" pitchFamily="34" charset="-120"/>
              </a:rPr>
              <a:t>TRY IT</a:t>
            </a:r>
            <a:endParaRPr lang="en-US" sz="1050" dirty="0"/>
          </a:p>
        </p:txBody>
      </p:sp>
      <p:sp>
        <p:nvSpPr>
          <p:cNvPr id="24" name="Text 22"/>
          <p:cNvSpPr txBox="1"/>
          <p:nvPr/>
        </p:nvSpPr>
        <p:spPr>
          <a:xfrm>
            <a:off x="896112" y="5614416"/>
            <a:ext cx="10396728" cy="597916"/>
          </a:xfrm>
          <a:prstGeom prst="rect">
            <a:avLst/>
          </a:prstGeom>
          <a:noFill/>
          <a:ln/>
        </p:spPr>
        <p:txBody>
          <a:bodyPr wrap="square" lIns="0" tIns="0" rIns="0" bIns="0" rtlCol="0" anchor="t"/>
          <a:lstStyle/>
          <a:p>
            <a:pPr indent="0" marL="0">
              <a:spcAft>
                <a:spcPts val="400"/>
              </a:spcAft>
              <a:buNone/>
            </a:pPr>
            <a:r>
              <a:rPr lang="en-US" sz="1300" dirty="0">
                <a:solidFill>
                  <a:srgbClr val="1A2530"/>
                </a:solidFill>
                <a:latin typeface="Calibri" pitchFamily="34" charset="0"/>
                <a:ea typeface="Calibri" pitchFamily="34" charset="-122"/>
                <a:cs typeface="Calibri" pitchFamily="34" charset="-120"/>
              </a:rPr>
              <a:t>Start with initialize_arr and free_arr, and give insert_arr a body that only works while there is spare room. Compile and run with a loop of 5 inserts instead of 1000. Only then write the growing part.</a:t>
            </a:r>
            <a:endParaRPr lang="en-US" sz="130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449324"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449324"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dynamic_array.c</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Before you start: main() is already broken</a:t>
            </a:r>
            <a:endParaRPr lang="en-US" sz="3000" dirty="0"/>
          </a:p>
        </p:txBody>
      </p:sp>
      <p:sp>
        <p:nvSpPr>
          <p:cNvPr id="5" name="Text 3"/>
          <p:cNvSpPr txBox="1"/>
          <p:nvPr/>
        </p:nvSpPr>
        <p:spPr>
          <a:xfrm>
            <a:off x="640080" y="1298448"/>
            <a:ext cx="594360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NOTHING WAS EVER ALLOCATED FOR THE STRUCT ITSELF</a:t>
            </a:r>
            <a:endParaRPr lang="en-US" sz="950" dirty="0"/>
          </a:p>
        </p:txBody>
      </p:sp>
      <p:sp>
        <p:nvSpPr>
          <p:cNvPr id="6" name="Shape 4"/>
          <p:cNvSpPr/>
          <p:nvPr/>
        </p:nvSpPr>
        <p:spPr>
          <a:xfrm>
            <a:off x="640080" y="1545336"/>
            <a:ext cx="5943600" cy="729996"/>
          </a:xfrm>
          <a:prstGeom prst="roundRect">
            <a:avLst>
              <a:gd name="adj" fmla="val 6263"/>
            </a:avLst>
          </a:prstGeom>
          <a:solidFill>
            <a:srgbClr val="16202B"/>
          </a:solidFill>
          <a:ln w="12700">
            <a:solidFill>
              <a:srgbClr val="333333"/>
            </a:solidFill>
            <a:prstDash val="solid"/>
          </a:ln>
        </p:spPr>
      </p:sp>
      <p:sp>
        <p:nvSpPr>
          <p:cNvPr id="7" name="Text 5"/>
          <p:cNvSpPr txBox="1"/>
          <p:nvPr/>
        </p:nvSpPr>
        <p:spPr>
          <a:xfrm>
            <a:off x="859536" y="1682496"/>
            <a:ext cx="5504688" cy="455676"/>
          </a:xfrm>
          <a:prstGeom prst="rect">
            <a:avLst/>
          </a:prstGeom>
          <a:noFill/>
          <a:ln/>
        </p:spPr>
        <p:txBody>
          <a:bodyPr wrap="square" lIns="0" tIns="0" rIns="0" bIns="0" rtlCol="0" anchor="t"/>
          <a:lstStyle/>
          <a:p>
            <a:pPr indent="0" marL="0">
              <a:lnSpc>
                <a:spcPts val="1650"/>
              </a:lnSpc>
              <a:buNone/>
            </a:pPr>
            <a:r>
              <a:rPr lang="en-US" sz="1250" dirty="0">
                <a:solidFill>
                  <a:srgbClr val="D9901F"/>
                </a:solidFill>
                <a:latin typeface="Courier New" pitchFamily="34" charset="0"/>
                <a:ea typeface="Courier New" pitchFamily="34" charset="-122"/>
                <a:cs typeface="Courier New" pitchFamily="34" charset="-120"/>
              </a:rPr>
              <a:t>DynArray* dynarr;          </a:t>
            </a:r>
            <a:pPr indent="0" marL="0">
              <a:lnSpc>
                <a:spcPts val="1650"/>
              </a:lnSpc>
              <a:buNone/>
            </a:pPr>
            <a:r>
              <a:rPr lang="en-US" sz="1250" dirty="0">
                <a:solidFill>
                  <a:srgbClr val="D9901F"/>
                </a:solidFill>
                <a:latin typeface="Courier New" pitchFamily="34" charset="0"/>
                <a:ea typeface="Courier New" pitchFamily="34" charset="-122"/>
                <a:cs typeface="Courier New" pitchFamily="34" charset="-120"/>
              </a:rPr>
              <a:t>// an uninitialised pointer</a:t>
            </a:r>
            <a:endParaRPr lang="en-US" sz="1250" dirty="0"/>
          </a:p>
          <a:p>
            <a:pPr indent="0" marL="0">
              <a:lnSpc>
                <a:spcPts val="1650"/>
              </a:lnSpc>
              <a:buNone/>
            </a:pPr>
            <a:r>
              <a:rPr lang="en-US" sz="1250" dirty="0">
                <a:solidFill>
                  <a:srgbClr val="E3EAF1"/>
                </a:solidFill>
                <a:latin typeface="Courier New" pitchFamily="34" charset="0"/>
                <a:ea typeface="Courier New" pitchFamily="34" charset="-122"/>
                <a:cs typeface="Courier New" pitchFamily="34" charset="-120"/>
              </a:rPr>
              <a:t>initialize_arr(dynarr, 7); </a:t>
            </a:r>
            <a:pPr indent="0" marL="0">
              <a:lnSpc>
                <a:spcPts val="1650"/>
              </a:lnSpc>
              <a:buNone/>
            </a:pPr>
            <a:r>
              <a:rPr lang="en-US" sz="1250" dirty="0">
                <a:solidFill>
                  <a:srgbClr val="8090A0"/>
                </a:solidFill>
                <a:latin typeface="Courier New" pitchFamily="34" charset="0"/>
                <a:ea typeface="Courier New" pitchFamily="34" charset="-122"/>
                <a:cs typeface="Courier New" pitchFamily="34" charset="-120"/>
              </a:rPr>
              <a:t>// ...passed straight in</a:t>
            </a:r>
            <a:endParaRPr lang="en-US" sz="1250" dirty="0"/>
          </a:p>
        </p:txBody>
      </p:sp>
      <p:sp>
        <p:nvSpPr>
          <p:cNvPr id="8" name="Text 6"/>
          <p:cNvSpPr txBox="1"/>
          <p:nvPr/>
        </p:nvSpPr>
        <p:spPr>
          <a:xfrm>
            <a:off x="640080" y="2286000"/>
            <a:ext cx="5943600" cy="914400"/>
          </a:xfrm>
          <a:prstGeom prst="rect">
            <a:avLst/>
          </a:prstGeom>
          <a:noFill/>
          <a:ln/>
        </p:spPr>
        <p:txBody>
          <a:bodyPr wrap="square" lIns="0" tIns="0" rIns="0" bIns="0" rtlCol="0" anchor="t"/>
          <a:lstStyle/>
          <a:p>
            <a:pPr indent="0" marL="0">
              <a:lnSpc>
                <a:spcPts val="1755"/>
              </a:lnSpc>
              <a:buNone/>
            </a:pPr>
            <a:r>
              <a:rPr lang="en-US" sz="1300" dirty="0">
                <a:solidFill>
                  <a:srgbClr val="1A2530"/>
                </a:solidFill>
                <a:latin typeface="Calibri" pitchFamily="34" charset="0"/>
                <a:ea typeface="Calibri" pitchFamily="34" charset="-122"/>
                <a:cs typeface="Calibri" pitchFamily="34" charset="-120"/>
              </a:rPr>
              <a:t>dynarr holds whatever was on the stack. The first da-&gt;array = ... inside your function writes through it, to an address nobody chose. Exactly the mistake from file 01, one level deeper.</a:t>
            </a:r>
            <a:endParaRPr lang="en-US" sz="1300" dirty="0"/>
          </a:p>
        </p:txBody>
      </p:sp>
      <p:sp>
        <p:nvSpPr>
          <p:cNvPr id="9" name="Text 7"/>
          <p:cNvSpPr txBox="1"/>
          <p:nvPr/>
        </p:nvSpPr>
        <p:spPr>
          <a:xfrm>
            <a:off x="640080" y="3291840"/>
            <a:ext cx="594360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FIX 1: PUT THE STRUCT ON THE STACK</a:t>
            </a:r>
            <a:endParaRPr lang="en-US" sz="950" dirty="0"/>
          </a:p>
        </p:txBody>
      </p:sp>
      <p:sp>
        <p:nvSpPr>
          <p:cNvPr id="10" name="Shape 8"/>
          <p:cNvSpPr/>
          <p:nvPr/>
        </p:nvSpPr>
        <p:spPr>
          <a:xfrm>
            <a:off x="640080" y="3538728"/>
            <a:ext cx="5943600" cy="1082040"/>
          </a:xfrm>
          <a:prstGeom prst="roundRect">
            <a:avLst>
              <a:gd name="adj" fmla="val 4225"/>
            </a:avLst>
          </a:prstGeom>
          <a:solidFill>
            <a:srgbClr val="16202B"/>
          </a:solidFill>
          <a:ln w="12700">
            <a:solidFill>
              <a:srgbClr val="333333"/>
            </a:solidFill>
            <a:prstDash val="solid"/>
          </a:ln>
        </p:spPr>
      </p:sp>
      <p:sp>
        <p:nvSpPr>
          <p:cNvPr id="11" name="Text 9"/>
          <p:cNvSpPr txBox="1"/>
          <p:nvPr/>
        </p:nvSpPr>
        <p:spPr>
          <a:xfrm>
            <a:off x="859536" y="3675888"/>
            <a:ext cx="5504688" cy="807720"/>
          </a:xfrm>
          <a:prstGeom prst="rect">
            <a:avLst/>
          </a:prstGeom>
          <a:noFill/>
          <a:ln/>
        </p:spPr>
        <p:txBody>
          <a:bodyPr wrap="square" lIns="0" tIns="0" rIns="0" bIns="0" rtlCol="0" anchor="t"/>
          <a:lstStyle/>
          <a:p>
            <a:pPr indent="0" marL="0">
              <a:lnSpc>
                <a:spcPts val="1518"/>
              </a:lnSpc>
              <a:buNone/>
            </a:pPr>
            <a:r>
              <a:rPr lang="en-US" sz="1150" dirty="0">
                <a:solidFill>
                  <a:srgbClr val="E3EAF1"/>
                </a:solidFill>
                <a:latin typeface="Courier New" pitchFamily="34" charset="0"/>
                <a:ea typeface="Courier New" pitchFamily="34" charset="-122"/>
                <a:cs typeface="Courier New" pitchFamily="34" charset="-120"/>
              </a:rPr>
              <a:t>DynArray dynarr;</a:t>
            </a:r>
            <a:endParaRPr lang="en-US" sz="1150" dirty="0"/>
          </a:p>
          <a:p>
            <a:pPr indent="0" marL="0">
              <a:lnSpc>
                <a:spcPts val="1518"/>
              </a:lnSpc>
              <a:buNone/>
            </a:pPr>
            <a:r>
              <a:rPr lang="en-US" sz="1150" dirty="0">
                <a:solidFill>
                  <a:srgbClr val="E3EAF1"/>
                </a:solidFill>
                <a:latin typeface="Courier New" pitchFamily="34" charset="0"/>
                <a:ea typeface="Courier New" pitchFamily="34" charset="-122"/>
                <a:cs typeface="Courier New" pitchFamily="34" charset="-120"/>
              </a:rPr>
              <a:t>initialize_arr(&amp;dynarr, 7);</a:t>
            </a:r>
            <a:endParaRPr lang="en-US" sz="1150" dirty="0"/>
          </a:p>
          <a:p>
            <a:pPr indent="0" marL="0">
              <a:lnSpc>
                <a:spcPts val="1518"/>
              </a:lnSpc>
              <a:buNone/>
            </a:pPr>
            <a:r>
              <a:rPr lang="en-US" sz="1150" dirty="0">
                <a:solidFill>
                  <a:srgbClr val="E3EAF1"/>
                </a:solidFill>
                <a:latin typeface="Courier New" pitchFamily="34" charset="0"/>
                <a:ea typeface="Courier New" pitchFamily="34" charset="-122"/>
                <a:cs typeface="Courier New" pitchFamily="34" charset="-120"/>
              </a:rPr>
              <a:t>insert_arr(&amp;dynarr, i);</a:t>
            </a:r>
            <a:endParaRPr lang="en-US" sz="1150" dirty="0"/>
          </a:p>
          <a:p>
            <a:pPr indent="0" marL="0">
              <a:lnSpc>
                <a:spcPts val="1518"/>
              </a:lnSpc>
              <a:buNone/>
            </a:pPr>
            <a:r>
              <a:rPr lang="en-US" sz="1150" dirty="0">
                <a:solidFill>
                  <a:srgbClr val="E3EAF1"/>
                </a:solidFill>
                <a:latin typeface="Courier New" pitchFamily="34" charset="0"/>
                <a:ea typeface="Courier New" pitchFamily="34" charset="-122"/>
                <a:cs typeface="Courier New" pitchFamily="34" charset="-120"/>
              </a:rPr>
              <a:t>printf("%d\n", dynarr.array[12]);  </a:t>
            </a:r>
            <a:pPr indent="0" marL="0">
              <a:lnSpc>
                <a:spcPts val="1518"/>
              </a:lnSpc>
              <a:buNone/>
            </a:pPr>
            <a:r>
              <a:rPr lang="en-US" sz="1150" dirty="0">
                <a:solidFill>
                  <a:srgbClr val="8090A0"/>
                </a:solidFill>
                <a:latin typeface="Courier New" pitchFamily="34" charset="0"/>
                <a:ea typeface="Courier New" pitchFamily="34" charset="-122"/>
                <a:cs typeface="Courier New" pitchFamily="34" charset="-120"/>
              </a:rPr>
              <a:t>// dot, not arrow</a:t>
            </a:r>
            <a:endParaRPr lang="en-US" sz="1150" dirty="0"/>
          </a:p>
        </p:txBody>
      </p:sp>
      <p:sp>
        <p:nvSpPr>
          <p:cNvPr id="12" name="Text 10"/>
          <p:cNvSpPr txBox="1"/>
          <p:nvPr/>
        </p:nvSpPr>
        <p:spPr>
          <a:xfrm>
            <a:off x="640080" y="4617720"/>
            <a:ext cx="594360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FIX 2: PUT IT ON THE HEAP, AND KEEP main() AS IT IS</a:t>
            </a:r>
            <a:endParaRPr lang="en-US" sz="950" dirty="0"/>
          </a:p>
        </p:txBody>
      </p:sp>
      <p:sp>
        <p:nvSpPr>
          <p:cNvPr id="13" name="Shape 11"/>
          <p:cNvSpPr/>
          <p:nvPr/>
        </p:nvSpPr>
        <p:spPr>
          <a:xfrm>
            <a:off x="640080" y="4864608"/>
            <a:ext cx="5943600" cy="1082040"/>
          </a:xfrm>
          <a:prstGeom prst="roundRect">
            <a:avLst>
              <a:gd name="adj" fmla="val 4225"/>
            </a:avLst>
          </a:prstGeom>
          <a:solidFill>
            <a:srgbClr val="16202B"/>
          </a:solidFill>
          <a:ln w="12700">
            <a:solidFill>
              <a:srgbClr val="333333"/>
            </a:solidFill>
            <a:prstDash val="solid"/>
          </a:ln>
        </p:spPr>
      </p:sp>
      <p:sp>
        <p:nvSpPr>
          <p:cNvPr id="14" name="Text 12"/>
          <p:cNvSpPr txBox="1"/>
          <p:nvPr/>
        </p:nvSpPr>
        <p:spPr>
          <a:xfrm>
            <a:off x="859536" y="5001768"/>
            <a:ext cx="5504688" cy="807720"/>
          </a:xfrm>
          <a:prstGeom prst="rect">
            <a:avLst/>
          </a:prstGeom>
          <a:noFill/>
          <a:ln/>
        </p:spPr>
        <p:txBody>
          <a:bodyPr wrap="square" lIns="0" tIns="0" rIns="0" bIns="0" rtlCol="0" anchor="t"/>
          <a:lstStyle/>
          <a:p>
            <a:pPr indent="0" marL="0">
              <a:lnSpc>
                <a:spcPts val="1518"/>
              </a:lnSpc>
              <a:buNone/>
            </a:pPr>
            <a:r>
              <a:rPr lang="en-US" sz="1150" dirty="0">
                <a:solidFill>
                  <a:srgbClr val="E3EAF1"/>
                </a:solidFill>
                <a:latin typeface="Courier New" pitchFamily="34" charset="0"/>
                <a:ea typeface="Courier New" pitchFamily="34" charset="-122"/>
                <a:cs typeface="Courier New" pitchFamily="34" charset="-120"/>
              </a:rPr>
              <a:t>DynArray* dynarr = malloc(sizeof(DynArray));</a:t>
            </a:r>
            <a:endParaRPr lang="en-US" sz="1150" dirty="0"/>
          </a:p>
          <a:p>
            <a:pPr indent="0" marL="0">
              <a:lnSpc>
                <a:spcPts val="1518"/>
              </a:lnSpc>
              <a:buNone/>
            </a:pPr>
            <a:r>
              <a:rPr lang="en-US" sz="1150" dirty="0">
                <a:solidFill>
                  <a:srgbClr val="8090A0"/>
                </a:solidFill>
                <a:latin typeface="Courier New" pitchFamily="34" charset="0"/>
                <a:ea typeface="Courier New" pitchFamily="34" charset="-122"/>
                <a:cs typeface="Courier New" pitchFamily="34" charset="-120"/>
              </a:rPr>
              <a:t>/* ... */</a:t>
            </a:r>
            <a:endParaRPr lang="en-US" sz="1150" dirty="0"/>
          </a:p>
          <a:p>
            <a:pPr indent="0" marL="0">
              <a:lnSpc>
                <a:spcPts val="1518"/>
              </a:lnSpc>
              <a:buNone/>
            </a:pPr>
            <a:r>
              <a:rPr lang="en-US" sz="1150" dirty="0">
                <a:solidFill>
                  <a:srgbClr val="E3EAF1"/>
                </a:solidFill>
                <a:latin typeface="Courier New" pitchFamily="34" charset="0"/>
                <a:ea typeface="Courier New" pitchFamily="34" charset="-122"/>
                <a:cs typeface="Courier New" pitchFamily="34" charset="-120"/>
              </a:rPr>
              <a:t>free_arr(dynarr);   </a:t>
            </a:r>
            <a:pPr indent="0" marL="0">
              <a:lnSpc>
                <a:spcPts val="1518"/>
              </a:lnSpc>
              <a:buNone/>
            </a:pPr>
            <a:r>
              <a:rPr lang="en-US" sz="1150" dirty="0">
                <a:solidFill>
                  <a:srgbClr val="8090A0"/>
                </a:solidFill>
                <a:latin typeface="Courier New" pitchFamily="34" charset="0"/>
                <a:ea typeface="Courier New" pitchFamily="34" charset="-122"/>
                <a:cs typeface="Courier New" pitchFamily="34" charset="-120"/>
              </a:rPr>
              <a:t>// frees the block of ints</a:t>
            </a:r>
            <a:endParaRPr lang="en-US" sz="1150" dirty="0"/>
          </a:p>
          <a:p>
            <a:pPr indent="0" marL="0">
              <a:lnSpc>
                <a:spcPts val="1518"/>
              </a:lnSpc>
              <a:buNone/>
            </a:pPr>
            <a:r>
              <a:rPr lang="en-US" sz="1150" dirty="0">
                <a:solidFill>
                  <a:srgbClr val="D9901F"/>
                </a:solidFill>
                <a:latin typeface="Courier New" pitchFamily="34" charset="0"/>
                <a:ea typeface="Courier New" pitchFamily="34" charset="-122"/>
                <a:cs typeface="Courier New" pitchFamily="34" charset="-120"/>
              </a:rPr>
              <a:t>free(dynarr);       </a:t>
            </a:r>
            <a:pPr indent="0" marL="0">
              <a:lnSpc>
                <a:spcPts val="1518"/>
              </a:lnSpc>
              <a:buNone/>
            </a:pPr>
            <a:r>
              <a:rPr lang="en-US" sz="1150" dirty="0">
                <a:solidFill>
                  <a:srgbClr val="D9901F"/>
                </a:solidFill>
                <a:latin typeface="Courier New" pitchFamily="34" charset="0"/>
                <a:ea typeface="Courier New" pitchFamily="34" charset="-122"/>
                <a:cs typeface="Courier New" pitchFamily="34" charset="-120"/>
              </a:rPr>
              <a:t>// frees the struct itself</a:t>
            </a:r>
            <a:endParaRPr lang="en-US" sz="1150" dirty="0"/>
          </a:p>
        </p:txBody>
      </p:sp>
      <p:sp>
        <p:nvSpPr>
          <p:cNvPr id="15" name="Shape 13"/>
          <p:cNvSpPr/>
          <p:nvPr/>
        </p:nvSpPr>
        <p:spPr>
          <a:xfrm>
            <a:off x="6812280" y="1298448"/>
            <a:ext cx="4736592" cy="1351407"/>
          </a:xfrm>
          <a:prstGeom prst="roundRect">
            <a:avLst>
              <a:gd name="adj" fmla="val 4060"/>
            </a:avLst>
          </a:prstGeom>
          <a:solidFill>
            <a:srgbClr val="FAEBE8"/>
          </a:solidFill>
          <a:ln w="12700">
            <a:solidFill>
              <a:srgbClr val="333333"/>
            </a:solidFill>
            <a:prstDash val="solid"/>
          </a:ln>
        </p:spPr>
      </p:sp>
      <p:sp>
        <p:nvSpPr>
          <p:cNvPr id="16" name="Shape 14"/>
          <p:cNvSpPr/>
          <p:nvPr/>
        </p:nvSpPr>
        <p:spPr>
          <a:xfrm>
            <a:off x="7050024" y="1504188"/>
            <a:ext cx="118872" cy="118872"/>
          </a:xfrm>
          <a:prstGeom prst="ellipse">
            <a:avLst/>
          </a:prstGeom>
          <a:solidFill>
            <a:srgbClr val="B8412F"/>
          </a:solidFill>
          <a:ln w="12700">
            <a:solidFill>
              <a:srgbClr val="333333"/>
            </a:solidFill>
            <a:prstDash val="solid"/>
          </a:ln>
        </p:spPr>
      </p:sp>
      <p:sp>
        <p:nvSpPr>
          <p:cNvPr id="17" name="Text 15"/>
          <p:cNvSpPr txBox="1"/>
          <p:nvPr/>
        </p:nvSpPr>
        <p:spPr>
          <a:xfrm>
            <a:off x="7269480" y="1453896"/>
            <a:ext cx="4096512" cy="228600"/>
          </a:xfrm>
          <a:prstGeom prst="rect">
            <a:avLst/>
          </a:prstGeom>
          <a:noFill/>
          <a:ln/>
        </p:spPr>
        <p:txBody>
          <a:bodyPr wrap="square" lIns="0" tIns="0" rIns="0" bIns="0" rtlCol="0" anchor="ctr"/>
          <a:lstStyle/>
          <a:p>
            <a:pPr indent="0" marL="0">
              <a:buNone/>
            </a:pPr>
            <a:r>
              <a:rPr lang="en-US" sz="1050" b="1" spc="120" kern="0" dirty="0">
                <a:solidFill>
                  <a:srgbClr val="B8412F"/>
                </a:solidFill>
                <a:latin typeface="Calibri" pitchFamily="34" charset="0"/>
                <a:ea typeface="Calibri" pitchFamily="34" charset="-122"/>
                <a:cs typeface="Calibri" pitchFamily="34" charset="-120"/>
              </a:rPr>
              <a:t>THE SECOND MISTAKE</a:t>
            </a:r>
            <a:endParaRPr lang="en-US" sz="1050" dirty="0"/>
          </a:p>
        </p:txBody>
      </p:sp>
      <p:sp>
        <p:nvSpPr>
          <p:cNvPr id="18" name="Text 16"/>
          <p:cNvSpPr txBox="1"/>
          <p:nvPr/>
        </p:nvSpPr>
        <p:spPr>
          <a:xfrm>
            <a:off x="7068312" y="1746504"/>
            <a:ext cx="4224528" cy="793623"/>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printf("%d\n", dynarr-&gt;used) prints a size_t with the specifier for int. On a 64-bit machine those are different sizes. The right one is %zu.</a:t>
            </a:r>
            <a:endParaRPr lang="en-US" sz="1250" dirty="0"/>
          </a:p>
        </p:txBody>
      </p:sp>
      <p:sp>
        <p:nvSpPr>
          <p:cNvPr id="19" name="Shape 17"/>
          <p:cNvSpPr/>
          <p:nvPr/>
        </p:nvSpPr>
        <p:spPr>
          <a:xfrm>
            <a:off x="6812280" y="2834640"/>
            <a:ext cx="4736592" cy="2312035"/>
          </a:xfrm>
          <a:prstGeom prst="roundRect">
            <a:avLst>
              <a:gd name="adj" fmla="val 2373"/>
            </a:avLst>
          </a:prstGeom>
          <a:solidFill>
            <a:srgbClr val="E8F3ED"/>
          </a:solidFill>
          <a:ln w="12700">
            <a:solidFill>
              <a:srgbClr val="333333"/>
            </a:solidFill>
            <a:prstDash val="solid"/>
          </a:ln>
        </p:spPr>
      </p:sp>
      <p:sp>
        <p:nvSpPr>
          <p:cNvPr id="20" name="Shape 18"/>
          <p:cNvSpPr/>
          <p:nvPr/>
        </p:nvSpPr>
        <p:spPr>
          <a:xfrm>
            <a:off x="7050024" y="3040380"/>
            <a:ext cx="118872" cy="118872"/>
          </a:xfrm>
          <a:prstGeom prst="ellipse">
            <a:avLst/>
          </a:prstGeom>
          <a:solidFill>
            <a:srgbClr val="2F8A63"/>
          </a:solidFill>
          <a:ln w="12700">
            <a:solidFill>
              <a:srgbClr val="333333"/>
            </a:solidFill>
            <a:prstDash val="solid"/>
          </a:ln>
        </p:spPr>
      </p:sp>
      <p:sp>
        <p:nvSpPr>
          <p:cNvPr id="21" name="Text 19"/>
          <p:cNvSpPr txBox="1"/>
          <p:nvPr/>
        </p:nvSpPr>
        <p:spPr>
          <a:xfrm>
            <a:off x="7269480" y="2990088"/>
            <a:ext cx="4096512" cy="228600"/>
          </a:xfrm>
          <a:prstGeom prst="rect">
            <a:avLst/>
          </a:prstGeom>
          <a:noFill/>
          <a:ln/>
        </p:spPr>
        <p:txBody>
          <a:bodyPr wrap="square" lIns="0" tIns="0" rIns="0" bIns="0" rtlCol="0" anchor="ctr"/>
          <a:lstStyle/>
          <a:p>
            <a:pPr indent="0" marL="0">
              <a:buNone/>
            </a:pPr>
            <a:r>
              <a:rPr lang="en-US" sz="1050" b="1" spc="120" kern="0" dirty="0">
                <a:solidFill>
                  <a:srgbClr val="2F8A63"/>
                </a:solidFill>
                <a:latin typeface="Calibri" pitchFamily="34" charset="0"/>
                <a:ea typeface="Calibri" pitchFamily="34" charset="-122"/>
                <a:cs typeface="Calibri" pitchFamily="34" charset="-120"/>
              </a:rPr>
              <a:t>WHICH FIX SHOULD YOU PICK?</a:t>
            </a:r>
            <a:endParaRPr lang="en-US" sz="1050" dirty="0"/>
          </a:p>
        </p:txBody>
      </p:sp>
      <p:sp>
        <p:nvSpPr>
          <p:cNvPr id="22" name="Text 20"/>
          <p:cNvSpPr txBox="1"/>
          <p:nvPr/>
        </p:nvSpPr>
        <p:spPr>
          <a:xfrm>
            <a:off x="7068312" y="3282696"/>
            <a:ext cx="4224528" cy="1754251"/>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530"/>
                </a:solidFill>
                <a:latin typeface="Calibri" pitchFamily="34" charset="0"/>
                <a:ea typeface="Calibri" pitchFamily="34" charset="-122"/>
                <a:cs typeface="Calibri" pitchFamily="34" charset="-120"/>
              </a:rPr>
              <a:t>Either is correct. Fix 1 is simpler and needs no free for the struct.</a:t>
            </a:r>
            <a:endParaRPr lang="en-US" sz="1250" dirty="0"/>
          </a:p>
          <a:p>
            <a:pPr marL="342900" indent="-342900">
              <a:spcAft>
                <a:spcPts val="400"/>
              </a:spcAft>
              <a:buSzPct val="100000"/>
              <a:buChar char="•"/>
            </a:pPr>
            <a:r>
              <a:rPr lang="en-US" sz="1250" dirty="0">
                <a:solidFill>
                  <a:srgbClr val="1A2530"/>
                </a:solidFill>
                <a:latin typeface="Calibri" pitchFamily="34" charset="0"/>
                <a:ea typeface="Calibri" pitchFamily="34" charset="-122"/>
                <a:cs typeface="Calibri" pitchFamily="34" charset="-120"/>
              </a:rPr>
              <a:t>Fix 2 keeps main() exactly as written and is what a real library does, because the struct then outlives the function that created it.</a:t>
            </a:r>
            <a:endParaRPr lang="en-US" sz="1250" dirty="0"/>
          </a:p>
          <a:p>
            <a:pPr marL="342900" indent="-342900">
              <a:spcAft>
                <a:spcPts val="400"/>
              </a:spcAft>
              <a:buSzPct val="100000"/>
              <a:buChar char="•"/>
            </a:pPr>
            <a:r>
              <a:rPr lang="en-US" sz="1250" dirty="0">
                <a:solidFill>
                  <a:srgbClr val="1A2530"/>
                </a:solidFill>
                <a:latin typeface="Calibri" pitchFamily="34" charset="0"/>
                <a:ea typeface="Calibri" pitchFamily="34" charset="-122"/>
                <a:cs typeface="Calibri" pitchFamily="34" charset="-120"/>
              </a:rPr>
              <a:t>Whichever you choose, be able to say who allocates and who frees.</a:t>
            </a:r>
            <a:endParaRPr lang="en-US" sz="12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145743"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145743"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hint 1 of 4</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Hint 1 — initialize_arr</a:t>
            </a:r>
            <a:endParaRPr lang="en-US" sz="3000" dirty="0"/>
          </a:p>
        </p:txBody>
      </p:sp>
      <p:sp>
        <p:nvSpPr>
          <p:cNvPr id="5" name="Text 3"/>
          <p:cNvSpPr txBox="1"/>
          <p:nvPr/>
        </p:nvSpPr>
        <p:spPr>
          <a:xfrm>
            <a:off x="640080" y="1298448"/>
            <a:ext cx="630936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FILL IN THE BLANKS</a:t>
            </a:r>
            <a:endParaRPr lang="en-US" sz="950" dirty="0"/>
          </a:p>
        </p:txBody>
      </p:sp>
      <p:sp>
        <p:nvSpPr>
          <p:cNvPr id="6" name="Shape 4"/>
          <p:cNvSpPr/>
          <p:nvPr/>
        </p:nvSpPr>
        <p:spPr>
          <a:xfrm>
            <a:off x="640080" y="1545336"/>
            <a:ext cx="6309360" cy="2054352"/>
          </a:xfrm>
          <a:prstGeom prst="roundRect">
            <a:avLst>
              <a:gd name="adj" fmla="val 2226"/>
            </a:avLst>
          </a:prstGeom>
          <a:solidFill>
            <a:srgbClr val="16202B"/>
          </a:solidFill>
          <a:ln w="12700">
            <a:solidFill>
              <a:srgbClr val="333333"/>
            </a:solidFill>
            <a:prstDash val="solid"/>
          </a:ln>
        </p:spPr>
      </p:sp>
      <p:sp>
        <p:nvSpPr>
          <p:cNvPr id="7" name="Text 5"/>
          <p:cNvSpPr txBox="1"/>
          <p:nvPr/>
        </p:nvSpPr>
        <p:spPr>
          <a:xfrm>
            <a:off x="859536" y="1682496"/>
            <a:ext cx="5870448" cy="1780032"/>
          </a:xfrm>
          <a:prstGeom prst="rect">
            <a:avLst/>
          </a:prstGeom>
          <a:noFill/>
          <a:ln/>
        </p:spPr>
        <p:txBody>
          <a:bodyPr wrap="square" lIns="0" tIns="0" rIns="0" bIns="0" rtlCol="0" anchor="t"/>
          <a:lstStyle/>
          <a:p>
            <a:pPr indent="0" marL="0">
              <a:lnSpc>
                <a:spcPts val="1716"/>
              </a:lnSpc>
              <a:buNone/>
            </a:pPr>
            <a:r>
              <a:rPr lang="en-US" sz="1300" dirty="0">
                <a:solidFill>
                  <a:srgbClr val="E3EAF1"/>
                </a:solidFill>
                <a:latin typeface="Courier New" pitchFamily="34" charset="0"/>
                <a:ea typeface="Courier New" pitchFamily="34" charset="-122"/>
                <a:cs typeface="Courier New" pitchFamily="34" charset="-120"/>
              </a:rPr>
              <a:t>void initialize_arr(DynArray* da, size_t size){</a:t>
            </a:r>
            <a:endParaRPr lang="en-US" sz="1300" dirty="0"/>
          </a:p>
          <a:p>
            <a:pPr indent="0" marL="0">
              <a:lnSpc>
                <a:spcPts val="1716"/>
              </a:lnSpc>
              <a:buNone/>
            </a:pPr>
            <a:r>
              <a:rPr lang="en-US" sz="1300" dirty="0">
                <a:solidFill>
                  <a:srgbClr val="D9901F"/>
                </a:solidFill>
                <a:latin typeface="Courier New" pitchFamily="34" charset="0"/>
                <a:ea typeface="Courier New" pitchFamily="34" charset="-122"/>
                <a:cs typeface="Courier New" pitchFamily="34" charset="-120"/>
              </a:rPr>
              <a:t>        da-&gt;array = malloc(____ * sizeof(____));</a:t>
            </a:r>
            <a:endParaRPr lang="en-US" sz="1300" dirty="0"/>
          </a:p>
          <a:p>
            <a:pPr indent="0" marL="0">
              <a:lnSpc>
                <a:spcPts val="1716"/>
              </a:lnSpc>
              <a:buNone/>
            </a:pPr>
            <a:r>
              <a:rPr lang="en-US" sz="1300" dirty="0">
                <a:solidFill>
                  <a:srgbClr val="E3EAF1"/>
                </a:solidFill>
                <a:latin typeface="Courier New" pitchFamily="34" charset="0"/>
                <a:ea typeface="Courier New" pitchFamily="34" charset="-122"/>
                <a:cs typeface="Courier New" pitchFamily="34" charset="-120"/>
              </a:rPr>
              <a:t>        if (da-&gt;array == NULL) {</a:t>
            </a:r>
            <a:endParaRPr lang="en-US" sz="1300" dirty="0"/>
          </a:p>
          <a:p>
            <a:pPr indent="0" marL="0">
              <a:lnSpc>
                <a:spcPts val="1716"/>
              </a:lnSpc>
              <a:buNone/>
            </a:pPr>
            <a:r>
              <a:rPr lang="en-US" sz="1300" dirty="0">
                <a:solidFill>
                  <a:srgbClr val="8090A0"/>
                </a:solidFill>
                <a:latin typeface="Courier New" pitchFamily="34" charset="0"/>
                <a:ea typeface="Courier New" pitchFamily="34" charset="-122"/>
                <a:cs typeface="Courier New" pitchFamily="34" charset="-120"/>
              </a:rPr>
              <a:t>                /* and now what? */</a:t>
            </a:r>
            <a:endParaRPr lang="en-US" sz="1300" dirty="0"/>
          </a:p>
          <a:p>
            <a:pPr indent="0" marL="0">
              <a:lnSpc>
                <a:spcPts val="1716"/>
              </a:lnSpc>
              <a:buNone/>
            </a:pPr>
            <a:r>
              <a:rPr lang="en-US" sz="1300" dirty="0">
                <a:solidFill>
                  <a:srgbClr val="E3EAF1"/>
                </a:solidFill>
                <a:latin typeface="Courier New" pitchFamily="34" charset="0"/>
                <a:ea typeface="Courier New" pitchFamily="34" charset="-122"/>
                <a:cs typeface="Courier New" pitchFamily="34" charset="-120"/>
              </a:rPr>
              <a:t>        }</a:t>
            </a:r>
            <a:endParaRPr lang="en-US" sz="1300" dirty="0"/>
          </a:p>
          <a:p>
            <a:pPr indent="0" marL="0">
              <a:lnSpc>
                <a:spcPts val="1716"/>
              </a:lnSpc>
              <a:buNone/>
            </a:pPr>
            <a:r>
              <a:rPr lang="en-US" sz="1300" dirty="0">
                <a:solidFill>
                  <a:srgbClr val="D9901F"/>
                </a:solidFill>
                <a:latin typeface="Courier New" pitchFamily="34" charset="0"/>
                <a:ea typeface="Courier New" pitchFamily="34" charset="-122"/>
                <a:cs typeface="Courier New" pitchFamily="34" charset="-120"/>
              </a:rPr>
              <a:t>        da-&gt;used = ____;</a:t>
            </a:r>
            <a:endParaRPr lang="en-US" sz="1300" dirty="0"/>
          </a:p>
          <a:p>
            <a:pPr indent="0" marL="0">
              <a:lnSpc>
                <a:spcPts val="1716"/>
              </a:lnSpc>
              <a:buNone/>
            </a:pPr>
            <a:r>
              <a:rPr lang="en-US" sz="1300" dirty="0">
                <a:solidFill>
                  <a:srgbClr val="D9901F"/>
                </a:solidFill>
                <a:latin typeface="Courier New" pitchFamily="34" charset="0"/>
                <a:ea typeface="Courier New" pitchFamily="34" charset="-122"/>
                <a:cs typeface="Courier New" pitchFamily="34" charset="-120"/>
              </a:rPr>
              <a:t>        da-&gt;size = ____;</a:t>
            </a:r>
            <a:endParaRPr lang="en-US" sz="1300" dirty="0"/>
          </a:p>
          <a:p>
            <a:pPr indent="0" marL="0">
              <a:lnSpc>
                <a:spcPts val="1716"/>
              </a:lnSpc>
              <a:buNone/>
            </a:pPr>
            <a:r>
              <a:rPr lang="en-US" sz="1300" dirty="0">
                <a:solidFill>
                  <a:srgbClr val="E3EAF1"/>
                </a:solidFill>
                <a:latin typeface="Courier New" pitchFamily="34" charset="0"/>
                <a:ea typeface="Courier New" pitchFamily="34" charset="-122"/>
                <a:cs typeface="Courier New" pitchFamily="34" charset="-120"/>
              </a:rPr>
              <a:t>}</a:t>
            </a:r>
            <a:endParaRPr lang="en-US" sz="1300" dirty="0"/>
          </a:p>
        </p:txBody>
      </p:sp>
      <p:sp>
        <p:nvSpPr>
          <p:cNvPr id="8" name="Text 6"/>
          <p:cNvSpPr txBox="1"/>
          <p:nvPr/>
        </p:nvSpPr>
        <p:spPr>
          <a:xfrm>
            <a:off x="7178040" y="1298448"/>
            <a:ext cx="4370832" cy="256032"/>
          </a:xfrm>
          <a:prstGeom prst="rect">
            <a:avLst/>
          </a:prstGeom>
          <a:noFill/>
          <a:ln/>
        </p:spPr>
        <p:txBody>
          <a:bodyPr wrap="square" lIns="0" tIns="0" rIns="0" bIns="0" rtlCol="0" anchor="t"/>
          <a:lstStyle/>
          <a:p>
            <a:pPr indent="0" marL="0">
              <a:buNone/>
            </a:pPr>
            <a:r>
              <a:rPr lang="en-US" sz="1300" b="1" dirty="0">
                <a:solidFill>
                  <a:srgbClr val="D9901F"/>
                </a:solidFill>
                <a:latin typeface="Calibri" pitchFamily="34" charset="0"/>
                <a:ea typeface="Calibri" pitchFamily="34" charset="-122"/>
                <a:cs typeface="Calibri" pitchFamily="34" charset="-120"/>
              </a:rPr>
              <a:t>malloc takes bytes</a:t>
            </a:r>
            <a:endParaRPr lang="en-US" sz="1300" dirty="0"/>
          </a:p>
        </p:txBody>
      </p:sp>
      <p:sp>
        <p:nvSpPr>
          <p:cNvPr id="9" name="Text 7"/>
          <p:cNvSpPr txBox="1"/>
          <p:nvPr/>
        </p:nvSpPr>
        <p:spPr>
          <a:xfrm>
            <a:off x="7178040" y="1572768"/>
            <a:ext cx="4370832" cy="1005840"/>
          </a:xfrm>
          <a:prstGeom prst="rect">
            <a:avLst/>
          </a:prstGeom>
          <a:noFill/>
          <a:ln/>
        </p:spPr>
        <p:txBody>
          <a:bodyPr wrap="square" lIns="0" tIns="0" rIns="0" bIns="0" rtlCol="0" anchor="t"/>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Not a number of elements. Multiply by sizeof(int) — or better, by sizeof(*da-&gt;array), which stays correct if you ever change the element type.</a:t>
            </a:r>
            <a:endParaRPr lang="en-US" sz="1200" dirty="0"/>
          </a:p>
        </p:txBody>
      </p:sp>
      <p:sp>
        <p:nvSpPr>
          <p:cNvPr id="10" name="Text 8"/>
          <p:cNvSpPr txBox="1"/>
          <p:nvPr/>
        </p:nvSpPr>
        <p:spPr>
          <a:xfrm>
            <a:off x="7178040" y="2761488"/>
            <a:ext cx="4370832" cy="256032"/>
          </a:xfrm>
          <a:prstGeom prst="rect">
            <a:avLst/>
          </a:prstGeom>
          <a:noFill/>
          <a:ln/>
        </p:spPr>
        <p:txBody>
          <a:bodyPr wrap="square" lIns="0" tIns="0" rIns="0" bIns="0" rtlCol="0" anchor="t"/>
          <a:lstStyle/>
          <a:p>
            <a:pPr indent="0" marL="0">
              <a:buNone/>
            </a:pPr>
            <a:r>
              <a:rPr lang="en-US" sz="1300" b="1" dirty="0">
                <a:solidFill>
                  <a:srgbClr val="D9901F"/>
                </a:solidFill>
                <a:latin typeface="Calibri" pitchFamily="34" charset="0"/>
                <a:ea typeface="Calibri" pitchFamily="34" charset="-122"/>
                <a:cs typeface="Calibri" pitchFamily="34" charset="-120"/>
              </a:rPr>
              <a:t>used starts at zero</a:t>
            </a:r>
            <a:endParaRPr lang="en-US" sz="1300" dirty="0"/>
          </a:p>
        </p:txBody>
      </p:sp>
      <p:sp>
        <p:nvSpPr>
          <p:cNvPr id="11" name="Text 9"/>
          <p:cNvSpPr txBox="1"/>
          <p:nvPr/>
        </p:nvSpPr>
        <p:spPr>
          <a:xfrm>
            <a:off x="7178040" y="3035808"/>
            <a:ext cx="4370832" cy="1005840"/>
          </a:xfrm>
          <a:prstGeom prst="rect">
            <a:avLst/>
          </a:prstGeom>
          <a:noFill/>
          <a:ln/>
        </p:spPr>
        <p:txBody>
          <a:bodyPr wrap="square" lIns="0" tIns="0" rIns="0" bIns="0" rtlCol="0" anchor="t"/>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The array has room for size elements. It contains none of them. Confusing capacity with content is the single most common error here.</a:t>
            </a:r>
            <a:endParaRPr lang="en-US" sz="1200" dirty="0"/>
          </a:p>
        </p:txBody>
      </p:sp>
      <p:sp>
        <p:nvSpPr>
          <p:cNvPr id="12" name="Text 10"/>
          <p:cNvSpPr txBox="1"/>
          <p:nvPr/>
        </p:nvSpPr>
        <p:spPr>
          <a:xfrm>
            <a:off x="7178040" y="4224528"/>
            <a:ext cx="4370832" cy="256032"/>
          </a:xfrm>
          <a:prstGeom prst="rect">
            <a:avLst/>
          </a:prstGeom>
          <a:noFill/>
          <a:ln/>
        </p:spPr>
        <p:txBody>
          <a:bodyPr wrap="square" lIns="0" tIns="0" rIns="0" bIns="0" rtlCol="0" anchor="t"/>
          <a:lstStyle/>
          <a:p>
            <a:pPr indent="0" marL="0">
              <a:buNone/>
            </a:pPr>
            <a:r>
              <a:rPr lang="en-US" sz="1300" b="1" dirty="0">
                <a:solidFill>
                  <a:srgbClr val="D9901F"/>
                </a:solidFill>
                <a:latin typeface="Calibri" pitchFamily="34" charset="0"/>
                <a:ea typeface="Calibri" pitchFamily="34" charset="-122"/>
                <a:cs typeface="Calibri" pitchFamily="34" charset="-120"/>
              </a:rPr>
              <a:t>What if malloc fails</a:t>
            </a:r>
            <a:endParaRPr lang="en-US" sz="1300" dirty="0"/>
          </a:p>
        </p:txBody>
      </p:sp>
      <p:sp>
        <p:nvSpPr>
          <p:cNvPr id="13" name="Text 11"/>
          <p:cNvSpPr txBox="1"/>
          <p:nvPr/>
        </p:nvSpPr>
        <p:spPr>
          <a:xfrm>
            <a:off x="7178040" y="4498848"/>
            <a:ext cx="4370832" cy="1005840"/>
          </a:xfrm>
          <a:prstGeom prst="rect">
            <a:avLst/>
          </a:prstGeom>
          <a:noFill/>
          <a:ln/>
        </p:spPr>
        <p:txBody>
          <a:bodyPr wrap="square" lIns="0" tIns="0" rIns="0" bIns="0" rtlCol="0" anchor="t"/>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It returns NULL. This function returns void, so it cannot report the failure. Decide now: print to stderr and exit, or change the signature to return int.</a:t>
            </a:r>
            <a:endParaRPr lang="en-US" sz="1200" dirty="0"/>
          </a:p>
        </p:txBody>
      </p:sp>
      <p:sp>
        <p:nvSpPr>
          <p:cNvPr id="14" name="Shape 12"/>
          <p:cNvSpPr/>
          <p:nvPr/>
        </p:nvSpPr>
        <p:spPr>
          <a:xfrm>
            <a:off x="640080" y="3712464"/>
            <a:ext cx="6309360" cy="1351407"/>
          </a:xfrm>
          <a:prstGeom prst="roundRect">
            <a:avLst>
              <a:gd name="adj" fmla="val 4060"/>
            </a:avLst>
          </a:prstGeom>
          <a:solidFill>
            <a:srgbClr val="FBF1DF"/>
          </a:solidFill>
          <a:ln w="12700">
            <a:solidFill>
              <a:srgbClr val="333333"/>
            </a:solidFill>
            <a:prstDash val="solid"/>
          </a:ln>
        </p:spPr>
      </p:sp>
      <p:sp>
        <p:nvSpPr>
          <p:cNvPr id="15" name="Shape 13"/>
          <p:cNvSpPr/>
          <p:nvPr/>
        </p:nvSpPr>
        <p:spPr>
          <a:xfrm>
            <a:off x="877824" y="3918204"/>
            <a:ext cx="118872" cy="118872"/>
          </a:xfrm>
          <a:prstGeom prst="ellipse">
            <a:avLst/>
          </a:prstGeom>
          <a:solidFill>
            <a:srgbClr val="D9901F"/>
          </a:solidFill>
          <a:ln w="12700">
            <a:solidFill>
              <a:srgbClr val="333333"/>
            </a:solidFill>
            <a:prstDash val="solid"/>
          </a:ln>
        </p:spPr>
      </p:sp>
      <p:sp>
        <p:nvSpPr>
          <p:cNvPr id="16" name="Text 14"/>
          <p:cNvSpPr txBox="1"/>
          <p:nvPr/>
        </p:nvSpPr>
        <p:spPr>
          <a:xfrm>
            <a:off x="1097280" y="3867912"/>
            <a:ext cx="5669280" cy="228600"/>
          </a:xfrm>
          <a:prstGeom prst="rect">
            <a:avLst/>
          </a:prstGeom>
          <a:noFill/>
          <a:ln/>
        </p:spPr>
        <p:txBody>
          <a:bodyPr wrap="square" lIns="0" tIns="0" rIns="0" bIns="0" rtlCol="0" anchor="ctr"/>
          <a:lstStyle/>
          <a:p>
            <a:pPr indent="0" marL="0">
              <a:buNone/>
            </a:pPr>
            <a:r>
              <a:rPr lang="en-US" sz="1050" b="1" spc="120" kern="0" dirty="0">
                <a:solidFill>
                  <a:srgbClr val="D9901F"/>
                </a:solidFill>
                <a:latin typeface="Calibri" pitchFamily="34" charset="0"/>
                <a:ea typeface="Calibri" pitchFamily="34" charset="-122"/>
                <a:cs typeface="Calibri" pitchFamily="34" charset="-120"/>
              </a:rPr>
              <a:t>TRY IT</a:t>
            </a:r>
            <a:endParaRPr lang="en-US" sz="1050" dirty="0"/>
          </a:p>
        </p:txBody>
      </p:sp>
      <p:sp>
        <p:nvSpPr>
          <p:cNvPr id="17" name="Text 15"/>
          <p:cNvSpPr txBox="1"/>
          <p:nvPr/>
        </p:nvSpPr>
        <p:spPr>
          <a:xfrm>
            <a:off x="896112" y="4160520"/>
            <a:ext cx="5797296" cy="793623"/>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Write only this function, then in main print da-&gt;used and da-&gt;size straight after calling it. Two numbers, 0 and 7. If you cannot get those two right, nothing later will work.</a:t>
            </a:r>
            <a:endParaRPr lang="en-US" sz="12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145743"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145743"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hint 2 of 4</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Hint 2 — insert_arr has two halves</a:t>
            </a:r>
            <a:endParaRPr lang="en-US" sz="3000" dirty="0"/>
          </a:p>
        </p:txBody>
      </p:sp>
      <p:sp>
        <p:nvSpPr>
          <p:cNvPr id="5" name="Text 3"/>
          <p:cNvSpPr txBox="1"/>
          <p:nvPr/>
        </p:nvSpPr>
        <p:spPr>
          <a:xfrm>
            <a:off x="640080" y="1298448"/>
            <a:ext cx="630936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FILL IN THE BLANKS</a:t>
            </a:r>
            <a:endParaRPr lang="en-US" sz="950" dirty="0"/>
          </a:p>
        </p:txBody>
      </p:sp>
      <p:sp>
        <p:nvSpPr>
          <p:cNvPr id="6" name="Shape 4"/>
          <p:cNvSpPr/>
          <p:nvPr/>
        </p:nvSpPr>
        <p:spPr>
          <a:xfrm>
            <a:off x="640080" y="1545336"/>
            <a:ext cx="6309360" cy="2490216"/>
          </a:xfrm>
          <a:prstGeom prst="roundRect">
            <a:avLst>
              <a:gd name="adj" fmla="val 1836"/>
            </a:avLst>
          </a:prstGeom>
          <a:solidFill>
            <a:srgbClr val="16202B"/>
          </a:solidFill>
          <a:ln w="12700">
            <a:solidFill>
              <a:srgbClr val="333333"/>
            </a:solidFill>
            <a:prstDash val="solid"/>
          </a:ln>
        </p:spPr>
      </p:sp>
      <p:sp>
        <p:nvSpPr>
          <p:cNvPr id="7" name="Text 5"/>
          <p:cNvSpPr txBox="1"/>
          <p:nvPr/>
        </p:nvSpPr>
        <p:spPr>
          <a:xfrm>
            <a:off x="859536" y="1682496"/>
            <a:ext cx="5870448" cy="2215896"/>
          </a:xfrm>
          <a:prstGeom prst="rect">
            <a:avLst/>
          </a:prstGeom>
          <a:noFill/>
          <a:ln/>
        </p:spPr>
        <p:txBody>
          <a:bodyPr wrap="square" lIns="0" tIns="0" rIns="0" bIns="0" rtlCol="0" anchor="t"/>
          <a:lstStyle/>
          <a:p>
            <a:pPr indent="0" marL="0">
              <a:lnSpc>
                <a:spcPts val="1716"/>
              </a:lnSpc>
              <a:buNone/>
            </a:pPr>
            <a:r>
              <a:rPr lang="en-US" sz="1300" dirty="0">
                <a:solidFill>
                  <a:srgbClr val="E3EAF1"/>
                </a:solidFill>
                <a:latin typeface="Courier New" pitchFamily="34" charset="0"/>
                <a:ea typeface="Courier New" pitchFamily="34" charset="-122"/>
                <a:cs typeface="Courier New" pitchFamily="34" charset="-120"/>
              </a:rPr>
              <a:t>void insert_arr(DynArray* da, int element) {</a:t>
            </a:r>
            <a:endParaRPr lang="en-US" sz="1300" dirty="0"/>
          </a:p>
          <a:p>
            <a:pPr indent="0" marL="0">
              <a:lnSpc>
                <a:spcPts val="1716"/>
              </a:lnSpc>
              <a:buNone/>
            </a:pPr>
            <a:r>
              <a:rPr lang="en-US" sz="1300" dirty="0">
                <a:solidFill>
                  <a:srgbClr val="E3EAF1"/>
                </a:solidFill>
                <a:latin typeface="Courier New" pitchFamily="34" charset="0"/>
                <a:ea typeface="Courier New" pitchFamily="34" charset="-122"/>
                <a:cs typeface="Courier New" pitchFamily="34" charset="-120"/>
              </a:rPr>
              <a:t> </a:t>
            </a:r>
            <a:endParaRPr lang="en-US" sz="1300" dirty="0"/>
          </a:p>
          <a:p>
            <a:pPr indent="0" marL="0">
              <a:lnSpc>
                <a:spcPts val="1716"/>
              </a:lnSpc>
              <a:buNone/>
            </a:pPr>
            <a:r>
              <a:rPr lang="en-US" sz="1300" dirty="0">
                <a:solidFill>
                  <a:srgbClr val="E3EAF1"/>
                </a:solidFill>
                <a:latin typeface="Courier New" pitchFamily="34" charset="0"/>
                <a:ea typeface="Courier New" pitchFamily="34" charset="-122"/>
                <a:cs typeface="Courier New" pitchFamily="34" charset="-120"/>
              </a:rPr>
              <a:t>        if (da-&gt;used == da-&gt;size) {    </a:t>
            </a:r>
            <a:pPr indent="0" marL="0">
              <a:lnSpc>
                <a:spcPts val="1716"/>
              </a:lnSpc>
              <a:buNone/>
            </a:pPr>
            <a:r>
              <a:rPr lang="en-US" sz="1300" dirty="0">
                <a:solidFill>
                  <a:srgbClr val="8090A0"/>
                </a:solidFill>
                <a:latin typeface="Courier New" pitchFamily="34" charset="0"/>
                <a:ea typeface="Courier New" pitchFamily="34" charset="-122"/>
                <a:cs typeface="Courier New" pitchFamily="34" charset="-120"/>
              </a:rPr>
              <a:t>// half one: grow</a:t>
            </a:r>
            <a:endParaRPr lang="en-US" sz="1300" dirty="0"/>
          </a:p>
          <a:p>
            <a:pPr indent="0" marL="0">
              <a:lnSpc>
                <a:spcPts val="1716"/>
              </a:lnSpc>
              <a:buNone/>
            </a:pPr>
            <a:r>
              <a:rPr lang="en-US" sz="1300" dirty="0">
                <a:solidFill>
                  <a:srgbClr val="D9901F"/>
                </a:solidFill>
                <a:latin typeface="Courier New" pitchFamily="34" charset="0"/>
                <a:ea typeface="Courier New" pitchFamily="34" charset="-122"/>
                <a:cs typeface="Courier New" pitchFamily="34" charset="-120"/>
              </a:rPr>
              <a:t>                da-&gt;size  = ____;</a:t>
            </a:r>
            <a:endParaRPr lang="en-US" sz="1300" dirty="0"/>
          </a:p>
          <a:p>
            <a:pPr indent="0" marL="0">
              <a:lnSpc>
                <a:spcPts val="1716"/>
              </a:lnSpc>
              <a:buNone/>
            </a:pPr>
            <a:r>
              <a:rPr lang="en-US" sz="1300" dirty="0">
                <a:solidFill>
                  <a:srgbClr val="D9901F"/>
                </a:solidFill>
                <a:latin typeface="Courier New" pitchFamily="34" charset="0"/>
                <a:ea typeface="Courier New" pitchFamily="34" charset="-122"/>
                <a:cs typeface="Courier New" pitchFamily="34" charset="-120"/>
              </a:rPr>
              <a:t>                da-&gt;array = realloc(da-&gt;array, ____);</a:t>
            </a:r>
            <a:endParaRPr lang="en-US" sz="1300" dirty="0"/>
          </a:p>
          <a:p>
            <a:pPr indent="0" marL="0">
              <a:lnSpc>
                <a:spcPts val="1716"/>
              </a:lnSpc>
              <a:buNone/>
            </a:pPr>
            <a:r>
              <a:rPr lang="en-US" sz="1300" dirty="0">
                <a:solidFill>
                  <a:srgbClr val="E3EAF1"/>
                </a:solidFill>
                <a:latin typeface="Courier New" pitchFamily="34" charset="0"/>
                <a:ea typeface="Courier New" pitchFamily="34" charset="-122"/>
                <a:cs typeface="Courier New" pitchFamily="34" charset="-120"/>
              </a:rPr>
              <a:t>        }</a:t>
            </a:r>
            <a:endParaRPr lang="en-US" sz="1300" dirty="0"/>
          </a:p>
          <a:p>
            <a:pPr indent="0" marL="0">
              <a:lnSpc>
                <a:spcPts val="1716"/>
              </a:lnSpc>
              <a:buNone/>
            </a:pPr>
            <a:r>
              <a:rPr lang="en-US" sz="1300" dirty="0">
                <a:solidFill>
                  <a:srgbClr val="E3EAF1"/>
                </a:solidFill>
                <a:latin typeface="Courier New" pitchFamily="34" charset="0"/>
                <a:ea typeface="Courier New" pitchFamily="34" charset="-122"/>
                <a:cs typeface="Courier New" pitchFamily="34" charset="-120"/>
              </a:rPr>
              <a:t> </a:t>
            </a:r>
            <a:endParaRPr lang="en-US" sz="1300" dirty="0"/>
          </a:p>
          <a:p>
            <a:pPr indent="0" marL="0">
              <a:lnSpc>
                <a:spcPts val="1716"/>
              </a:lnSpc>
              <a:buNone/>
            </a:pPr>
            <a:r>
              <a:rPr lang="en-US" sz="1300" dirty="0">
                <a:solidFill>
                  <a:srgbClr val="D9901F"/>
                </a:solidFill>
                <a:latin typeface="Courier New" pitchFamily="34" charset="0"/>
                <a:ea typeface="Courier New" pitchFamily="34" charset="-122"/>
                <a:cs typeface="Courier New" pitchFamily="34" charset="-120"/>
              </a:rPr>
              <a:t>        da-&gt;array[____] = element;     </a:t>
            </a:r>
            <a:pPr indent="0" marL="0">
              <a:lnSpc>
                <a:spcPts val="1716"/>
              </a:lnSpc>
              <a:buNone/>
            </a:pPr>
            <a:r>
              <a:rPr lang="en-US" sz="1300" dirty="0">
                <a:solidFill>
                  <a:srgbClr val="D9901F"/>
                </a:solidFill>
                <a:latin typeface="Courier New" pitchFamily="34" charset="0"/>
                <a:ea typeface="Courier New" pitchFamily="34" charset="-122"/>
                <a:cs typeface="Courier New" pitchFamily="34" charset="-120"/>
              </a:rPr>
              <a:t>// half two: store</a:t>
            </a:r>
            <a:endParaRPr lang="en-US" sz="1300" dirty="0"/>
          </a:p>
          <a:p>
            <a:pPr indent="0" marL="0">
              <a:lnSpc>
                <a:spcPts val="1716"/>
              </a:lnSpc>
              <a:buNone/>
            </a:pPr>
            <a:r>
              <a:rPr lang="en-US" sz="1300" dirty="0">
                <a:solidFill>
                  <a:srgbClr val="D9901F"/>
                </a:solidFill>
                <a:latin typeface="Courier New" pitchFamily="34" charset="0"/>
                <a:ea typeface="Courier New" pitchFamily="34" charset="-122"/>
                <a:cs typeface="Courier New" pitchFamily="34" charset="-120"/>
              </a:rPr>
              <a:t>        da-&gt;used____;</a:t>
            </a:r>
            <a:endParaRPr lang="en-US" sz="1300" dirty="0"/>
          </a:p>
          <a:p>
            <a:pPr indent="0" marL="0">
              <a:lnSpc>
                <a:spcPts val="1716"/>
              </a:lnSpc>
              <a:buNone/>
            </a:pPr>
            <a:r>
              <a:rPr lang="en-US" sz="1300" dirty="0">
                <a:solidFill>
                  <a:srgbClr val="E3EAF1"/>
                </a:solidFill>
                <a:latin typeface="Courier New" pitchFamily="34" charset="0"/>
                <a:ea typeface="Courier New" pitchFamily="34" charset="-122"/>
                <a:cs typeface="Courier New" pitchFamily="34" charset="-120"/>
              </a:rPr>
              <a:t>}</a:t>
            </a:r>
            <a:endParaRPr lang="en-US" sz="1300" dirty="0"/>
          </a:p>
        </p:txBody>
      </p:sp>
      <p:sp>
        <p:nvSpPr>
          <p:cNvPr id="8" name="Text 6"/>
          <p:cNvSpPr txBox="1"/>
          <p:nvPr/>
        </p:nvSpPr>
        <p:spPr>
          <a:xfrm>
            <a:off x="7178040" y="1298448"/>
            <a:ext cx="4370832" cy="237744"/>
          </a:xfrm>
          <a:prstGeom prst="rect">
            <a:avLst/>
          </a:prstGeom>
          <a:noFill/>
          <a:ln/>
        </p:spPr>
        <p:txBody>
          <a:bodyPr wrap="square" lIns="0" tIns="0" rIns="0" bIns="0" rtlCol="0" anchor="t"/>
          <a:lstStyle/>
          <a:p>
            <a:pPr indent="0" marL="0">
              <a:buNone/>
            </a:pPr>
            <a:r>
              <a:rPr lang="en-US" sz="1250" b="1" dirty="0">
                <a:solidFill>
                  <a:srgbClr val="D9901F"/>
                </a:solidFill>
                <a:latin typeface="Calibri" pitchFamily="34" charset="0"/>
                <a:ea typeface="Calibri" pitchFamily="34" charset="-122"/>
                <a:cs typeface="Calibri" pitchFamily="34" charset="-120"/>
              </a:rPr>
              <a:t>Grow first, store second</a:t>
            </a:r>
            <a:endParaRPr lang="en-US" sz="1250" dirty="0"/>
          </a:p>
        </p:txBody>
      </p:sp>
      <p:sp>
        <p:nvSpPr>
          <p:cNvPr id="9" name="Text 7"/>
          <p:cNvSpPr txBox="1"/>
          <p:nvPr/>
        </p:nvSpPr>
        <p:spPr>
          <a:xfrm>
            <a:off x="7178040" y="1554480"/>
            <a:ext cx="4370832" cy="868680"/>
          </a:xfrm>
          <a:prstGeom prst="rect">
            <a:avLst/>
          </a:prstGeom>
          <a:noFill/>
          <a:ln/>
        </p:spPr>
        <p:txBody>
          <a:bodyPr wrap="square" lIns="0" tIns="0" rIns="0" bIns="0" rtlCol="0" anchor="t"/>
          <a:lstStyle/>
          <a:p>
            <a:pPr indent="0" marL="0">
              <a:lnSpc>
                <a:spcPts val="1450"/>
              </a:lnSpc>
              <a:buNone/>
            </a:pPr>
            <a:r>
              <a:rPr lang="en-US" sz="1150" dirty="0">
                <a:solidFill>
                  <a:srgbClr val="1A2530"/>
                </a:solidFill>
                <a:latin typeface="Calibri" pitchFamily="34" charset="0"/>
                <a:ea typeface="Calibri" pitchFamily="34" charset="-122"/>
                <a:cs typeface="Calibri" pitchFamily="34" charset="-120"/>
              </a:rPr>
              <a:t>Never the other way round. The test is == because used can only ever reach size, one insert at a time.</a:t>
            </a:r>
            <a:endParaRPr lang="en-US" sz="1150" dirty="0"/>
          </a:p>
        </p:txBody>
      </p:sp>
      <p:sp>
        <p:nvSpPr>
          <p:cNvPr id="10" name="Text 8"/>
          <p:cNvSpPr txBox="1"/>
          <p:nvPr/>
        </p:nvSpPr>
        <p:spPr>
          <a:xfrm>
            <a:off x="7178040" y="2450592"/>
            <a:ext cx="4370832" cy="237744"/>
          </a:xfrm>
          <a:prstGeom prst="rect">
            <a:avLst/>
          </a:prstGeom>
          <a:noFill/>
          <a:ln/>
        </p:spPr>
        <p:txBody>
          <a:bodyPr wrap="square" lIns="0" tIns="0" rIns="0" bIns="0" rtlCol="0" anchor="t"/>
          <a:lstStyle/>
          <a:p>
            <a:pPr indent="0" marL="0">
              <a:buNone/>
            </a:pPr>
            <a:r>
              <a:rPr lang="en-US" sz="1250" b="1" dirty="0">
                <a:solidFill>
                  <a:srgbClr val="D9901F"/>
                </a:solidFill>
                <a:latin typeface="Calibri" pitchFamily="34" charset="0"/>
                <a:ea typeface="Calibri" pitchFamily="34" charset="-122"/>
                <a:cs typeface="Calibri" pitchFamily="34" charset="-120"/>
              </a:rPr>
              <a:t>realloc wants bytes too</a:t>
            </a:r>
            <a:endParaRPr lang="en-US" sz="1250" dirty="0"/>
          </a:p>
        </p:txBody>
      </p:sp>
      <p:sp>
        <p:nvSpPr>
          <p:cNvPr id="11" name="Text 9"/>
          <p:cNvSpPr txBox="1"/>
          <p:nvPr/>
        </p:nvSpPr>
        <p:spPr>
          <a:xfrm>
            <a:off x="7178040" y="2706624"/>
            <a:ext cx="4370832" cy="868680"/>
          </a:xfrm>
          <a:prstGeom prst="rect">
            <a:avLst/>
          </a:prstGeom>
          <a:noFill/>
          <a:ln/>
        </p:spPr>
        <p:txBody>
          <a:bodyPr wrap="square" lIns="0" tIns="0" rIns="0" bIns="0" rtlCol="0" anchor="t"/>
          <a:lstStyle/>
          <a:p>
            <a:pPr indent="0" marL="0">
              <a:lnSpc>
                <a:spcPts val="1450"/>
              </a:lnSpc>
              <a:buNone/>
            </a:pPr>
            <a:r>
              <a:rPr lang="en-US" sz="1150" dirty="0">
                <a:solidFill>
                  <a:srgbClr val="1A2530"/>
                </a:solidFill>
                <a:latin typeface="Calibri" pitchFamily="34" charset="0"/>
                <a:ea typeface="Calibri" pitchFamily="34" charset="-122"/>
                <a:cs typeface="Calibri" pitchFamily="34" charset="-120"/>
              </a:rPr>
              <a:t>The second argument is the new size in bytes, so it is the new capacity times sizeof(int) — not the capacity on its own.</a:t>
            </a:r>
            <a:endParaRPr lang="en-US" sz="1150" dirty="0"/>
          </a:p>
        </p:txBody>
      </p:sp>
      <p:sp>
        <p:nvSpPr>
          <p:cNvPr id="12" name="Text 10"/>
          <p:cNvSpPr txBox="1"/>
          <p:nvPr/>
        </p:nvSpPr>
        <p:spPr>
          <a:xfrm>
            <a:off x="7178040" y="3602736"/>
            <a:ext cx="4370832" cy="237744"/>
          </a:xfrm>
          <a:prstGeom prst="rect">
            <a:avLst/>
          </a:prstGeom>
          <a:noFill/>
          <a:ln/>
        </p:spPr>
        <p:txBody>
          <a:bodyPr wrap="square" lIns="0" tIns="0" rIns="0" bIns="0" rtlCol="0" anchor="t"/>
          <a:lstStyle/>
          <a:p>
            <a:pPr indent="0" marL="0">
              <a:buNone/>
            </a:pPr>
            <a:r>
              <a:rPr lang="en-US" sz="1250" b="1" dirty="0">
                <a:solidFill>
                  <a:srgbClr val="D9901F"/>
                </a:solidFill>
                <a:latin typeface="Calibri" pitchFamily="34" charset="0"/>
                <a:ea typeface="Calibri" pitchFamily="34" charset="-122"/>
                <a:cs typeface="Calibri" pitchFamily="34" charset="-120"/>
              </a:rPr>
              <a:t>Assign the result back</a:t>
            </a:r>
            <a:endParaRPr lang="en-US" sz="1250" dirty="0"/>
          </a:p>
        </p:txBody>
      </p:sp>
      <p:sp>
        <p:nvSpPr>
          <p:cNvPr id="13" name="Text 11"/>
          <p:cNvSpPr txBox="1"/>
          <p:nvPr/>
        </p:nvSpPr>
        <p:spPr>
          <a:xfrm>
            <a:off x="7178040" y="3858768"/>
            <a:ext cx="4370832" cy="868680"/>
          </a:xfrm>
          <a:prstGeom prst="rect">
            <a:avLst/>
          </a:prstGeom>
          <a:noFill/>
          <a:ln/>
        </p:spPr>
        <p:txBody>
          <a:bodyPr wrap="square" lIns="0" tIns="0" rIns="0" bIns="0" rtlCol="0" anchor="t"/>
          <a:lstStyle/>
          <a:p>
            <a:pPr indent="0" marL="0">
              <a:lnSpc>
                <a:spcPts val="1450"/>
              </a:lnSpc>
              <a:buNone/>
            </a:pPr>
            <a:r>
              <a:rPr lang="en-US" sz="1150" dirty="0">
                <a:solidFill>
                  <a:srgbClr val="1A2530"/>
                </a:solidFill>
                <a:latin typeface="Calibri" pitchFamily="34" charset="0"/>
                <a:ea typeface="Calibri" pitchFamily="34" charset="-122"/>
                <a:cs typeface="Calibri" pitchFamily="34" charset="-120"/>
              </a:rPr>
              <a:t>realloc may move the block somewhere else entirely and free the old address. Ignore the return value and your pointer is dangling.</a:t>
            </a:r>
            <a:endParaRPr lang="en-US" sz="1150" dirty="0"/>
          </a:p>
        </p:txBody>
      </p:sp>
      <p:sp>
        <p:nvSpPr>
          <p:cNvPr id="14" name="Text 12"/>
          <p:cNvSpPr txBox="1"/>
          <p:nvPr/>
        </p:nvSpPr>
        <p:spPr>
          <a:xfrm>
            <a:off x="7178040" y="4754880"/>
            <a:ext cx="4370832" cy="237744"/>
          </a:xfrm>
          <a:prstGeom prst="rect">
            <a:avLst/>
          </a:prstGeom>
          <a:noFill/>
          <a:ln/>
        </p:spPr>
        <p:txBody>
          <a:bodyPr wrap="square" lIns="0" tIns="0" rIns="0" bIns="0" rtlCol="0" anchor="t"/>
          <a:lstStyle/>
          <a:p>
            <a:pPr indent="0" marL="0">
              <a:buNone/>
            </a:pPr>
            <a:r>
              <a:rPr lang="en-US" sz="1250" b="1" dirty="0">
                <a:solidFill>
                  <a:srgbClr val="D9901F"/>
                </a:solidFill>
                <a:latin typeface="Calibri" pitchFamily="34" charset="0"/>
                <a:ea typeface="Calibri" pitchFamily="34" charset="-122"/>
                <a:cs typeface="Calibri" pitchFamily="34" charset="-120"/>
              </a:rPr>
              <a:t>The last two lines</a:t>
            </a:r>
            <a:endParaRPr lang="en-US" sz="1250" dirty="0"/>
          </a:p>
        </p:txBody>
      </p:sp>
      <p:sp>
        <p:nvSpPr>
          <p:cNvPr id="15" name="Text 13"/>
          <p:cNvSpPr txBox="1"/>
          <p:nvPr/>
        </p:nvSpPr>
        <p:spPr>
          <a:xfrm>
            <a:off x="7178040" y="5010912"/>
            <a:ext cx="4370832" cy="868680"/>
          </a:xfrm>
          <a:prstGeom prst="rect">
            <a:avLst/>
          </a:prstGeom>
          <a:noFill/>
          <a:ln/>
        </p:spPr>
        <p:txBody>
          <a:bodyPr wrap="square" lIns="0" tIns="0" rIns="0" bIns="0" rtlCol="0" anchor="t"/>
          <a:lstStyle/>
          <a:p>
            <a:pPr indent="0" marL="0">
              <a:lnSpc>
                <a:spcPts val="1450"/>
              </a:lnSpc>
              <a:buNone/>
            </a:pPr>
            <a:r>
              <a:rPr lang="en-US" sz="1150" dirty="0">
                <a:solidFill>
                  <a:srgbClr val="1A2530"/>
                </a:solidFill>
                <a:latin typeface="Calibri" pitchFamily="34" charset="0"/>
                <a:ea typeface="Calibri" pitchFamily="34" charset="-122"/>
                <a:cs typeface="Calibri" pitchFamily="34" charset="-120"/>
              </a:rPr>
              <a:t>They can be written as one. Once you see how, you will also see why used must be incremented after it is used as the index.</a:t>
            </a:r>
            <a:endParaRPr lang="en-US" sz="1150" dirty="0"/>
          </a:p>
        </p:txBody>
      </p:sp>
      <p:sp>
        <p:nvSpPr>
          <p:cNvPr id="16" name="Shape 14"/>
          <p:cNvSpPr/>
          <p:nvPr/>
        </p:nvSpPr>
        <p:spPr>
          <a:xfrm>
            <a:off x="640080" y="4160520"/>
            <a:ext cx="6309360" cy="1351407"/>
          </a:xfrm>
          <a:prstGeom prst="roundRect">
            <a:avLst>
              <a:gd name="adj" fmla="val 4060"/>
            </a:avLst>
          </a:prstGeom>
          <a:solidFill>
            <a:srgbClr val="FAEBE8"/>
          </a:solidFill>
          <a:ln w="12700">
            <a:solidFill>
              <a:srgbClr val="333333"/>
            </a:solidFill>
            <a:prstDash val="solid"/>
          </a:ln>
        </p:spPr>
      </p:sp>
      <p:sp>
        <p:nvSpPr>
          <p:cNvPr id="17" name="Shape 15"/>
          <p:cNvSpPr/>
          <p:nvPr/>
        </p:nvSpPr>
        <p:spPr>
          <a:xfrm>
            <a:off x="877824" y="4366260"/>
            <a:ext cx="118872" cy="118872"/>
          </a:xfrm>
          <a:prstGeom prst="ellipse">
            <a:avLst/>
          </a:prstGeom>
          <a:solidFill>
            <a:srgbClr val="B8412F"/>
          </a:solidFill>
          <a:ln w="12700">
            <a:solidFill>
              <a:srgbClr val="333333"/>
            </a:solidFill>
            <a:prstDash val="solid"/>
          </a:ln>
        </p:spPr>
      </p:sp>
      <p:sp>
        <p:nvSpPr>
          <p:cNvPr id="18" name="Text 16"/>
          <p:cNvSpPr txBox="1"/>
          <p:nvPr/>
        </p:nvSpPr>
        <p:spPr>
          <a:xfrm>
            <a:off x="1097280" y="4315968"/>
            <a:ext cx="5669280" cy="228600"/>
          </a:xfrm>
          <a:prstGeom prst="rect">
            <a:avLst/>
          </a:prstGeom>
          <a:noFill/>
          <a:ln/>
        </p:spPr>
        <p:txBody>
          <a:bodyPr wrap="square" lIns="0" tIns="0" rIns="0" bIns="0" rtlCol="0" anchor="ctr"/>
          <a:lstStyle/>
          <a:p>
            <a:pPr indent="0" marL="0">
              <a:buNone/>
            </a:pPr>
            <a:r>
              <a:rPr lang="en-US" sz="1050" b="1" spc="120" kern="0" dirty="0">
                <a:solidFill>
                  <a:srgbClr val="B8412F"/>
                </a:solidFill>
                <a:latin typeface="Calibri" pitchFamily="34" charset="0"/>
                <a:ea typeface="Calibri" pitchFamily="34" charset="-122"/>
                <a:cs typeface="Calibri" pitchFamily="34" charset="-120"/>
              </a:rPr>
              <a:t>WATCH OUT</a:t>
            </a:r>
            <a:endParaRPr lang="en-US" sz="1050" dirty="0"/>
          </a:p>
        </p:txBody>
      </p:sp>
      <p:sp>
        <p:nvSpPr>
          <p:cNvPr id="19" name="Text 17"/>
          <p:cNvSpPr txBox="1"/>
          <p:nvPr/>
        </p:nvSpPr>
        <p:spPr>
          <a:xfrm>
            <a:off x="896112" y="4608576"/>
            <a:ext cx="5797296" cy="793623"/>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da-&gt;array = realloc(da-&gt;array, n) is the convenient form, and it leaks the whole array if realloc returns NULL — you have overwritten your only pointer to it. Assign to a temporary, test it, then commit.</a:t>
            </a:r>
            <a:endParaRPr lang="en-US" sz="12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145743"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145743"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hint 3 of 4</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Hint 3 — how much bigger?</a:t>
            </a:r>
            <a:endParaRPr lang="en-US" sz="3000" dirty="0"/>
          </a:p>
        </p:txBody>
      </p:sp>
      <p:sp>
        <p:nvSpPr>
          <p:cNvPr id="5" name="Text 3"/>
          <p:cNvSpPr txBox="1"/>
          <p:nvPr/>
        </p:nvSpPr>
        <p:spPr>
          <a:xfrm>
            <a:off x="640080" y="1188720"/>
            <a:ext cx="10908792" cy="411480"/>
          </a:xfrm>
          <a:prstGeom prst="rect">
            <a:avLst/>
          </a:prstGeom>
          <a:noFill/>
          <a:ln/>
        </p:spPr>
        <p:txBody>
          <a:bodyPr wrap="square" lIns="0" tIns="0" rIns="0" bIns="0" rtlCol="0" anchor="t"/>
          <a:lstStyle/>
          <a:p>
            <a:pPr indent="0" marL="0">
              <a:lnSpc>
                <a:spcPts val="1823"/>
              </a:lnSpc>
              <a:buNone/>
            </a:pPr>
            <a:r>
              <a:rPr lang="en-US" sz="1350" dirty="0">
                <a:solidFill>
                  <a:srgbClr val="62707E"/>
                </a:solidFill>
                <a:latin typeface="Calibri" pitchFamily="34" charset="0"/>
                <a:ea typeface="Calibri" pitchFamily="34" charset="-122"/>
                <a:cs typeface="Calibri" pitchFamily="34" charset="-120"/>
              </a:rPr>
              <a:t>The blank on the da-&gt;size line is the only real design decision in this exercise. Starting from a capacity of 7 and inserting the thousand elements main() asks for:</a:t>
            </a:r>
            <a:endParaRPr lang="en-US" sz="1350" dirty="0"/>
          </a:p>
        </p:txBody>
      </p:sp>
      <p:sp>
        <p:nvSpPr>
          <p:cNvPr id="6" name="Shape 4"/>
          <p:cNvSpPr/>
          <p:nvPr/>
        </p:nvSpPr>
        <p:spPr>
          <a:xfrm>
            <a:off x="640080" y="1783080"/>
            <a:ext cx="5212080" cy="2148840"/>
          </a:xfrm>
          <a:prstGeom prst="roundRect">
            <a:avLst>
              <a:gd name="adj" fmla="val 2553"/>
            </a:avLst>
          </a:prstGeom>
          <a:solidFill>
            <a:srgbClr val="FAEBE8"/>
          </a:solidFill>
          <a:ln w="12700">
            <a:solidFill>
              <a:srgbClr val="333333"/>
            </a:solidFill>
            <a:prstDash val="solid"/>
          </a:ln>
        </p:spPr>
      </p:sp>
      <p:sp>
        <p:nvSpPr>
          <p:cNvPr id="7" name="Text 5"/>
          <p:cNvSpPr txBox="1"/>
          <p:nvPr/>
        </p:nvSpPr>
        <p:spPr>
          <a:xfrm>
            <a:off x="914400" y="1938528"/>
            <a:ext cx="2194560" cy="914400"/>
          </a:xfrm>
          <a:prstGeom prst="rect">
            <a:avLst/>
          </a:prstGeom>
          <a:noFill/>
          <a:ln/>
        </p:spPr>
        <p:txBody>
          <a:bodyPr wrap="square" lIns="0" tIns="0" rIns="0" bIns="0" rtlCol="0" anchor="ctr"/>
          <a:lstStyle/>
          <a:p>
            <a:pPr indent="0" marL="0">
              <a:buNone/>
            </a:pPr>
            <a:r>
              <a:rPr lang="en-US" sz="5400" b="1" dirty="0">
                <a:solidFill>
                  <a:srgbClr val="B8412F"/>
                </a:solidFill>
                <a:latin typeface="Calibri" pitchFamily="34" charset="0"/>
                <a:ea typeface="Calibri" pitchFamily="34" charset="-122"/>
                <a:cs typeface="Calibri" pitchFamily="34" charset="-120"/>
              </a:rPr>
              <a:t>993</a:t>
            </a:r>
            <a:endParaRPr lang="en-US" sz="5400" dirty="0"/>
          </a:p>
        </p:txBody>
      </p:sp>
      <p:sp>
        <p:nvSpPr>
          <p:cNvPr id="8" name="Text 6"/>
          <p:cNvSpPr txBox="1"/>
          <p:nvPr/>
        </p:nvSpPr>
        <p:spPr>
          <a:xfrm>
            <a:off x="914400" y="2834640"/>
            <a:ext cx="2194560" cy="274320"/>
          </a:xfrm>
          <a:prstGeom prst="rect">
            <a:avLst/>
          </a:prstGeom>
          <a:noFill/>
          <a:ln/>
        </p:spPr>
        <p:txBody>
          <a:bodyPr wrap="square" lIns="0" tIns="0" rIns="0" bIns="0" rtlCol="0" anchor="ctr"/>
          <a:lstStyle/>
          <a:p>
            <a:pPr indent="0" marL="0">
              <a:buNone/>
            </a:pPr>
            <a:r>
              <a:rPr lang="en-US" sz="1300" b="1" dirty="0">
                <a:solidFill>
                  <a:srgbClr val="B8412F"/>
                </a:solidFill>
                <a:latin typeface="Calibri" pitchFamily="34" charset="0"/>
                <a:ea typeface="Calibri" pitchFamily="34" charset="-122"/>
                <a:cs typeface="Calibri" pitchFamily="34" charset="-120"/>
              </a:rPr>
              <a:t>reallocs</a:t>
            </a:r>
            <a:endParaRPr lang="en-US" sz="1300" dirty="0"/>
          </a:p>
        </p:txBody>
      </p:sp>
      <p:sp>
        <p:nvSpPr>
          <p:cNvPr id="9" name="Text 7"/>
          <p:cNvSpPr txBox="1"/>
          <p:nvPr/>
        </p:nvSpPr>
        <p:spPr>
          <a:xfrm>
            <a:off x="3200400" y="2011680"/>
            <a:ext cx="2377440" cy="1737360"/>
          </a:xfrm>
          <a:prstGeom prst="rect">
            <a:avLst/>
          </a:prstGeom>
          <a:noFill/>
          <a:ln/>
        </p:spPr>
        <p:txBody>
          <a:bodyPr wrap="square" lIns="0" tIns="0" rIns="0" bIns="0" rtlCol="0" anchor="t"/>
          <a:lstStyle/>
          <a:p>
            <a:pPr indent="0" marL="0">
              <a:lnSpc>
                <a:spcPts val="1550"/>
              </a:lnSpc>
              <a:buNone/>
            </a:pPr>
            <a:r>
              <a:rPr lang="en-US" sz="1200" dirty="0">
                <a:solidFill>
                  <a:srgbClr val="1A2530"/>
                </a:solidFill>
                <a:latin typeface="Calibri" pitchFamily="34" charset="0"/>
                <a:ea typeface="Calibri" pitchFamily="34" charset="-122"/>
                <a:cs typeface="Calibri" pitchFamily="34" charset="-120"/>
              </a:rPr>
              <a:t>if you grow by one element each time the array is full. Every one of them may copy the entire array to a new address.</a:t>
            </a:r>
            <a:endParaRPr lang="en-US" sz="1200" dirty="0"/>
          </a:p>
        </p:txBody>
      </p:sp>
      <p:sp>
        <p:nvSpPr>
          <p:cNvPr id="10" name="Shape 8"/>
          <p:cNvSpPr/>
          <p:nvPr/>
        </p:nvSpPr>
        <p:spPr>
          <a:xfrm>
            <a:off x="6336792" y="1783080"/>
            <a:ext cx="5212080" cy="2148840"/>
          </a:xfrm>
          <a:prstGeom prst="roundRect">
            <a:avLst>
              <a:gd name="adj" fmla="val 2553"/>
            </a:avLst>
          </a:prstGeom>
          <a:solidFill>
            <a:srgbClr val="E8F3ED"/>
          </a:solidFill>
          <a:ln w="12700">
            <a:solidFill>
              <a:srgbClr val="333333"/>
            </a:solidFill>
            <a:prstDash val="solid"/>
          </a:ln>
        </p:spPr>
      </p:sp>
      <p:sp>
        <p:nvSpPr>
          <p:cNvPr id="11" name="Text 9"/>
          <p:cNvSpPr txBox="1"/>
          <p:nvPr/>
        </p:nvSpPr>
        <p:spPr>
          <a:xfrm>
            <a:off x="6611112" y="1938528"/>
            <a:ext cx="2194560" cy="914400"/>
          </a:xfrm>
          <a:prstGeom prst="rect">
            <a:avLst/>
          </a:prstGeom>
          <a:noFill/>
          <a:ln/>
        </p:spPr>
        <p:txBody>
          <a:bodyPr wrap="square" lIns="0" tIns="0" rIns="0" bIns="0" rtlCol="0" anchor="ctr"/>
          <a:lstStyle/>
          <a:p>
            <a:pPr indent="0" marL="0">
              <a:buNone/>
            </a:pPr>
            <a:r>
              <a:rPr lang="en-US" sz="5400" b="1" dirty="0">
                <a:solidFill>
                  <a:srgbClr val="2F8A63"/>
                </a:solidFill>
                <a:latin typeface="Calibri" pitchFamily="34" charset="0"/>
                <a:ea typeface="Calibri" pitchFamily="34" charset="-122"/>
                <a:cs typeface="Calibri" pitchFamily="34" charset="-120"/>
              </a:rPr>
              <a:t>8</a:t>
            </a:r>
            <a:endParaRPr lang="en-US" sz="5400" dirty="0"/>
          </a:p>
        </p:txBody>
      </p:sp>
      <p:sp>
        <p:nvSpPr>
          <p:cNvPr id="12" name="Text 10"/>
          <p:cNvSpPr txBox="1"/>
          <p:nvPr/>
        </p:nvSpPr>
        <p:spPr>
          <a:xfrm>
            <a:off x="6611112" y="2834640"/>
            <a:ext cx="2194560" cy="274320"/>
          </a:xfrm>
          <a:prstGeom prst="rect">
            <a:avLst/>
          </a:prstGeom>
          <a:noFill/>
          <a:ln/>
        </p:spPr>
        <p:txBody>
          <a:bodyPr wrap="square" lIns="0" tIns="0" rIns="0" bIns="0" rtlCol="0" anchor="ctr"/>
          <a:lstStyle/>
          <a:p>
            <a:pPr indent="0" marL="0">
              <a:buNone/>
            </a:pPr>
            <a:r>
              <a:rPr lang="en-US" sz="1300" b="1" dirty="0">
                <a:solidFill>
                  <a:srgbClr val="2F8A63"/>
                </a:solidFill>
                <a:latin typeface="Calibri" pitchFamily="34" charset="0"/>
                <a:ea typeface="Calibri" pitchFamily="34" charset="-122"/>
                <a:cs typeface="Calibri" pitchFamily="34" charset="-120"/>
              </a:rPr>
              <a:t>reallocs</a:t>
            </a:r>
            <a:endParaRPr lang="en-US" sz="1300" dirty="0"/>
          </a:p>
        </p:txBody>
      </p:sp>
      <p:sp>
        <p:nvSpPr>
          <p:cNvPr id="13" name="Text 11"/>
          <p:cNvSpPr txBox="1"/>
          <p:nvPr/>
        </p:nvSpPr>
        <p:spPr>
          <a:xfrm>
            <a:off x="8897112" y="2011680"/>
            <a:ext cx="2377440" cy="1737360"/>
          </a:xfrm>
          <a:prstGeom prst="rect">
            <a:avLst/>
          </a:prstGeom>
          <a:noFill/>
          <a:ln/>
        </p:spPr>
        <p:txBody>
          <a:bodyPr wrap="square" lIns="0" tIns="0" rIns="0" bIns="0" rtlCol="0" anchor="t"/>
          <a:lstStyle/>
          <a:p>
            <a:pPr indent="0" marL="0">
              <a:lnSpc>
                <a:spcPts val="1550"/>
              </a:lnSpc>
              <a:buNone/>
            </a:pPr>
            <a:r>
              <a:rPr lang="en-US" sz="1200" dirty="0">
                <a:solidFill>
                  <a:srgbClr val="1A2530"/>
                </a:solidFill>
                <a:latin typeface="Calibri" pitchFamily="34" charset="0"/>
                <a:ea typeface="Calibri" pitchFamily="34" charset="-122"/>
                <a:cs typeface="Calibri" pitchFamily="34" charset="-120"/>
              </a:rPr>
              <a:t>if you double the capacity instead: 7, 14, 28, 56, 112, 224, 448, 896. The copying cost, spread over the inserts, becomes negligible.</a:t>
            </a:r>
            <a:endParaRPr lang="en-US" sz="1200" dirty="0"/>
          </a:p>
        </p:txBody>
      </p:sp>
      <p:sp>
        <p:nvSpPr>
          <p:cNvPr id="14" name="Shape 12"/>
          <p:cNvSpPr/>
          <p:nvPr/>
        </p:nvSpPr>
        <p:spPr>
          <a:xfrm>
            <a:off x="640080" y="4160520"/>
            <a:ext cx="5943600" cy="1351407"/>
          </a:xfrm>
          <a:prstGeom prst="roundRect">
            <a:avLst>
              <a:gd name="adj" fmla="val 4060"/>
            </a:avLst>
          </a:prstGeom>
          <a:solidFill>
            <a:srgbClr val="E8F3ED"/>
          </a:solidFill>
          <a:ln w="12700">
            <a:solidFill>
              <a:srgbClr val="333333"/>
            </a:solidFill>
            <a:prstDash val="solid"/>
          </a:ln>
        </p:spPr>
      </p:sp>
      <p:sp>
        <p:nvSpPr>
          <p:cNvPr id="15" name="Shape 13"/>
          <p:cNvSpPr/>
          <p:nvPr/>
        </p:nvSpPr>
        <p:spPr>
          <a:xfrm>
            <a:off x="877824" y="4366260"/>
            <a:ext cx="118872" cy="118872"/>
          </a:xfrm>
          <a:prstGeom prst="ellipse">
            <a:avLst/>
          </a:prstGeom>
          <a:solidFill>
            <a:srgbClr val="2F8A63"/>
          </a:solidFill>
          <a:ln w="12700">
            <a:solidFill>
              <a:srgbClr val="333333"/>
            </a:solidFill>
            <a:prstDash val="solid"/>
          </a:ln>
        </p:spPr>
      </p:sp>
      <p:sp>
        <p:nvSpPr>
          <p:cNvPr id="16" name="Text 14"/>
          <p:cNvSpPr txBox="1"/>
          <p:nvPr/>
        </p:nvSpPr>
        <p:spPr>
          <a:xfrm>
            <a:off x="1097280" y="4315968"/>
            <a:ext cx="5303520" cy="228600"/>
          </a:xfrm>
          <a:prstGeom prst="rect">
            <a:avLst/>
          </a:prstGeom>
          <a:noFill/>
          <a:ln/>
        </p:spPr>
        <p:txBody>
          <a:bodyPr wrap="square" lIns="0" tIns="0" rIns="0" bIns="0" rtlCol="0" anchor="ctr"/>
          <a:lstStyle/>
          <a:p>
            <a:pPr indent="0" marL="0">
              <a:buNone/>
            </a:pPr>
            <a:r>
              <a:rPr lang="en-US" sz="1050" b="1" spc="120" kern="0" dirty="0">
                <a:solidFill>
                  <a:srgbClr val="2F8A63"/>
                </a:solidFill>
                <a:latin typeface="Calibri" pitchFamily="34" charset="0"/>
                <a:ea typeface="Calibri" pitchFamily="34" charset="-122"/>
                <a:cs typeface="Calibri" pitchFamily="34" charset="-120"/>
              </a:rPr>
              <a:t>THE IDEA BEHIND IT</a:t>
            </a:r>
            <a:endParaRPr lang="en-US" sz="1050" dirty="0"/>
          </a:p>
        </p:txBody>
      </p:sp>
      <p:sp>
        <p:nvSpPr>
          <p:cNvPr id="17" name="Text 15"/>
          <p:cNvSpPr txBox="1"/>
          <p:nvPr/>
        </p:nvSpPr>
        <p:spPr>
          <a:xfrm>
            <a:off x="896112" y="4608576"/>
            <a:ext cx="5431536" cy="793623"/>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Each doubling costs a copy proportional to the array, but it also buys you as many free inserts as the array is long. Averaged out, one insert costs a constant amount of work however big the array gets.</a:t>
            </a:r>
            <a:endParaRPr lang="en-US" sz="1250" dirty="0"/>
          </a:p>
        </p:txBody>
      </p:sp>
      <p:sp>
        <p:nvSpPr>
          <p:cNvPr id="18" name="Shape 16"/>
          <p:cNvSpPr/>
          <p:nvPr/>
        </p:nvSpPr>
        <p:spPr>
          <a:xfrm>
            <a:off x="6812280" y="4160520"/>
            <a:ext cx="4736592" cy="1618996"/>
          </a:xfrm>
          <a:prstGeom prst="roundRect">
            <a:avLst>
              <a:gd name="adj" fmla="val 3389"/>
            </a:avLst>
          </a:prstGeom>
          <a:solidFill>
            <a:srgbClr val="FAEBE8"/>
          </a:solidFill>
          <a:ln w="12700">
            <a:solidFill>
              <a:srgbClr val="333333"/>
            </a:solidFill>
            <a:prstDash val="solid"/>
          </a:ln>
        </p:spPr>
      </p:sp>
      <p:sp>
        <p:nvSpPr>
          <p:cNvPr id="19" name="Shape 17"/>
          <p:cNvSpPr/>
          <p:nvPr/>
        </p:nvSpPr>
        <p:spPr>
          <a:xfrm>
            <a:off x="7050024" y="4366260"/>
            <a:ext cx="118872" cy="118872"/>
          </a:xfrm>
          <a:prstGeom prst="ellipse">
            <a:avLst/>
          </a:prstGeom>
          <a:solidFill>
            <a:srgbClr val="B8412F"/>
          </a:solidFill>
          <a:ln w="12700">
            <a:solidFill>
              <a:srgbClr val="333333"/>
            </a:solidFill>
            <a:prstDash val="solid"/>
          </a:ln>
        </p:spPr>
      </p:sp>
      <p:sp>
        <p:nvSpPr>
          <p:cNvPr id="20" name="Text 18"/>
          <p:cNvSpPr txBox="1"/>
          <p:nvPr/>
        </p:nvSpPr>
        <p:spPr>
          <a:xfrm>
            <a:off x="7269480" y="4315968"/>
            <a:ext cx="4096512" cy="228600"/>
          </a:xfrm>
          <a:prstGeom prst="rect">
            <a:avLst/>
          </a:prstGeom>
          <a:noFill/>
          <a:ln/>
        </p:spPr>
        <p:txBody>
          <a:bodyPr wrap="square" lIns="0" tIns="0" rIns="0" bIns="0" rtlCol="0" anchor="ctr"/>
          <a:lstStyle/>
          <a:p>
            <a:pPr indent="0" marL="0">
              <a:buNone/>
            </a:pPr>
            <a:r>
              <a:rPr lang="en-US" sz="1050" b="1" spc="120" kern="0" dirty="0">
                <a:solidFill>
                  <a:srgbClr val="B8412F"/>
                </a:solidFill>
                <a:latin typeface="Calibri" pitchFamily="34" charset="0"/>
                <a:ea typeface="Calibri" pitchFamily="34" charset="-122"/>
                <a:cs typeface="Calibri" pitchFamily="34" charset="-120"/>
              </a:rPr>
              <a:t>TWO EDGE CASES</a:t>
            </a:r>
            <a:endParaRPr lang="en-US" sz="1050" dirty="0"/>
          </a:p>
        </p:txBody>
      </p:sp>
      <p:sp>
        <p:nvSpPr>
          <p:cNvPr id="21" name="Text 19"/>
          <p:cNvSpPr txBox="1"/>
          <p:nvPr/>
        </p:nvSpPr>
        <p:spPr>
          <a:xfrm>
            <a:off x="7068312" y="4608576"/>
            <a:ext cx="4224528" cy="10612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530"/>
                </a:solidFill>
                <a:latin typeface="Calibri" pitchFamily="34" charset="0"/>
                <a:ea typeface="Calibri" pitchFamily="34" charset="-122"/>
                <a:cs typeface="Calibri" pitchFamily="34" charset="-120"/>
              </a:rPr>
              <a:t>Doubling a capacity of 0 gives 0. If you allow an empty array, the growth rule needs a floor.</a:t>
            </a:r>
            <a:endParaRPr lang="en-US" sz="1250" dirty="0"/>
          </a:p>
          <a:p>
            <a:pPr marL="342900" indent="-342900">
              <a:spcAft>
                <a:spcPts val="400"/>
              </a:spcAft>
              <a:buSzPct val="100000"/>
              <a:buChar char="•"/>
            </a:pPr>
            <a:r>
              <a:rPr lang="en-US" sz="1250" dirty="0">
                <a:solidFill>
                  <a:srgbClr val="1A2530"/>
                </a:solidFill>
                <a:latin typeface="Calibri" pitchFamily="34" charset="0"/>
                <a:ea typeface="Calibri" pitchFamily="34" charset="-122"/>
                <a:cs typeface="Calibri" pitchFamily="34" charset="-120"/>
              </a:rPr>
              <a:t>Growth factors other than 2 are perfectly reasonable. 1.5 wastes less memory. Try both and measure.</a:t>
            </a:r>
            <a:endParaRPr lang="en-US" sz="12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145743"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145743"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hint 4 of 4</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Hint 4 — free_arr, and what free does not do</a:t>
            </a:r>
            <a:endParaRPr lang="en-US" sz="3000" dirty="0"/>
          </a:p>
        </p:txBody>
      </p:sp>
      <p:sp>
        <p:nvSpPr>
          <p:cNvPr id="5" name="Text 3"/>
          <p:cNvSpPr txBox="1"/>
          <p:nvPr/>
        </p:nvSpPr>
        <p:spPr>
          <a:xfrm>
            <a:off x="640080" y="1298448"/>
            <a:ext cx="594360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FILL IN THE BLANKS</a:t>
            </a:r>
            <a:endParaRPr lang="en-US" sz="950" dirty="0"/>
          </a:p>
        </p:txBody>
      </p:sp>
      <p:sp>
        <p:nvSpPr>
          <p:cNvPr id="6" name="Shape 4"/>
          <p:cNvSpPr/>
          <p:nvPr/>
        </p:nvSpPr>
        <p:spPr>
          <a:xfrm>
            <a:off x="640080" y="1545336"/>
            <a:ext cx="5943600" cy="1618488"/>
          </a:xfrm>
          <a:prstGeom prst="roundRect">
            <a:avLst>
              <a:gd name="adj" fmla="val 2825"/>
            </a:avLst>
          </a:prstGeom>
          <a:solidFill>
            <a:srgbClr val="16202B"/>
          </a:solidFill>
          <a:ln w="12700">
            <a:solidFill>
              <a:srgbClr val="333333"/>
            </a:solidFill>
            <a:prstDash val="solid"/>
          </a:ln>
        </p:spPr>
      </p:sp>
      <p:sp>
        <p:nvSpPr>
          <p:cNvPr id="7" name="Text 5"/>
          <p:cNvSpPr txBox="1"/>
          <p:nvPr/>
        </p:nvSpPr>
        <p:spPr>
          <a:xfrm>
            <a:off x="859536" y="1682496"/>
            <a:ext cx="5504688" cy="1344168"/>
          </a:xfrm>
          <a:prstGeom prst="rect">
            <a:avLst/>
          </a:prstGeom>
          <a:noFill/>
          <a:ln/>
        </p:spPr>
        <p:txBody>
          <a:bodyPr wrap="square" lIns="0" tIns="0" rIns="0" bIns="0" rtlCol="0" anchor="t"/>
          <a:lstStyle/>
          <a:p>
            <a:pPr indent="0" marL="0">
              <a:lnSpc>
                <a:spcPts val="1716"/>
              </a:lnSpc>
              <a:buNone/>
            </a:pPr>
            <a:r>
              <a:rPr lang="en-US" sz="1300" dirty="0">
                <a:solidFill>
                  <a:srgbClr val="E3EAF1"/>
                </a:solidFill>
                <a:latin typeface="Courier New" pitchFamily="34" charset="0"/>
                <a:ea typeface="Courier New" pitchFamily="34" charset="-122"/>
                <a:cs typeface="Courier New" pitchFamily="34" charset="-120"/>
              </a:rPr>
              <a:t>void free_arr(DynArray* da) {</a:t>
            </a:r>
            <a:endParaRPr lang="en-US" sz="1300" dirty="0"/>
          </a:p>
          <a:p>
            <a:pPr indent="0" marL="0">
              <a:lnSpc>
                <a:spcPts val="1716"/>
              </a:lnSpc>
              <a:buNone/>
            </a:pPr>
            <a:r>
              <a:rPr lang="en-US" sz="1300" dirty="0">
                <a:solidFill>
                  <a:srgbClr val="D9901F"/>
                </a:solidFill>
                <a:latin typeface="Courier New" pitchFamily="34" charset="0"/>
                <a:ea typeface="Courier New" pitchFamily="34" charset="-122"/>
                <a:cs typeface="Courier New" pitchFamily="34" charset="-120"/>
              </a:rPr>
              <a:t>        free(____);</a:t>
            </a:r>
            <a:endParaRPr lang="en-US" sz="1300" dirty="0"/>
          </a:p>
          <a:p>
            <a:pPr indent="0" marL="0">
              <a:lnSpc>
                <a:spcPts val="1716"/>
              </a:lnSpc>
              <a:buNone/>
            </a:pPr>
            <a:r>
              <a:rPr lang="en-US" sz="1300" dirty="0">
                <a:solidFill>
                  <a:srgbClr val="D9901F"/>
                </a:solidFill>
                <a:latin typeface="Courier New" pitchFamily="34" charset="0"/>
                <a:ea typeface="Courier New" pitchFamily="34" charset="-122"/>
                <a:cs typeface="Courier New" pitchFamily="34" charset="-120"/>
              </a:rPr>
              <a:t>        da-&gt;array = ____;</a:t>
            </a:r>
            <a:endParaRPr lang="en-US" sz="1300" dirty="0"/>
          </a:p>
          <a:p>
            <a:pPr indent="0" marL="0">
              <a:lnSpc>
                <a:spcPts val="1716"/>
              </a:lnSpc>
              <a:buNone/>
            </a:pPr>
            <a:r>
              <a:rPr lang="en-US" sz="1300" dirty="0">
                <a:solidFill>
                  <a:srgbClr val="D9901F"/>
                </a:solidFill>
                <a:latin typeface="Courier New" pitchFamily="34" charset="0"/>
                <a:ea typeface="Courier New" pitchFamily="34" charset="-122"/>
                <a:cs typeface="Courier New" pitchFamily="34" charset="-120"/>
              </a:rPr>
              <a:t>        da-&gt;used  = ____;</a:t>
            </a:r>
            <a:endParaRPr lang="en-US" sz="1300" dirty="0"/>
          </a:p>
          <a:p>
            <a:pPr indent="0" marL="0">
              <a:lnSpc>
                <a:spcPts val="1716"/>
              </a:lnSpc>
              <a:buNone/>
            </a:pPr>
            <a:r>
              <a:rPr lang="en-US" sz="1300" dirty="0">
                <a:solidFill>
                  <a:srgbClr val="D9901F"/>
                </a:solidFill>
                <a:latin typeface="Courier New" pitchFamily="34" charset="0"/>
                <a:ea typeface="Courier New" pitchFamily="34" charset="-122"/>
                <a:cs typeface="Courier New" pitchFamily="34" charset="-120"/>
              </a:rPr>
              <a:t>        da-&gt;size  = ____;</a:t>
            </a:r>
            <a:endParaRPr lang="en-US" sz="1300" dirty="0"/>
          </a:p>
          <a:p>
            <a:pPr indent="0" marL="0">
              <a:lnSpc>
                <a:spcPts val="1716"/>
              </a:lnSpc>
              <a:buNone/>
            </a:pPr>
            <a:r>
              <a:rPr lang="en-US" sz="1300" dirty="0">
                <a:solidFill>
                  <a:srgbClr val="E3EAF1"/>
                </a:solidFill>
                <a:latin typeface="Courier New" pitchFamily="34" charset="0"/>
                <a:ea typeface="Courier New" pitchFamily="34" charset="-122"/>
                <a:cs typeface="Courier New" pitchFamily="34" charset="-120"/>
              </a:rPr>
              <a:t>}</a:t>
            </a:r>
            <a:endParaRPr lang="en-US" sz="1300" dirty="0"/>
          </a:p>
        </p:txBody>
      </p:sp>
      <p:sp>
        <p:nvSpPr>
          <p:cNvPr id="8" name="Shape 6"/>
          <p:cNvSpPr/>
          <p:nvPr/>
        </p:nvSpPr>
        <p:spPr>
          <a:xfrm>
            <a:off x="640080" y="3310128"/>
            <a:ext cx="5943600" cy="1564132"/>
          </a:xfrm>
          <a:prstGeom prst="roundRect">
            <a:avLst>
              <a:gd name="adj" fmla="val 3508"/>
            </a:avLst>
          </a:prstGeom>
          <a:solidFill>
            <a:srgbClr val="FAEBE8"/>
          </a:solidFill>
          <a:ln w="12700">
            <a:solidFill>
              <a:srgbClr val="333333"/>
            </a:solidFill>
            <a:prstDash val="solid"/>
          </a:ln>
        </p:spPr>
      </p:sp>
      <p:sp>
        <p:nvSpPr>
          <p:cNvPr id="9" name="Shape 7"/>
          <p:cNvSpPr/>
          <p:nvPr/>
        </p:nvSpPr>
        <p:spPr>
          <a:xfrm>
            <a:off x="877824" y="3515868"/>
            <a:ext cx="118872" cy="118872"/>
          </a:xfrm>
          <a:prstGeom prst="ellipse">
            <a:avLst/>
          </a:prstGeom>
          <a:solidFill>
            <a:srgbClr val="B8412F"/>
          </a:solidFill>
          <a:ln w="12700">
            <a:solidFill>
              <a:srgbClr val="333333"/>
            </a:solidFill>
            <a:prstDash val="solid"/>
          </a:ln>
        </p:spPr>
      </p:sp>
      <p:sp>
        <p:nvSpPr>
          <p:cNvPr id="10" name="Text 8"/>
          <p:cNvSpPr txBox="1"/>
          <p:nvPr/>
        </p:nvSpPr>
        <p:spPr>
          <a:xfrm>
            <a:off x="1097280" y="3465576"/>
            <a:ext cx="5303520" cy="228600"/>
          </a:xfrm>
          <a:prstGeom prst="rect">
            <a:avLst/>
          </a:prstGeom>
          <a:noFill/>
          <a:ln/>
        </p:spPr>
        <p:txBody>
          <a:bodyPr wrap="square" lIns="0" tIns="0" rIns="0" bIns="0" rtlCol="0" anchor="ctr"/>
          <a:lstStyle/>
          <a:p>
            <a:pPr indent="0" marL="0">
              <a:buNone/>
            </a:pPr>
            <a:r>
              <a:rPr lang="en-US" sz="1050" b="1" spc="120" kern="0" dirty="0">
                <a:solidFill>
                  <a:srgbClr val="B8412F"/>
                </a:solidFill>
                <a:latin typeface="Calibri" pitchFamily="34" charset="0"/>
                <a:ea typeface="Calibri" pitchFamily="34" charset="-122"/>
                <a:cs typeface="Calibri" pitchFamily="34" charset="-120"/>
              </a:rPr>
              <a:t>free() DOES NOT TOUCH YOUR POINTER</a:t>
            </a:r>
            <a:endParaRPr lang="en-US" sz="1050" dirty="0"/>
          </a:p>
        </p:txBody>
      </p:sp>
      <p:sp>
        <p:nvSpPr>
          <p:cNvPr id="11" name="Text 9"/>
          <p:cNvSpPr txBox="1"/>
          <p:nvPr/>
        </p:nvSpPr>
        <p:spPr>
          <a:xfrm>
            <a:off x="896112" y="3758184"/>
            <a:ext cx="5431536" cy="1006348"/>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It hands the block back to the allocator and returns. da-&gt;array still holds the old address afterwards, and it still looks perfectly valid. Setting it to NULL is what turns a silent use-after-free into an immediate, obvious crash.</a:t>
            </a:r>
            <a:endParaRPr lang="en-US" sz="1250" dirty="0"/>
          </a:p>
        </p:txBody>
      </p:sp>
      <p:sp>
        <p:nvSpPr>
          <p:cNvPr id="12" name="Text 10"/>
          <p:cNvSpPr txBox="1"/>
          <p:nvPr/>
        </p:nvSpPr>
        <p:spPr>
          <a:xfrm>
            <a:off x="6812280" y="1298448"/>
            <a:ext cx="4736592" cy="1645920"/>
          </a:xfrm>
          <a:prstGeom prst="rect">
            <a:avLst/>
          </a:prstGeom>
          <a:noFill/>
          <a:ln/>
        </p:spPr>
        <p:txBody>
          <a:bodyPr wrap="square" lIns="0" tIns="0" rIns="0" bIns="0" rtlCol="0" anchor="t"/>
          <a:lstStyle/>
          <a:p>
            <a:pPr indent="0" marL="0">
              <a:lnSpc>
                <a:spcPts val="1755"/>
              </a:lnSpc>
              <a:buNone/>
            </a:pPr>
            <a:r>
              <a:rPr lang="en-US" sz="1300" dirty="0">
                <a:solidFill>
                  <a:srgbClr val="1A2530"/>
                </a:solidFill>
                <a:latin typeface="Calibri" pitchFamily="34" charset="0"/>
                <a:ea typeface="Calibri" pitchFamily="34" charset="-122"/>
                <a:cs typeface="Calibri" pitchFamily="34" charset="-120"/>
              </a:rPr>
              <a:t>The three assignments after the free are not decoration. They restore the struct to the state it had before initialize_arr, which means a later insert_arr on the same struct fails loudly instead of writing into memory that now belongs to something else.</a:t>
            </a:r>
            <a:endParaRPr lang="en-US" sz="1300" dirty="0"/>
          </a:p>
        </p:txBody>
      </p:sp>
      <p:sp>
        <p:nvSpPr>
          <p:cNvPr id="13" name="Shape 11"/>
          <p:cNvSpPr/>
          <p:nvPr/>
        </p:nvSpPr>
        <p:spPr>
          <a:xfrm>
            <a:off x="6812280" y="3063240"/>
            <a:ext cx="4736592" cy="1564132"/>
          </a:xfrm>
          <a:prstGeom prst="roundRect">
            <a:avLst>
              <a:gd name="adj" fmla="val 3508"/>
            </a:avLst>
          </a:prstGeom>
          <a:solidFill>
            <a:srgbClr val="E8F3ED"/>
          </a:solidFill>
          <a:ln w="12700">
            <a:solidFill>
              <a:srgbClr val="333333"/>
            </a:solidFill>
            <a:prstDash val="solid"/>
          </a:ln>
        </p:spPr>
      </p:sp>
      <p:sp>
        <p:nvSpPr>
          <p:cNvPr id="14" name="Shape 12"/>
          <p:cNvSpPr/>
          <p:nvPr/>
        </p:nvSpPr>
        <p:spPr>
          <a:xfrm>
            <a:off x="7050024" y="3268980"/>
            <a:ext cx="118872" cy="118872"/>
          </a:xfrm>
          <a:prstGeom prst="ellipse">
            <a:avLst/>
          </a:prstGeom>
          <a:solidFill>
            <a:srgbClr val="2F8A63"/>
          </a:solidFill>
          <a:ln w="12700">
            <a:solidFill>
              <a:srgbClr val="333333"/>
            </a:solidFill>
            <a:prstDash val="solid"/>
          </a:ln>
        </p:spPr>
      </p:sp>
      <p:sp>
        <p:nvSpPr>
          <p:cNvPr id="15" name="Text 13"/>
          <p:cNvSpPr txBox="1"/>
          <p:nvPr/>
        </p:nvSpPr>
        <p:spPr>
          <a:xfrm>
            <a:off x="7269480" y="3218688"/>
            <a:ext cx="4096512" cy="228600"/>
          </a:xfrm>
          <a:prstGeom prst="rect">
            <a:avLst/>
          </a:prstGeom>
          <a:noFill/>
          <a:ln/>
        </p:spPr>
        <p:txBody>
          <a:bodyPr wrap="square" lIns="0" tIns="0" rIns="0" bIns="0" rtlCol="0" anchor="ctr"/>
          <a:lstStyle/>
          <a:p>
            <a:pPr indent="0" marL="0">
              <a:buNone/>
            </a:pPr>
            <a:r>
              <a:rPr lang="en-US" sz="1050" b="1" spc="120" kern="0" dirty="0">
                <a:solidFill>
                  <a:srgbClr val="2F8A63"/>
                </a:solidFill>
                <a:latin typeface="Calibri" pitchFamily="34" charset="0"/>
                <a:ea typeface="Calibri" pitchFamily="34" charset="-122"/>
                <a:cs typeface="Calibri" pitchFamily="34" charset="-120"/>
              </a:rPr>
              <a:t>WHO FREES THE STRUCT?</a:t>
            </a:r>
            <a:endParaRPr lang="en-US" sz="1050" dirty="0"/>
          </a:p>
        </p:txBody>
      </p:sp>
      <p:sp>
        <p:nvSpPr>
          <p:cNvPr id="16" name="Text 14"/>
          <p:cNvSpPr txBox="1"/>
          <p:nvPr/>
        </p:nvSpPr>
        <p:spPr>
          <a:xfrm>
            <a:off x="7068312" y="3511296"/>
            <a:ext cx="4224528" cy="1006348"/>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free_arr releases the block of ints. It cannot release the DynArray itself: it does not know whether that came from malloc or from the stack. Whoever allocated it frees it.</a:t>
            </a:r>
            <a:endParaRPr lang="en-US" sz="1250" dirty="0"/>
          </a:p>
        </p:txBody>
      </p:sp>
      <p:sp>
        <p:nvSpPr>
          <p:cNvPr id="17" name="Shape 15"/>
          <p:cNvSpPr/>
          <p:nvPr/>
        </p:nvSpPr>
        <p:spPr>
          <a:xfrm>
            <a:off x="640080" y="5029200"/>
            <a:ext cx="10908792" cy="1155700"/>
          </a:xfrm>
          <a:prstGeom prst="roundRect">
            <a:avLst>
              <a:gd name="adj" fmla="val 4747"/>
            </a:avLst>
          </a:prstGeom>
          <a:solidFill>
            <a:srgbClr val="FBF1DF"/>
          </a:solidFill>
          <a:ln w="12700">
            <a:solidFill>
              <a:srgbClr val="333333"/>
            </a:solidFill>
            <a:prstDash val="solid"/>
          </a:ln>
        </p:spPr>
      </p:sp>
      <p:sp>
        <p:nvSpPr>
          <p:cNvPr id="18" name="Shape 16"/>
          <p:cNvSpPr/>
          <p:nvPr/>
        </p:nvSpPr>
        <p:spPr>
          <a:xfrm>
            <a:off x="877824" y="5234940"/>
            <a:ext cx="118872" cy="118872"/>
          </a:xfrm>
          <a:prstGeom prst="ellipse">
            <a:avLst/>
          </a:prstGeom>
          <a:solidFill>
            <a:srgbClr val="D9901F"/>
          </a:solidFill>
          <a:ln w="12700">
            <a:solidFill>
              <a:srgbClr val="333333"/>
            </a:solidFill>
            <a:prstDash val="solid"/>
          </a:ln>
        </p:spPr>
      </p:sp>
      <p:sp>
        <p:nvSpPr>
          <p:cNvPr id="19" name="Text 17"/>
          <p:cNvSpPr txBox="1"/>
          <p:nvPr/>
        </p:nvSpPr>
        <p:spPr>
          <a:xfrm>
            <a:off x="1097280" y="5184648"/>
            <a:ext cx="10268712" cy="228600"/>
          </a:xfrm>
          <a:prstGeom prst="rect">
            <a:avLst/>
          </a:prstGeom>
          <a:noFill/>
          <a:ln/>
        </p:spPr>
        <p:txBody>
          <a:bodyPr wrap="square" lIns="0" tIns="0" rIns="0" bIns="0" rtlCol="0" anchor="ctr"/>
          <a:lstStyle/>
          <a:p>
            <a:pPr indent="0" marL="0">
              <a:buNone/>
            </a:pPr>
            <a:r>
              <a:rPr lang="en-US" sz="1050" b="1" spc="120" kern="0" dirty="0">
                <a:solidFill>
                  <a:srgbClr val="D9901F"/>
                </a:solidFill>
                <a:latin typeface="Calibri" pitchFamily="34" charset="0"/>
                <a:ea typeface="Calibri" pitchFamily="34" charset="-122"/>
                <a:cs typeface="Calibri" pitchFamily="34" charset="-120"/>
              </a:rPr>
              <a:t>TRY IT</a:t>
            </a:r>
            <a:endParaRPr lang="en-US" sz="1050" dirty="0"/>
          </a:p>
        </p:txBody>
      </p:sp>
      <p:sp>
        <p:nvSpPr>
          <p:cNvPr id="20" name="Text 18"/>
          <p:cNvSpPr txBox="1"/>
          <p:nvPr/>
        </p:nvSpPr>
        <p:spPr>
          <a:xfrm>
            <a:off x="896112" y="5477256"/>
            <a:ext cx="10396728" cy="597916"/>
          </a:xfrm>
          <a:prstGeom prst="rect">
            <a:avLst/>
          </a:prstGeom>
          <a:noFill/>
          <a:ln/>
        </p:spPr>
        <p:txBody>
          <a:bodyPr wrap="square" lIns="0" tIns="0" rIns="0" bIns="0" rtlCol="0" anchor="t"/>
          <a:lstStyle/>
          <a:p>
            <a:pPr indent="0" marL="0">
              <a:spcAft>
                <a:spcPts val="400"/>
              </a:spcAft>
              <a:buNone/>
            </a:pPr>
            <a:r>
              <a:rPr lang="en-US" sz="1300" dirty="0">
                <a:solidFill>
                  <a:srgbClr val="1A2530"/>
                </a:solidFill>
                <a:latin typeface="Calibri" pitchFamily="34" charset="0"/>
                <a:ea typeface="Calibri" pitchFamily="34" charset="-122"/>
                <a:cs typeface="Calibri" pitchFamily="34" charset="-120"/>
              </a:rPr>
              <a:t>Call free_arr twice in a row on the same array. With the NULL assignment in place, what happens? Without it? free(NULL) is explicitly allowed and does nothing, which is why the assignment makes the second call harmless.</a:t>
            </a:r>
            <a:endParaRPr lang="en-US" sz="130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449324"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449324"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dynamic_array.c</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Does it work?</a:t>
            </a:r>
            <a:endParaRPr lang="en-US" sz="3000" dirty="0"/>
          </a:p>
        </p:txBody>
      </p:sp>
      <p:sp>
        <p:nvSpPr>
          <p:cNvPr id="5" name="Text 3"/>
          <p:cNvSpPr txBox="1"/>
          <p:nvPr/>
        </p:nvSpPr>
        <p:spPr>
          <a:xfrm>
            <a:off x="640080" y="1298448"/>
            <a:ext cx="594360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WHAT main() SHOULD PRINT</a:t>
            </a:r>
            <a:endParaRPr lang="en-US" sz="950" dirty="0"/>
          </a:p>
        </p:txBody>
      </p:sp>
      <p:sp>
        <p:nvSpPr>
          <p:cNvPr id="6" name="Shape 4"/>
          <p:cNvSpPr/>
          <p:nvPr/>
        </p:nvSpPr>
        <p:spPr>
          <a:xfrm>
            <a:off x="640080" y="1545336"/>
            <a:ext cx="5943600" cy="1115568"/>
          </a:xfrm>
          <a:prstGeom prst="roundRect">
            <a:avLst>
              <a:gd name="adj" fmla="val 4098"/>
            </a:avLst>
          </a:prstGeom>
          <a:solidFill>
            <a:srgbClr val="101A24"/>
          </a:solidFill>
          <a:ln w="12700">
            <a:solidFill>
              <a:srgbClr val="333333"/>
            </a:solidFill>
            <a:prstDash val="solid"/>
          </a:ln>
        </p:spPr>
      </p:sp>
      <p:sp>
        <p:nvSpPr>
          <p:cNvPr id="7" name="Text 5"/>
          <p:cNvSpPr txBox="1"/>
          <p:nvPr/>
        </p:nvSpPr>
        <p:spPr>
          <a:xfrm>
            <a:off x="859536" y="1682496"/>
            <a:ext cx="5504688" cy="841248"/>
          </a:xfrm>
          <a:prstGeom prst="rect">
            <a:avLst/>
          </a:prstGeom>
          <a:noFill/>
          <a:ln/>
        </p:spPr>
        <p:txBody>
          <a:bodyPr wrap="square" lIns="0" tIns="0" rIns="0" bIns="0" rtlCol="0" anchor="t"/>
          <a:lstStyle/>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 gcc dynamic_array.c -Wall -Wextra -g -o dynarr</a:t>
            </a:r>
            <a:endParaRPr lang="en-US" sz="1200" dirty="0"/>
          </a:p>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 ./dynarr</a:t>
            </a:r>
            <a:endParaRPr lang="en-US" sz="1200" dirty="0"/>
          </a:p>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12</a:t>
            </a:r>
            <a:endParaRPr lang="en-US" sz="1200" dirty="0"/>
          </a:p>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1000</a:t>
            </a:r>
            <a:endParaRPr lang="en-US" sz="1200" dirty="0"/>
          </a:p>
        </p:txBody>
      </p:sp>
      <p:sp>
        <p:nvSpPr>
          <p:cNvPr id="8" name="Text 6"/>
          <p:cNvSpPr txBox="1"/>
          <p:nvPr/>
        </p:nvSpPr>
        <p:spPr>
          <a:xfrm>
            <a:off x="640080" y="2788920"/>
            <a:ext cx="5943600" cy="777240"/>
          </a:xfrm>
          <a:prstGeom prst="rect">
            <a:avLst/>
          </a:prstGeom>
          <a:noFill/>
          <a:ln/>
        </p:spPr>
        <p:txBody>
          <a:bodyPr wrap="square" lIns="0" tIns="0" rIns="0" bIns="0" rtlCol="0" anchor="t"/>
          <a:lstStyle/>
          <a:p>
            <a:pPr indent="0" marL="0">
              <a:lnSpc>
                <a:spcPts val="1688"/>
              </a:lnSpc>
              <a:buNone/>
            </a:pPr>
            <a:r>
              <a:rPr lang="en-US" sz="1250" dirty="0">
                <a:solidFill>
                  <a:srgbClr val="62707E"/>
                </a:solidFill>
                <a:latin typeface="Calibri" pitchFamily="34" charset="0"/>
                <a:ea typeface="Calibri" pitchFamily="34" charset="-122"/>
                <a:cs typeface="Calibri" pitchFamily="34" charset="-120"/>
              </a:rPr>
              <a:t>12 because element i was inserted with the value i, and 1000 because that is how many went in. If the second line is a huge number or a negative one, you are still printing a size_t with %d.</a:t>
            </a:r>
            <a:endParaRPr lang="en-US" sz="1250" dirty="0"/>
          </a:p>
        </p:txBody>
      </p:sp>
      <p:sp>
        <p:nvSpPr>
          <p:cNvPr id="9" name="Text 7"/>
          <p:cNvSpPr txBox="1"/>
          <p:nvPr/>
        </p:nvSpPr>
        <p:spPr>
          <a:xfrm>
            <a:off x="640080" y="3675888"/>
            <a:ext cx="594360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THEN THE ONE THAT MATTERS</a:t>
            </a:r>
            <a:endParaRPr lang="en-US" sz="950" dirty="0"/>
          </a:p>
        </p:txBody>
      </p:sp>
      <p:sp>
        <p:nvSpPr>
          <p:cNvPr id="10" name="Shape 8"/>
          <p:cNvSpPr/>
          <p:nvPr/>
        </p:nvSpPr>
        <p:spPr>
          <a:xfrm>
            <a:off x="640080" y="3922776"/>
            <a:ext cx="5943600" cy="914400"/>
          </a:xfrm>
          <a:prstGeom prst="roundRect">
            <a:avLst>
              <a:gd name="adj" fmla="val 5000"/>
            </a:avLst>
          </a:prstGeom>
          <a:solidFill>
            <a:srgbClr val="101A24"/>
          </a:solidFill>
          <a:ln w="12700">
            <a:solidFill>
              <a:srgbClr val="333333"/>
            </a:solidFill>
            <a:prstDash val="solid"/>
          </a:ln>
        </p:spPr>
      </p:sp>
      <p:sp>
        <p:nvSpPr>
          <p:cNvPr id="11" name="Text 9"/>
          <p:cNvSpPr txBox="1"/>
          <p:nvPr/>
        </p:nvSpPr>
        <p:spPr>
          <a:xfrm>
            <a:off x="859536" y="4059936"/>
            <a:ext cx="5504688" cy="640080"/>
          </a:xfrm>
          <a:prstGeom prst="rect">
            <a:avLst/>
          </a:prstGeom>
          <a:noFill/>
          <a:ln/>
        </p:spPr>
        <p:txBody>
          <a:bodyPr wrap="square" lIns="0" tIns="0" rIns="0" bIns="0" rtlCol="0" anchor="t"/>
          <a:lstStyle/>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 gcc dynamic_array.c -Wall -Wextra -g \</a:t>
            </a:r>
            <a:endParaRPr lang="en-US" sz="1200" dirty="0"/>
          </a:p>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      -fsanitize=address -o dynarr</a:t>
            </a:r>
            <a:endParaRPr lang="en-US" sz="1200" dirty="0"/>
          </a:p>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 ./dynarr          # silence here means silence</a:t>
            </a:r>
            <a:endParaRPr lang="en-US" sz="1200" dirty="0"/>
          </a:p>
        </p:txBody>
      </p:sp>
      <p:sp>
        <p:nvSpPr>
          <p:cNvPr id="12" name="Text 10"/>
          <p:cNvSpPr txBox="1"/>
          <p:nvPr/>
        </p:nvSpPr>
        <p:spPr>
          <a:xfrm>
            <a:off x="6812280" y="1298448"/>
            <a:ext cx="4736592" cy="292608"/>
          </a:xfrm>
          <a:prstGeom prst="rect">
            <a:avLst/>
          </a:prstGeom>
          <a:noFill/>
          <a:ln/>
        </p:spPr>
        <p:txBody>
          <a:bodyPr wrap="square" lIns="0" tIns="0" rIns="0" bIns="0" rtlCol="0" anchor="ctr"/>
          <a:lstStyle/>
          <a:p>
            <a:pPr indent="0" marL="0">
              <a:buNone/>
            </a:pPr>
            <a:r>
              <a:rPr lang="en-US" sz="1900" b="1" dirty="0">
                <a:solidFill>
                  <a:srgbClr val="1A2530"/>
                </a:solidFill>
                <a:latin typeface="Calibri" pitchFamily="34" charset="0"/>
                <a:ea typeface="Calibri" pitchFamily="34" charset="-122"/>
                <a:cs typeface="Calibri" pitchFamily="34" charset="-120"/>
              </a:rPr>
              <a:t>Four tests worth adding</a:t>
            </a:r>
            <a:endParaRPr lang="en-US" sz="1900" dirty="0"/>
          </a:p>
        </p:txBody>
      </p:sp>
      <p:sp>
        <p:nvSpPr>
          <p:cNvPr id="13" name="Text 11"/>
          <p:cNvSpPr txBox="1"/>
          <p:nvPr/>
        </p:nvSpPr>
        <p:spPr>
          <a:xfrm>
            <a:off x="6812280" y="1755648"/>
            <a:ext cx="4736592" cy="21945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2530"/>
                </a:solidFill>
                <a:latin typeface="Calibri" pitchFamily="34" charset="0"/>
                <a:ea typeface="Calibri" pitchFamily="34" charset="-122"/>
                <a:cs typeface="Calibri" pitchFamily="34" charset="-120"/>
              </a:rPr>
              <a:t>Initialise with a capacity of 1, then insert 1000. Same two numbers?</a:t>
            </a:r>
            <a:endParaRPr lang="en-US" sz="1250" dirty="0"/>
          </a:p>
          <a:p>
            <a:pPr marL="342900" indent="-342900">
              <a:spcAft>
                <a:spcPts val="800"/>
              </a:spcAft>
              <a:buSzPct val="100000"/>
              <a:buChar char="•"/>
            </a:pPr>
            <a:r>
              <a:rPr lang="en-US" sz="1250" dirty="0">
                <a:solidFill>
                  <a:srgbClr val="1A2530"/>
                </a:solidFill>
                <a:latin typeface="Calibri" pitchFamily="34" charset="0"/>
                <a:ea typeface="Calibri" pitchFamily="34" charset="-122"/>
                <a:cs typeface="Calibri" pitchFamily="34" charset="-120"/>
              </a:rPr>
              <a:t>Initialise, then free immediately without inserting anything.</a:t>
            </a:r>
            <a:endParaRPr lang="en-US" sz="1250" dirty="0"/>
          </a:p>
          <a:p>
            <a:pPr marL="342900" indent="-342900">
              <a:spcAft>
                <a:spcPts val="800"/>
              </a:spcAft>
              <a:buSzPct val="100000"/>
              <a:buChar char="•"/>
            </a:pPr>
            <a:r>
              <a:rPr lang="en-US" sz="1250" dirty="0">
                <a:solidFill>
                  <a:srgbClr val="1A2530"/>
                </a:solidFill>
                <a:latin typeface="Calibri" pitchFamily="34" charset="0"/>
                <a:ea typeface="Calibri" pitchFamily="34" charset="-122"/>
                <a:cs typeface="Calibri" pitchFamily="34" charset="-120"/>
              </a:rPr>
              <a:t>Print used and size after every insert for the first 20. Watch the capacity jump.</a:t>
            </a:r>
            <a:endParaRPr lang="en-US" sz="1250" dirty="0"/>
          </a:p>
          <a:p>
            <a:pPr marL="342900" indent="-342900">
              <a:spcAft>
                <a:spcPts val="800"/>
              </a:spcAft>
              <a:buSzPct val="100000"/>
              <a:buChar char="•"/>
            </a:pPr>
            <a:r>
              <a:rPr lang="en-US" sz="1250" dirty="0">
                <a:solidFill>
                  <a:srgbClr val="1A2530"/>
                </a:solidFill>
                <a:latin typeface="Calibri" pitchFamily="34" charset="0"/>
                <a:ea typeface="Calibri" pitchFamily="34" charset="-122"/>
                <a:cs typeface="Calibri" pitchFamily="34" charset="-120"/>
              </a:rPr>
              <a:t>Insert 1000, free, then insert again. It should fail obviously, not quietly.</a:t>
            </a:r>
            <a:endParaRPr lang="en-US" sz="1250" dirty="0"/>
          </a:p>
        </p:txBody>
      </p:sp>
      <p:sp>
        <p:nvSpPr>
          <p:cNvPr id="14" name="Shape 12"/>
          <p:cNvSpPr/>
          <p:nvPr/>
        </p:nvSpPr>
        <p:spPr>
          <a:xfrm>
            <a:off x="6812280" y="4069080"/>
            <a:ext cx="4736592" cy="1351407"/>
          </a:xfrm>
          <a:prstGeom prst="roundRect">
            <a:avLst>
              <a:gd name="adj" fmla="val 4060"/>
            </a:avLst>
          </a:prstGeom>
          <a:solidFill>
            <a:srgbClr val="E8F3ED"/>
          </a:solidFill>
          <a:ln w="12700">
            <a:solidFill>
              <a:srgbClr val="333333"/>
            </a:solidFill>
            <a:prstDash val="solid"/>
          </a:ln>
        </p:spPr>
      </p:sp>
      <p:sp>
        <p:nvSpPr>
          <p:cNvPr id="15" name="Shape 13"/>
          <p:cNvSpPr/>
          <p:nvPr/>
        </p:nvSpPr>
        <p:spPr>
          <a:xfrm>
            <a:off x="7050024" y="4274820"/>
            <a:ext cx="118872" cy="118872"/>
          </a:xfrm>
          <a:prstGeom prst="ellipse">
            <a:avLst/>
          </a:prstGeom>
          <a:solidFill>
            <a:srgbClr val="2F8A63"/>
          </a:solidFill>
          <a:ln w="12700">
            <a:solidFill>
              <a:srgbClr val="333333"/>
            </a:solidFill>
            <a:prstDash val="solid"/>
          </a:ln>
        </p:spPr>
      </p:sp>
      <p:sp>
        <p:nvSpPr>
          <p:cNvPr id="16" name="Text 14"/>
          <p:cNvSpPr txBox="1"/>
          <p:nvPr/>
        </p:nvSpPr>
        <p:spPr>
          <a:xfrm>
            <a:off x="7269480" y="4224528"/>
            <a:ext cx="4096512" cy="228600"/>
          </a:xfrm>
          <a:prstGeom prst="rect">
            <a:avLst/>
          </a:prstGeom>
          <a:noFill/>
          <a:ln/>
        </p:spPr>
        <p:txBody>
          <a:bodyPr wrap="square" lIns="0" tIns="0" rIns="0" bIns="0" rtlCol="0" anchor="ctr"/>
          <a:lstStyle/>
          <a:p>
            <a:pPr indent="0" marL="0">
              <a:buNone/>
            </a:pPr>
            <a:r>
              <a:rPr lang="en-US" sz="1050" b="1" spc="120" kern="0" dirty="0">
                <a:solidFill>
                  <a:srgbClr val="2F8A63"/>
                </a:solidFill>
                <a:latin typeface="Calibri" pitchFamily="34" charset="0"/>
                <a:ea typeface="Calibri" pitchFamily="34" charset="-122"/>
                <a:cs typeface="Calibri" pitchFamily="34" charset="-120"/>
              </a:rPr>
              <a:t>IF YOU HAVE valgrind</a:t>
            </a:r>
            <a:endParaRPr lang="en-US" sz="1050" dirty="0"/>
          </a:p>
        </p:txBody>
      </p:sp>
      <p:sp>
        <p:nvSpPr>
          <p:cNvPr id="17" name="Text 15"/>
          <p:cNvSpPr txBox="1"/>
          <p:nvPr/>
        </p:nvSpPr>
        <p:spPr>
          <a:xfrm>
            <a:off x="7068312" y="4517136"/>
            <a:ext cx="4224528" cy="793623"/>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valgrind ./dynarr should report all heap blocks freed. One block still reachable usually means you forgot the struct in Fix 2.</a:t>
            </a:r>
            <a:endParaRPr lang="en-US" sz="12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069848"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069848"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extensions</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Going further with the dynamic array</a:t>
            </a:r>
            <a:endParaRPr lang="en-US" sz="3000" dirty="0"/>
          </a:p>
        </p:txBody>
      </p:sp>
      <p:sp>
        <p:nvSpPr>
          <p:cNvPr id="5" name="Shape 3"/>
          <p:cNvSpPr/>
          <p:nvPr/>
        </p:nvSpPr>
        <p:spPr>
          <a:xfrm>
            <a:off x="640080" y="1463040"/>
            <a:ext cx="3453384" cy="1965960"/>
          </a:xfrm>
          <a:prstGeom prst="roundRect">
            <a:avLst>
              <a:gd name="adj" fmla="val 2791"/>
            </a:avLst>
          </a:prstGeom>
          <a:solidFill>
            <a:srgbClr val="F2F5F8"/>
          </a:solidFill>
          <a:ln w="12700">
            <a:solidFill>
              <a:srgbClr val="333333"/>
            </a:solidFill>
            <a:prstDash val="solid"/>
          </a:ln>
        </p:spPr>
      </p:sp>
      <p:sp>
        <p:nvSpPr>
          <p:cNvPr id="6" name="Shape 4"/>
          <p:cNvSpPr/>
          <p:nvPr/>
        </p:nvSpPr>
        <p:spPr>
          <a:xfrm>
            <a:off x="859536" y="1645920"/>
            <a:ext cx="384048" cy="384048"/>
          </a:xfrm>
          <a:prstGeom prst="ellipse">
            <a:avLst/>
          </a:prstGeom>
          <a:solidFill>
            <a:srgbClr val="D9901F"/>
          </a:solidFill>
          <a:ln w="12700">
            <a:solidFill>
              <a:srgbClr val="333333"/>
            </a:solidFill>
            <a:prstDash val="solid"/>
          </a:ln>
        </p:spPr>
      </p:sp>
      <p:sp>
        <p:nvSpPr>
          <p:cNvPr id="7" name="Text 5"/>
          <p:cNvSpPr txBox="1"/>
          <p:nvPr/>
        </p:nvSpPr>
        <p:spPr>
          <a:xfrm>
            <a:off x="859536"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77824" y="215798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Safe access</a:t>
            </a:r>
            <a:endParaRPr lang="en-US" sz="1500" dirty="0"/>
          </a:p>
        </p:txBody>
      </p:sp>
      <p:sp>
        <p:nvSpPr>
          <p:cNvPr id="9" name="Text 7"/>
          <p:cNvSpPr txBox="1"/>
          <p:nvPr/>
        </p:nvSpPr>
        <p:spPr>
          <a:xfrm>
            <a:off x="877824" y="2468880"/>
            <a:ext cx="2996184" cy="8321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Add int get_arr(DynArray* da, size_t index) that refuses an index &gt;= used instead of reading past the end. You are adding the bounds check C never gave you.</a:t>
            </a:r>
            <a:endParaRPr lang="en-US" sz="1200" dirty="0"/>
          </a:p>
        </p:txBody>
      </p:sp>
      <p:sp>
        <p:nvSpPr>
          <p:cNvPr id="10" name="Shape 8"/>
          <p:cNvSpPr/>
          <p:nvPr/>
        </p:nvSpPr>
        <p:spPr>
          <a:xfrm>
            <a:off x="4367784" y="1463040"/>
            <a:ext cx="3453384" cy="1965960"/>
          </a:xfrm>
          <a:prstGeom prst="roundRect">
            <a:avLst>
              <a:gd name="adj" fmla="val 2791"/>
            </a:avLst>
          </a:prstGeom>
          <a:solidFill>
            <a:srgbClr val="F2F5F8"/>
          </a:solidFill>
          <a:ln w="12700">
            <a:solidFill>
              <a:srgbClr val="333333"/>
            </a:solidFill>
            <a:prstDash val="solid"/>
          </a:ln>
        </p:spPr>
      </p:sp>
      <p:sp>
        <p:nvSpPr>
          <p:cNvPr id="11" name="Shape 9"/>
          <p:cNvSpPr/>
          <p:nvPr/>
        </p:nvSpPr>
        <p:spPr>
          <a:xfrm>
            <a:off x="4587240" y="1645920"/>
            <a:ext cx="384048" cy="384048"/>
          </a:xfrm>
          <a:prstGeom prst="ellipse">
            <a:avLst/>
          </a:prstGeom>
          <a:solidFill>
            <a:srgbClr val="D9901F"/>
          </a:solidFill>
          <a:ln w="12700">
            <a:solidFill>
              <a:srgbClr val="333333"/>
            </a:solidFill>
            <a:prstDash val="solid"/>
          </a:ln>
        </p:spPr>
      </p:sp>
      <p:sp>
        <p:nvSpPr>
          <p:cNvPr id="12" name="Text 10"/>
          <p:cNvSpPr txBox="1"/>
          <p:nvPr/>
        </p:nvSpPr>
        <p:spPr>
          <a:xfrm>
            <a:off x="458724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4605528" y="215798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Remove and shrink</a:t>
            </a:r>
            <a:endParaRPr lang="en-US" sz="1500" dirty="0"/>
          </a:p>
        </p:txBody>
      </p:sp>
      <p:sp>
        <p:nvSpPr>
          <p:cNvPr id="14" name="Text 12"/>
          <p:cNvSpPr txBox="1"/>
          <p:nvPr/>
        </p:nvSpPr>
        <p:spPr>
          <a:xfrm>
            <a:off x="4605528" y="2468880"/>
            <a:ext cx="2996184" cy="8321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Add remove_arr taking an index, shifting the tail down. Then halve the capacity when used drops below a quarter of it — and work out why a quarter, not a half.</a:t>
            </a:r>
            <a:endParaRPr lang="en-US" sz="1200" dirty="0"/>
          </a:p>
        </p:txBody>
      </p:sp>
      <p:sp>
        <p:nvSpPr>
          <p:cNvPr id="15" name="Shape 13"/>
          <p:cNvSpPr/>
          <p:nvPr/>
        </p:nvSpPr>
        <p:spPr>
          <a:xfrm>
            <a:off x="8095488" y="1463040"/>
            <a:ext cx="3453384" cy="1965960"/>
          </a:xfrm>
          <a:prstGeom prst="roundRect">
            <a:avLst>
              <a:gd name="adj" fmla="val 2791"/>
            </a:avLst>
          </a:prstGeom>
          <a:solidFill>
            <a:srgbClr val="F2F5F8"/>
          </a:solidFill>
          <a:ln w="12700">
            <a:solidFill>
              <a:srgbClr val="333333"/>
            </a:solidFill>
            <a:prstDash val="solid"/>
          </a:ln>
        </p:spPr>
      </p:sp>
      <p:sp>
        <p:nvSpPr>
          <p:cNvPr id="16" name="Shape 14"/>
          <p:cNvSpPr/>
          <p:nvPr/>
        </p:nvSpPr>
        <p:spPr>
          <a:xfrm>
            <a:off x="8314944" y="1645920"/>
            <a:ext cx="384048" cy="384048"/>
          </a:xfrm>
          <a:prstGeom prst="ellipse">
            <a:avLst/>
          </a:prstGeom>
          <a:solidFill>
            <a:srgbClr val="D9901F"/>
          </a:solidFill>
          <a:ln w="12700">
            <a:solidFill>
              <a:srgbClr val="333333"/>
            </a:solidFill>
            <a:prstDash val="solid"/>
          </a:ln>
        </p:spPr>
      </p:sp>
      <p:sp>
        <p:nvSpPr>
          <p:cNvPr id="17" name="Text 15"/>
          <p:cNvSpPr txBox="1"/>
          <p:nvPr/>
        </p:nvSpPr>
        <p:spPr>
          <a:xfrm>
            <a:off x="8314944"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8333232" y="215798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A constructor</a:t>
            </a:r>
            <a:endParaRPr lang="en-US" sz="1500" dirty="0"/>
          </a:p>
        </p:txBody>
      </p:sp>
      <p:sp>
        <p:nvSpPr>
          <p:cNvPr id="19" name="Text 17"/>
          <p:cNvSpPr txBox="1"/>
          <p:nvPr/>
        </p:nvSpPr>
        <p:spPr>
          <a:xfrm>
            <a:off x="8333232" y="2468880"/>
            <a:ext cx="2996184" cy="8321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Replace initialize_arr with DynArray* new_arr(size_t size) that allocates the struct too and returns it. main() then never touches malloc directly.</a:t>
            </a:r>
            <a:endParaRPr lang="en-US" sz="1200" dirty="0"/>
          </a:p>
        </p:txBody>
      </p:sp>
      <p:sp>
        <p:nvSpPr>
          <p:cNvPr id="20" name="Shape 18"/>
          <p:cNvSpPr/>
          <p:nvPr/>
        </p:nvSpPr>
        <p:spPr>
          <a:xfrm>
            <a:off x="640080" y="3611880"/>
            <a:ext cx="3453384" cy="1965960"/>
          </a:xfrm>
          <a:prstGeom prst="roundRect">
            <a:avLst>
              <a:gd name="adj" fmla="val 2791"/>
            </a:avLst>
          </a:prstGeom>
          <a:solidFill>
            <a:srgbClr val="F2F5F8"/>
          </a:solidFill>
          <a:ln w="12700">
            <a:solidFill>
              <a:srgbClr val="333333"/>
            </a:solidFill>
            <a:prstDash val="solid"/>
          </a:ln>
        </p:spPr>
      </p:sp>
      <p:sp>
        <p:nvSpPr>
          <p:cNvPr id="21" name="Shape 19"/>
          <p:cNvSpPr/>
          <p:nvPr/>
        </p:nvSpPr>
        <p:spPr>
          <a:xfrm>
            <a:off x="859536" y="3794760"/>
            <a:ext cx="384048" cy="384048"/>
          </a:xfrm>
          <a:prstGeom prst="ellipse">
            <a:avLst/>
          </a:prstGeom>
          <a:solidFill>
            <a:srgbClr val="D9901F"/>
          </a:solidFill>
          <a:ln w="12700">
            <a:solidFill>
              <a:srgbClr val="333333"/>
            </a:solidFill>
            <a:prstDash val="solid"/>
          </a:ln>
        </p:spPr>
      </p:sp>
      <p:sp>
        <p:nvSpPr>
          <p:cNvPr id="22" name="Text 20"/>
          <p:cNvSpPr txBox="1"/>
          <p:nvPr/>
        </p:nvSpPr>
        <p:spPr>
          <a:xfrm>
            <a:off x="859536" y="3794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877824" y="430682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Any type at all</a:t>
            </a:r>
            <a:endParaRPr lang="en-US" sz="1500" dirty="0"/>
          </a:p>
        </p:txBody>
      </p:sp>
      <p:sp>
        <p:nvSpPr>
          <p:cNvPr id="24" name="Text 22"/>
          <p:cNvSpPr txBox="1"/>
          <p:nvPr/>
        </p:nvSpPr>
        <p:spPr>
          <a:xfrm>
            <a:off x="877824" y="4617720"/>
            <a:ext cx="2996184" cy="8321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Store the element size in the struct and make array a void*. Suddenly you need memcpy from file 03, and indexing becomes arithmetic on bytes.</a:t>
            </a:r>
            <a:endParaRPr lang="en-US" sz="1200" dirty="0"/>
          </a:p>
        </p:txBody>
      </p:sp>
      <p:sp>
        <p:nvSpPr>
          <p:cNvPr id="25" name="Shape 23"/>
          <p:cNvSpPr/>
          <p:nvPr/>
        </p:nvSpPr>
        <p:spPr>
          <a:xfrm>
            <a:off x="4367784" y="3611880"/>
            <a:ext cx="3453384" cy="1965960"/>
          </a:xfrm>
          <a:prstGeom prst="roundRect">
            <a:avLst>
              <a:gd name="adj" fmla="val 2791"/>
            </a:avLst>
          </a:prstGeom>
          <a:solidFill>
            <a:srgbClr val="F2F5F8"/>
          </a:solidFill>
          <a:ln w="12700">
            <a:solidFill>
              <a:srgbClr val="333333"/>
            </a:solidFill>
            <a:prstDash val="solid"/>
          </a:ln>
        </p:spPr>
      </p:sp>
      <p:sp>
        <p:nvSpPr>
          <p:cNvPr id="26" name="Shape 24"/>
          <p:cNvSpPr/>
          <p:nvPr/>
        </p:nvSpPr>
        <p:spPr>
          <a:xfrm>
            <a:off x="4587240" y="3794760"/>
            <a:ext cx="384048" cy="384048"/>
          </a:xfrm>
          <a:prstGeom prst="ellipse">
            <a:avLst/>
          </a:prstGeom>
          <a:solidFill>
            <a:srgbClr val="D9901F"/>
          </a:solidFill>
          <a:ln w="12700">
            <a:solidFill>
              <a:srgbClr val="333333"/>
            </a:solidFill>
            <a:prstDash val="solid"/>
          </a:ln>
        </p:spPr>
      </p:sp>
      <p:sp>
        <p:nvSpPr>
          <p:cNvPr id="27" name="Text 25"/>
          <p:cNvSpPr txBox="1"/>
          <p:nvPr/>
        </p:nvSpPr>
        <p:spPr>
          <a:xfrm>
            <a:off x="4587240" y="3794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4605528" y="430682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Report failure</a:t>
            </a:r>
            <a:endParaRPr lang="en-US" sz="1500" dirty="0"/>
          </a:p>
        </p:txBody>
      </p:sp>
      <p:sp>
        <p:nvSpPr>
          <p:cNvPr id="29" name="Text 27"/>
          <p:cNvSpPr txBox="1"/>
          <p:nvPr/>
        </p:nvSpPr>
        <p:spPr>
          <a:xfrm>
            <a:off x="4605528" y="4617720"/>
            <a:ext cx="2996184" cy="8321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Change the functions to return int, 0 for success. Then make main() actually check them. Notice how much more code correct error handling is.</a:t>
            </a:r>
            <a:endParaRPr lang="en-US" sz="1200" dirty="0"/>
          </a:p>
        </p:txBody>
      </p:sp>
      <p:sp>
        <p:nvSpPr>
          <p:cNvPr id="30" name="Shape 28"/>
          <p:cNvSpPr/>
          <p:nvPr/>
        </p:nvSpPr>
        <p:spPr>
          <a:xfrm>
            <a:off x="8095488" y="3611880"/>
            <a:ext cx="3453384" cy="1965960"/>
          </a:xfrm>
          <a:prstGeom prst="roundRect">
            <a:avLst>
              <a:gd name="adj" fmla="val 2791"/>
            </a:avLst>
          </a:prstGeom>
          <a:solidFill>
            <a:srgbClr val="F2F5F8"/>
          </a:solidFill>
          <a:ln w="12700">
            <a:solidFill>
              <a:srgbClr val="333333"/>
            </a:solidFill>
            <a:prstDash val="solid"/>
          </a:ln>
        </p:spPr>
      </p:sp>
      <p:sp>
        <p:nvSpPr>
          <p:cNvPr id="31" name="Shape 29"/>
          <p:cNvSpPr/>
          <p:nvPr/>
        </p:nvSpPr>
        <p:spPr>
          <a:xfrm>
            <a:off x="8314944" y="3794760"/>
            <a:ext cx="384048" cy="384048"/>
          </a:xfrm>
          <a:prstGeom prst="ellipse">
            <a:avLst/>
          </a:prstGeom>
          <a:solidFill>
            <a:srgbClr val="D9901F"/>
          </a:solidFill>
          <a:ln w="12700">
            <a:solidFill>
              <a:srgbClr val="333333"/>
            </a:solidFill>
            <a:prstDash val="solid"/>
          </a:ln>
        </p:spPr>
      </p:sp>
      <p:sp>
        <p:nvSpPr>
          <p:cNvPr id="32" name="Text 30"/>
          <p:cNvSpPr txBox="1"/>
          <p:nvPr/>
        </p:nvSpPr>
        <p:spPr>
          <a:xfrm>
            <a:off x="8314944" y="3794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txBox="1"/>
          <p:nvPr/>
        </p:nvSpPr>
        <p:spPr>
          <a:xfrm>
            <a:off x="8333232" y="430682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Measure it</a:t>
            </a:r>
            <a:endParaRPr lang="en-US" sz="1500" dirty="0"/>
          </a:p>
        </p:txBody>
      </p:sp>
      <p:sp>
        <p:nvSpPr>
          <p:cNvPr id="34" name="Text 32"/>
          <p:cNvSpPr txBox="1"/>
          <p:nvPr/>
        </p:nvSpPr>
        <p:spPr>
          <a:xfrm>
            <a:off x="8333232" y="4617720"/>
            <a:ext cx="2996184" cy="8321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Time 10 million inserts with doubling, with 1.5x, and with +1 growth. The difference is the point of hint 3, in seconds.</a:t>
            </a:r>
            <a:endParaRPr lang="en-US" sz="120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449324"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449324"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self-assessment</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Checklist: exercise A</a:t>
            </a:r>
            <a:endParaRPr lang="en-US" sz="3000" dirty="0"/>
          </a:p>
        </p:txBody>
      </p:sp>
      <p:sp>
        <p:nvSpPr>
          <p:cNvPr id="5" name="Text 3"/>
          <p:cNvSpPr txBox="1"/>
          <p:nvPr/>
        </p:nvSpPr>
        <p:spPr>
          <a:xfrm>
            <a:off x="640080" y="1188720"/>
            <a:ext cx="10908792" cy="365760"/>
          </a:xfrm>
          <a:prstGeom prst="rect">
            <a:avLst/>
          </a:prstGeom>
          <a:noFill/>
          <a:ln/>
        </p:spPr>
        <p:txBody>
          <a:bodyPr wrap="square" lIns="0" tIns="0" rIns="0" bIns="0" rtlCol="0" anchor="t"/>
          <a:lstStyle/>
          <a:p>
            <a:pPr indent="0" marL="0">
              <a:lnSpc>
                <a:spcPts val="1823"/>
              </a:lnSpc>
              <a:buNone/>
            </a:pPr>
            <a:r>
              <a:rPr lang="en-US" sz="1350" dirty="0">
                <a:solidFill>
                  <a:srgbClr val="62707E"/>
                </a:solidFill>
                <a:latin typeface="Calibri" pitchFamily="34" charset="0"/>
                <a:ea typeface="Calibri" pitchFamily="34" charset="-122"/>
                <a:cs typeface="Calibri" pitchFamily="34" charset="-120"/>
              </a:rPr>
              <a:t>You are finished when you can answer yes to all of these without checking the code again.</a:t>
            </a:r>
            <a:endParaRPr lang="en-US" sz="1350" dirty="0"/>
          </a:p>
        </p:txBody>
      </p:sp>
      <p:sp>
        <p:nvSpPr>
          <p:cNvPr id="6" name="Shape 4"/>
          <p:cNvSpPr/>
          <p:nvPr/>
        </p:nvSpPr>
        <p:spPr>
          <a:xfrm>
            <a:off x="640080" y="1828800"/>
            <a:ext cx="5294376" cy="914400"/>
          </a:xfrm>
          <a:prstGeom prst="roundRect">
            <a:avLst>
              <a:gd name="adj" fmla="val 6000"/>
            </a:avLst>
          </a:prstGeom>
          <a:solidFill>
            <a:srgbClr val="F2F5F8"/>
          </a:solidFill>
          <a:ln w="12700">
            <a:solidFill>
              <a:srgbClr val="333333"/>
            </a:solidFill>
            <a:prstDash val="solid"/>
          </a:ln>
        </p:spPr>
      </p:sp>
      <p:sp>
        <p:nvSpPr>
          <p:cNvPr id="7" name="Shape 5"/>
          <p:cNvSpPr/>
          <p:nvPr/>
        </p:nvSpPr>
        <p:spPr>
          <a:xfrm>
            <a:off x="877824" y="2103120"/>
            <a:ext cx="237744" cy="237744"/>
          </a:xfrm>
          <a:prstGeom prst="ellipse">
            <a:avLst/>
          </a:prstGeom>
          <a:solidFill>
            <a:srgbClr val="D9901F"/>
          </a:solidFill>
          <a:ln w="12700">
            <a:solidFill>
              <a:srgbClr val="333333"/>
            </a:solidFill>
            <a:prstDash val="solid"/>
          </a:ln>
        </p:spPr>
      </p:sp>
      <p:sp>
        <p:nvSpPr>
          <p:cNvPr id="8" name="Text 6"/>
          <p:cNvSpPr txBox="1"/>
          <p:nvPr/>
        </p:nvSpPr>
        <p:spPr>
          <a:xfrm>
            <a:off x="1261872" y="1975104"/>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main() runs and prints 12 then 1000</a:t>
            </a:r>
            <a:endParaRPr lang="en-US" sz="1300" dirty="0"/>
          </a:p>
        </p:txBody>
      </p:sp>
      <p:sp>
        <p:nvSpPr>
          <p:cNvPr id="9" name="Text 7"/>
          <p:cNvSpPr txBox="1"/>
          <p:nvPr/>
        </p:nvSpPr>
        <p:spPr>
          <a:xfrm>
            <a:off x="1261872" y="2258568"/>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with -Wall -Wextra and not one warning.</a:t>
            </a:r>
            <a:endParaRPr lang="en-US" sz="1150" dirty="0"/>
          </a:p>
        </p:txBody>
      </p:sp>
      <p:sp>
        <p:nvSpPr>
          <p:cNvPr id="10" name="Shape 8"/>
          <p:cNvSpPr/>
          <p:nvPr/>
        </p:nvSpPr>
        <p:spPr>
          <a:xfrm>
            <a:off x="640080" y="2907792"/>
            <a:ext cx="5294376" cy="914400"/>
          </a:xfrm>
          <a:prstGeom prst="roundRect">
            <a:avLst>
              <a:gd name="adj" fmla="val 6000"/>
            </a:avLst>
          </a:prstGeom>
          <a:solidFill>
            <a:srgbClr val="F2F5F8"/>
          </a:solidFill>
          <a:ln w="12700">
            <a:solidFill>
              <a:srgbClr val="333333"/>
            </a:solidFill>
            <a:prstDash val="solid"/>
          </a:ln>
        </p:spPr>
      </p:sp>
      <p:sp>
        <p:nvSpPr>
          <p:cNvPr id="11" name="Shape 9"/>
          <p:cNvSpPr/>
          <p:nvPr/>
        </p:nvSpPr>
        <p:spPr>
          <a:xfrm>
            <a:off x="877824" y="3182112"/>
            <a:ext cx="237744" cy="237744"/>
          </a:xfrm>
          <a:prstGeom prst="ellipse">
            <a:avLst/>
          </a:prstGeom>
          <a:solidFill>
            <a:srgbClr val="D9901F"/>
          </a:solidFill>
          <a:ln w="12700">
            <a:solidFill>
              <a:srgbClr val="333333"/>
            </a:solidFill>
            <a:prstDash val="solid"/>
          </a:ln>
        </p:spPr>
      </p:sp>
      <p:sp>
        <p:nvSpPr>
          <p:cNvPr id="12" name="Text 10"/>
          <p:cNvSpPr txBox="1"/>
          <p:nvPr/>
        </p:nvSpPr>
        <p:spPr>
          <a:xfrm>
            <a:off x="1261872" y="3054096"/>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The sanitizer build is silent</a:t>
            </a:r>
            <a:endParaRPr lang="en-US" sz="1300" dirty="0"/>
          </a:p>
        </p:txBody>
      </p:sp>
      <p:sp>
        <p:nvSpPr>
          <p:cNvPr id="13" name="Text 11"/>
          <p:cNvSpPr txBox="1"/>
          <p:nvPr/>
        </p:nvSpPr>
        <p:spPr>
          <a:xfrm>
            <a:off x="1261872" y="3337560"/>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no overflow, no leak, no use after free.</a:t>
            </a:r>
            <a:endParaRPr lang="en-US" sz="1150" dirty="0"/>
          </a:p>
        </p:txBody>
      </p:sp>
      <p:sp>
        <p:nvSpPr>
          <p:cNvPr id="14" name="Shape 12"/>
          <p:cNvSpPr/>
          <p:nvPr/>
        </p:nvSpPr>
        <p:spPr>
          <a:xfrm>
            <a:off x="640080" y="3986784"/>
            <a:ext cx="5294376" cy="914400"/>
          </a:xfrm>
          <a:prstGeom prst="roundRect">
            <a:avLst>
              <a:gd name="adj" fmla="val 6000"/>
            </a:avLst>
          </a:prstGeom>
          <a:solidFill>
            <a:srgbClr val="F2F5F8"/>
          </a:solidFill>
          <a:ln w="12700">
            <a:solidFill>
              <a:srgbClr val="333333"/>
            </a:solidFill>
            <a:prstDash val="solid"/>
          </a:ln>
        </p:spPr>
      </p:sp>
      <p:sp>
        <p:nvSpPr>
          <p:cNvPr id="15" name="Shape 13"/>
          <p:cNvSpPr/>
          <p:nvPr/>
        </p:nvSpPr>
        <p:spPr>
          <a:xfrm>
            <a:off x="877824" y="4261104"/>
            <a:ext cx="237744" cy="237744"/>
          </a:xfrm>
          <a:prstGeom prst="ellipse">
            <a:avLst/>
          </a:prstGeom>
          <a:solidFill>
            <a:srgbClr val="D9901F"/>
          </a:solidFill>
          <a:ln w="12700">
            <a:solidFill>
              <a:srgbClr val="333333"/>
            </a:solidFill>
            <a:prstDash val="solid"/>
          </a:ln>
        </p:spPr>
      </p:sp>
      <p:sp>
        <p:nvSpPr>
          <p:cNvPr id="16" name="Text 14"/>
          <p:cNvSpPr txBox="1"/>
          <p:nvPr/>
        </p:nvSpPr>
        <p:spPr>
          <a:xfrm>
            <a:off x="1261872" y="4133088"/>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used and size are never confused</a:t>
            </a:r>
            <a:endParaRPr lang="en-US" sz="1300" dirty="0"/>
          </a:p>
        </p:txBody>
      </p:sp>
      <p:sp>
        <p:nvSpPr>
          <p:cNvPr id="17" name="Text 15"/>
          <p:cNvSpPr txBox="1"/>
          <p:nvPr/>
        </p:nvSpPr>
        <p:spPr>
          <a:xfrm>
            <a:off x="1261872" y="4416552"/>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you can say which one main() prints, and why.</a:t>
            </a:r>
            <a:endParaRPr lang="en-US" sz="1150" dirty="0"/>
          </a:p>
        </p:txBody>
      </p:sp>
      <p:sp>
        <p:nvSpPr>
          <p:cNvPr id="18" name="Shape 16"/>
          <p:cNvSpPr/>
          <p:nvPr/>
        </p:nvSpPr>
        <p:spPr>
          <a:xfrm>
            <a:off x="640080" y="5065776"/>
            <a:ext cx="5294376" cy="914400"/>
          </a:xfrm>
          <a:prstGeom prst="roundRect">
            <a:avLst>
              <a:gd name="adj" fmla="val 6000"/>
            </a:avLst>
          </a:prstGeom>
          <a:solidFill>
            <a:srgbClr val="F2F5F8"/>
          </a:solidFill>
          <a:ln w="12700">
            <a:solidFill>
              <a:srgbClr val="333333"/>
            </a:solidFill>
            <a:prstDash val="solid"/>
          </a:ln>
        </p:spPr>
      </p:sp>
      <p:sp>
        <p:nvSpPr>
          <p:cNvPr id="19" name="Shape 17"/>
          <p:cNvSpPr/>
          <p:nvPr/>
        </p:nvSpPr>
        <p:spPr>
          <a:xfrm>
            <a:off x="877824" y="5340096"/>
            <a:ext cx="237744" cy="237744"/>
          </a:xfrm>
          <a:prstGeom prst="ellipse">
            <a:avLst/>
          </a:prstGeom>
          <a:solidFill>
            <a:srgbClr val="D9901F"/>
          </a:solidFill>
          <a:ln w="12700">
            <a:solidFill>
              <a:srgbClr val="333333"/>
            </a:solidFill>
            <a:prstDash val="solid"/>
          </a:ln>
        </p:spPr>
      </p:sp>
      <p:sp>
        <p:nvSpPr>
          <p:cNvPr id="20" name="Text 18"/>
          <p:cNvSpPr txBox="1"/>
          <p:nvPr/>
        </p:nvSpPr>
        <p:spPr>
          <a:xfrm>
            <a:off x="1261872" y="5212080"/>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realloc's return value is assigned back</a:t>
            </a:r>
            <a:endParaRPr lang="en-US" sz="1300" dirty="0"/>
          </a:p>
        </p:txBody>
      </p:sp>
      <p:sp>
        <p:nvSpPr>
          <p:cNvPr id="21" name="Text 19"/>
          <p:cNvSpPr txBox="1"/>
          <p:nvPr/>
        </p:nvSpPr>
        <p:spPr>
          <a:xfrm>
            <a:off x="1261872" y="5495544"/>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and you know what happens if it returns NULL.</a:t>
            </a:r>
            <a:endParaRPr lang="en-US" sz="1150" dirty="0"/>
          </a:p>
        </p:txBody>
      </p:sp>
      <p:sp>
        <p:nvSpPr>
          <p:cNvPr id="22" name="Shape 20"/>
          <p:cNvSpPr/>
          <p:nvPr/>
        </p:nvSpPr>
        <p:spPr>
          <a:xfrm>
            <a:off x="6254496" y="1828800"/>
            <a:ext cx="5294376" cy="914400"/>
          </a:xfrm>
          <a:prstGeom prst="roundRect">
            <a:avLst>
              <a:gd name="adj" fmla="val 6000"/>
            </a:avLst>
          </a:prstGeom>
          <a:solidFill>
            <a:srgbClr val="F2F5F8"/>
          </a:solidFill>
          <a:ln w="12700">
            <a:solidFill>
              <a:srgbClr val="333333"/>
            </a:solidFill>
            <a:prstDash val="solid"/>
          </a:ln>
        </p:spPr>
      </p:sp>
      <p:sp>
        <p:nvSpPr>
          <p:cNvPr id="23" name="Shape 21"/>
          <p:cNvSpPr/>
          <p:nvPr/>
        </p:nvSpPr>
        <p:spPr>
          <a:xfrm>
            <a:off x="6492240" y="2103120"/>
            <a:ext cx="237744" cy="237744"/>
          </a:xfrm>
          <a:prstGeom prst="ellipse">
            <a:avLst/>
          </a:prstGeom>
          <a:solidFill>
            <a:srgbClr val="D9901F"/>
          </a:solidFill>
          <a:ln w="12700">
            <a:solidFill>
              <a:srgbClr val="333333"/>
            </a:solidFill>
            <a:prstDash val="solid"/>
          </a:ln>
        </p:spPr>
      </p:sp>
      <p:sp>
        <p:nvSpPr>
          <p:cNvPr id="24" name="Text 22"/>
          <p:cNvSpPr txBox="1"/>
          <p:nvPr/>
        </p:nvSpPr>
        <p:spPr>
          <a:xfrm>
            <a:off x="6876288" y="1975104"/>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free_arr leaves nothing dereferenceable</a:t>
            </a:r>
            <a:endParaRPr lang="en-US" sz="1300" dirty="0"/>
          </a:p>
        </p:txBody>
      </p:sp>
      <p:sp>
        <p:nvSpPr>
          <p:cNvPr id="25" name="Text 23"/>
          <p:cNvSpPr txBox="1"/>
          <p:nvPr/>
        </p:nvSpPr>
        <p:spPr>
          <a:xfrm>
            <a:off x="6876288" y="2258568"/>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calling it twice does not crash.</a:t>
            </a:r>
            <a:endParaRPr lang="en-US" sz="1150" dirty="0"/>
          </a:p>
        </p:txBody>
      </p:sp>
      <p:sp>
        <p:nvSpPr>
          <p:cNvPr id="26" name="Shape 24"/>
          <p:cNvSpPr/>
          <p:nvPr/>
        </p:nvSpPr>
        <p:spPr>
          <a:xfrm>
            <a:off x="6254496" y="2907792"/>
            <a:ext cx="5294376" cy="914400"/>
          </a:xfrm>
          <a:prstGeom prst="roundRect">
            <a:avLst>
              <a:gd name="adj" fmla="val 6000"/>
            </a:avLst>
          </a:prstGeom>
          <a:solidFill>
            <a:srgbClr val="F2F5F8"/>
          </a:solidFill>
          <a:ln w="12700">
            <a:solidFill>
              <a:srgbClr val="333333"/>
            </a:solidFill>
            <a:prstDash val="solid"/>
          </a:ln>
        </p:spPr>
      </p:sp>
      <p:sp>
        <p:nvSpPr>
          <p:cNvPr id="27" name="Shape 25"/>
          <p:cNvSpPr/>
          <p:nvPr/>
        </p:nvSpPr>
        <p:spPr>
          <a:xfrm>
            <a:off x="6492240" y="3182112"/>
            <a:ext cx="237744" cy="237744"/>
          </a:xfrm>
          <a:prstGeom prst="ellipse">
            <a:avLst/>
          </a:prstGeom>
          <a:solidFill>
            <a:srgbClr val="D9901F"/>
          </a:solidFill>
          <a:ln w="12700">
            <a:solidFill>
              <a:srgbClr val="333333"/>
            </a:solidFill>
            <a:prstDash val="solid"/>
          </a:ln>
        </p:spPr>
      </p:sp>
      <p:sp>
        <p:nvSpPr>
          <p:cNvPr id="28" name="Text 26"/>
          <p:cNvSpPr txBox="1"/>
          <p:nvPr/>
        </p:nvSpPr>
        <p:spPr>
          <a:xfrm>
            <a:off x="6876288" y="3054096"/>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You can name who frees the struct</a:t>
            </a:r>
            <a:endParaRPr lang="en-US" sz="1300" dirty="0"/>
          </a:p>
        </p:txBody>
      </p:sp>
      <p:sp>
        <p:nvSpPr>
          <p:cNvPr id="29" name="Text 27"/>
          <p:cNvSpPr txBox="1"/>
          <p:nvPr/>
        </p:nvSpPr>
        <p:spPr>
          <a:xfrm>
            <a:off x="6876288" y="3337560"/>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and it is not free_arr.</a:t>
            </a:r>
            <a:endParaRPr lang="en-US" sz="1150" dirty="0"/>
          </a:p>
        </p:txBody>
      </p:sp>
      <p:sp>
        <p:nvSpPr>
          <p:cNvPr id="30" name="Shape 28"/>
          <p:cNvSpPr/>
          <p:nvPr/>
        </p:nvSpPr>
        <p:spPr>
          <a:xfrm>
            <a:off x="6254496" y="3986784"/>
            <a:ext cx="5294376" cy="914400"/>
          </a:xfrm>
          <a:prstGeom prst="roundRect">
            <a:avLst>
              <a:gd name="adj" fmla="val 6000"/>
            </a:avLst>
          </a:prstGeom>
          <a:solidFill>
            <a:srgbClr val="F2F5F8"/>
          </a:solidFill>
          <a:ln w="12700">
            <a:solidFill>
              <a:srgbClr val="333333"/>
            </a:solidFill>
            <a:prstDash val="solid"/>
          </a:ln>
        </p:spPr>
      </p:sp>
      <p:sp>
        <p:nvSpPr>
          <p:cNvPr id="31" name="Shape 29"/>
          <p:cNvSpPr/>
          <p:nvPr/>
        </p:nvSpPr>
        <p:spPr>
          <a:xfrm>
            <a:off x="6492240" y="4261104"/>
            <a:ext cx="237744" cy="237744"/>
          </a:xfrm>
          <a:prstGeom prst="ellipse">
            <a:avLst/>
          </a:prstGeom>
          <a:solidFill>
            <a:srgbClr val="D9901F"/>
          </a:solidFill>
          <a:ln w="12700">
            <a:solidFill>
              <a:srgbClr val="333333"/>
            </a:solidFill>
            <a:prstDash val="solid"/>
          </a:ln>
        </p:spPr>
      </p:sp>
      <p:sp>
        <p:nvSpPr>
          <p:cNvPr id="32" name="Text 30"/>
          <p:cNvSpPr txBox="1"/>
          <p:nvPr/>
        </p:nvSpPr>
        <p:spPr>
          <a:xfrm>
            <a:off x="6876288" y="4133088"/>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The capacity grows in jumps</a:t>
            </a:r>
            <a:endParaRPr lang="en-US" sz="1300" dirty="0"/>
          </a:p>
        </p:txBody>
      </p:sp>
      <p:sp>
        <p:nvSpPr>
          <p:cNvPr id="33" name="Text 31"/>
          <p:cNvSpPr txBox="1"/>
          <p:nvPr/>
        </p:nvSpPr>
        <p:spPr>
          <a:xfrm>
            <a:off x="6876288" y="4416552"/>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and you can justify the factor you picked.</a:t>
            </a:r>
            <a:endParaRPr lang="en-US" sz="1150" dirty="0"/>
          </a:p>
        </p:txBody>
      </p:sp>
      <p:sp>
        <p:nvSpPr>
          <p:cNvPr id="34" name="Shape 32"/>
          <p:cNvSpPr/>
          <p:nvPr/>
        </p:nvSpPr>
        <p:spPr>
          <a:xfrm>
            <a:off x="6254496" y="5065776"/>
            <a:ext cx="5294376" cy="914400"/>
          </a:xfrm>
          <a:prstGeom prst="roundRect">
            <a:avLst>
              <a:gd name="adj" fmla="val 6000"/>
            </a:avLst>
          </a:prstGeom>
          <a:solidFill>
            <a:srgbClr val="F2F5F8"/>
          </a:solidFill>
          <a:ln w="12700">
            <a:solidFill>
              <a:srgbClr val="333333"/>
            </a:solidFill>
            <a:prstDash val="solid"/>
          </a:ln>
        </p:spPr>
      </p:sp>
      <p:sp>
        <p:nvSpPr>
          <p:cNvPr id="35" name="Shape 33"/>
          <p:cNvSpPr/>
          <p:nvPr/>
        </p:nvSpPr>
        <p:spPr>
          <a:xfrm>
            <a:off x="6492240" y="5340096"/>
            <a:ext cx="237744" cy="237744"/>
          </a:xfrm>
          <a:prstGeom prst="ellipse">
            <a:avLst/>
          </a:prstGeom>
          <a:solidFill>
            <a:srgbClr val="D9901F"/>
          </a:solidFill>
          <a:ln w="12700">
            <a:solidFill>
              <a:srgbClr val="333333"/>
            </a:solidFill>
            <a:prstDash val="solid"/>
          </a:ln>
        </p:spPr>
      </p:sp>
      <p:sp>
        <p:nvSpPr>
          <p:cNvPr id="36" name="Text 34"/>
          <p:cNvSpPr txBox="1"/>
          <p:nvPr/>
        </p:nvSpPr>
        <p:spPr>
          <a:xfrm>
            <a:off x="6876288" y="5212080"/>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It still works from a capacity of 1</a:t>
            </a:r>
            <a:endParaRPr lang="en-US" sz="1300" dirty="0"/>
          </a:p>
        </p:txBody>
      </p:sp>
      <p:sp>
        <p:nvSpPr>
          <p:cNvPr id="37" name="Text 35"/>
          <p:cNvSpPr txBox="1"/>
          <p:nvPr/>
        </p:nvSpPr>
        <p:spPr>
          <a:xfrm>
            <a:off x="6876288" y="5495544"/>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your growth rule has no hole at the bottom.</a:t>
            </a:r>
            <a:endParaRPr lang="en-US" sz="11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777240" y="1417320"/>
            <a:ext cx="2743200" cy="2194560"/>
          </a:xfrm>
          <a:prstGeom prst="rect">
            <a:avLst/>
          </a:prstGeom>
          <a:noFill/>
          <a:ln/>
        </p:spPr>
        <p:txBody>
          <a:bodyPr wrap="square" lIns="0" tIns="0" rIns="0" bIns="0" rtlCol="0" anchor="ctr"/>
          <a:lstStyle/>
          <a:p>
            <a:pPr indent="0" marL="0">
              <a:buNone/>
            </a:pPr>
            <a:r>
              <a:rPr lang="en-US" sz="15000" b="1" dirty="0">
                <a:solidFill>
                  <a:srgbClr val="D9901F"/>
                </a:solidFill>
                <a:latin typeface="Courier New" pitchFamily="34" charset="0"/>
                <a:ea typeface="Courier New" pitchFamily="34" charset="-122"/>
                <a:cs typeface="Courier New" pitchFamily="34" charset="-120"/>
              </a:rPr>
              <a:t>B</a:t>
            </a:r>
            <a:endParaRPr lang="en-US" sz="15000" dirty="0"/>
          </a:p>
        </p:txBody>
      </p:sp>
      <p:sp>
        <p:nvSpPr>
          <p:cNvPr id="3" name="Text 1"/>
          <p:cNvSpPr txBox="1"/>
          <p:nvPr/>
        </p:nvSpPr>
        <p:spPr>
          <a:xfrm>
            <a:off x="3931920" y="1600200"/>
            <a:ext cx="749808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Linked list</a:t>
            </a:r>
            <a:endParaRPr lang="en-US" sz="3600" dirty="0"/>
          </a:p>
        </p:txBody>
      </p:sp>
      <p:sp>
        <p:nvSpPr>
          <p:cNvPr id="4" name="Text 2"/>
          <p:cNvSpPr txBox="1"/>
          <p:nvPr/>
        </p:nvSpPr>
        <p:spPr>
          <a:xfrm>
            <a:off x="3931920" y="2450592"/>
            <a:ext cx="7498080" cy="640080"/>
          </a:xfrm>
          <a:prstGeom prst="rect">
            <a:avLst/>
          </a:prstGeom>
          <a:noFill/>
          <a:ln/>
        </p:spPr>
        <p:txBody>
          <a:bodyPr wrap="square" lIns="0" tIns="0" rIns="0" bIns="0" rtlCol="0" anchor="t"/>
          <a:lstStyle/>
          <a:p>
            <a:pPr indent="0" marL="0">
              <a:buNone/>
            </a:pPr>
            <a:r>
              <a:rPr lang="en-US" sz="1500" dirty="0">
                <a:solidFill>
                  <a:srgbClr val="A9B7C4"/>
                </a:solidFill>
                <a:latin typeface="Calibri" pitchFamily="34" charset="0"/>
                <a:ea typeface="Calibri" pitchFamily="34" charset="-122"/>
                <a:cs typeface="Calibri" pitchFamily="34" charset="-120"/>
              </a:rPr>
              <a:t>A chain of separately allocated nodes, each one holding a value and the address of the next. You are given a program that compiles, appears to run, and is wrong in at least four ways.</a:t>
            </a:r>
            <a:endParaRPr lang="en-US" sz="1500" dirty="0"/>
          </a:p>
        </p:txBody>
      </p:sp>
      <p:sp>
        <p:nvSpPr>
          <p:cNvPr id="5" name="Shape 3"/>
          <p:cNvSpPr/>
          <p:nvPr/>
        </p:nvSpPr>
        <p:spPr>
          <a:xfrm>
            <a:off x="3931920" y="3310128"/>
            <a:ext cx="7498080" cy="1627632"/>
          </a:xfrm>
          <a:prstGeom prst="roundRect">
            <a:avLst>
              <a:gd name="adj" fmla="val 4494"/>
            </a:avLst>
          </a:prstGeom>
          <a:solidFill>
            <a:srgbClr val="1E2A38"/>
          </a:solidFill>
          <a:ln w="12700">
            <a:solidFill>
              <a:srgbClr val="333333"/>
            </a:solidFill>
            <a:prstDash val="solid"/>
          </a:ln>
        </p:spPr>
      </p:sp>
      <p:sp>
        <p:nvSpPr>
          <p:cNvPr id="6" name="Text 4"/>
          <p:cNvSpPr txBox="1"/>
          <p:nvPr/>
        </p:nvSpPr>
        <p:spPr>
          <a:xfrm>
            <a:off x="4206240" y="3465576"/>
            <a:ext cx="6949440" cy="1335024"/>
          </a:xfrm>
          <a:prstGeom prst="rect">
            <a:avLst/>
          </a:prstGeom>
          <a:noFill/>
          <a:ln/>
        </p:spPr>
        <p:txBody>
          <a:bodyPr wrap="square" lIns="0" tIns="0" rIns="0" bIns="0" rtlCol="0" anchor="ctr"/>
          <a:lstStyle/>
          <a:p>
            <a:pPr marL="342900" indent="-342900">
              <a:spcAft>
                <a:spcPts val="300"/>
              </a:spcAft>
              <a:buSzPct val="100000"/>
              <a:buChar char="•"/>
            </a:pPr>
            <a:r>
              <a:rPr lang="en-US" sz="1300" dirty="0">
                <a:solidFill>
                  <a:srgbClr val="CFDAE4"/>
                </a:solidFill>
                <a:latin typeface="Calibri" pitchFamily="34" charset="0"/>
                <a:ea typeface="Calibri" pitchFamily="34" charset="-122"/>
                <a:cs typeface="Calibri" pitchFamily="34" charset="-120"/>
              </a:rPr>
              <a:t>Run it, then draw on paper what it actually builds</a:t>
            </a:r>
            <a:endParaRPr lang="en-US" sz="1300" dirty="0"/>
          </a:p>
          <a:p>
            <a:pPr marL="342900" indent="-342900">
              <a:spcAft>
                <a:spcPts val="300"/>
              </a:spcAft>
              <a:buSzPct val="100000"/>
              <a:buChar char="•"/>
            </a:pPr>
            <a:r>
              <a:rPr lang="en-US" sz="1300" dirty="0">
                <a:solidFill>
                  <a:srgbClr val="CFDAE4"/>
                </a:solidFill>
                <a:latin typeface="Calibri" pitchFamily="34" charset="0"/>
                <a:ea typeface="Calibri" pitchFamily="34" charset="-122"/>
                <a:cs typeface="Calibri" pitchFamily="34" charset="-120"/>
              </a:rPr>
              <a:t>Decide what marks the end of the list, and apply it everywhere</a:t>
            </a:r>
            <a:endParaRPr lang="en-US" sz="1300" dirty="0"/>
          </a:p>
          <a:p>
            <a:pPr marL="342900" indent="-342900">
              <a:spcAft>
                <a:spcPts val="300"/>
              </a:spcAft>
              <a:buSzPct val="100000"/>
              <a:buChar char="•"/>
            </a:pPr>
            <a:r>
              <a:rPr lang="en-US" sz="1300" dirty="0">
                <a:solidFill>
                  <a:srgbClr val="CFDAE4"/>
                </a:solidFill>
                <a:latin typeface="Calibri" pitchFamily="34" charset="0"/>
                <a:ea typeface="Calibri" pitchFamily="34" charset="-122"/>
                <a:cs typeface="Calibri" pitchFamily="34" charset="-120"/>
              </a:rPr>
              <a:t>Make print_list show every value exactly once</a:t>
            </a:r>
            <a:endParaRPr lang="en-US" sz="1300" dirty="0"/>
          </a:p>
          <a:p>
            <a:pPr marL="342900" indent="-342900">
              <a:spcAft>
                <a:spcPts val="300"/>
              </a:spcAft>
              <a:buSzPct val="100000"/>
              <a:buChar char="•"/>
            </a:pPr>
            <a:r>
              <a:rPr lang="en-US" sz="1300" dirty="0">
                <a:solidFill>
                  <a:srgbClr val="CFDAE4"/>
                </a:solidFill>
                <a:latin typeface="Calibri" pitchFamily="34" charset="0"/>
                <a:ea typeface="Calibri" pitchFamily="34" charset="-122"/>
                <a:cs typeface="Calibri" pitchFamily="34" charset="-120"/>
              </a:rPr>
              <a:t>Make erase_list free every node, and only once</a:t>
            </a:r>
            <a:endParaRPr lang="en-US" sz="130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A7A8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297534"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297534"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linked_list.c</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What a linked list is</a:t>
            </a:r>
            <a:endParaRPr lang="en-US" sz="3000" dirty="0"/>
          </a:p>
        </p:txBody>
      </p:sp>
      <p:sp>
        <p:nvSpPr>
          <p:cNvPr id="5" name="Text 3"/>
          <p:cNvSpPr txBox="1"/>
          <p:nvPr/>
        </p:nvSpPr>
        <p:spPr>
          <a:xfrm>
            <a:off x="640080" y="1188720"/>
            <a:ext cx="10908792" cy="365760"/>
          </a:xfrm>
          <a:prstGeom prst="rect">
            <a:avLst/>
          </a:prstGeom>
          <a:noFill/>
          <a:ln/>
        </p:spPr>
        <p:txBody>
          <a:bodyPr wrap="square" lIns="0" tIns="0" rIns="0" bIns="0" rtlCol="0" anchor="t"/>
          <a:lstStyle/>
          <a:p>
            <a:pPr indent="0" marL="0">
              <a:lnSpc>
                <a:spcPts val="1823"/>
              </a:lnSpc>
              <a:buNone/>
            </a:pPr>
            <a:r>
              <a:rPr lang="en-US" sz="1350" dirty="0">
                <a:solidFill>
                  <a:srgbClr val="62707E"/>
                </a:solidFill>
                <a:latin typeface="Calibri" pitchFamily="34" charset="0"/>
                <a:ea typeface="Calibri" pitchFamily="34" charset="-122"/>
                <a:cs typeface="Calibri" pitchFamily="34" charset="-120"/>
              </a:rPr>
              <a:t>No single block, no capacity, no realloc. Each node is its own small allocation, and every node knows only where the next one lives.</a:t>
            </a:r>
            <a:endParaRPr lang="en-US" sz="1350" dirty="0"/>
          </a:p>
        </p:txBody>
      </p:sp>
      <p:sp>
        <p:nvSpPr>
          <p:cNvPr id="6" name="Shape 4"/>
          <p:cNvSpPr/>
          <p:nvPr/>
        </p:nvSpPr>
        <p:spPr>
          <a:xfrm>
            <a:off x="640080" y="1737360"/>
            <a:ext cx="1417320" cy="914400"/>
          </a:xfrm>
          <a:prstGeom prst="roundRect">
            <a:avLst>
              <a:gd name="adj" fmla="val 6000"/>
            </a:avLst>
          </a:prstGeom>
          <a:solidFill>
            <a:srgbClr val="F2F5F8"/>
          </a:solidFill>
          <a:ln w="12700">
            <a:solidFill>
              <a:srgbClr val="333333"/>
            </a:solidFill>
            <a:prstDash val="solid"/>
          </a:ln>
        </p:spPr>
      </p:sp>
      <p:sp>
        <p:nvSpPr>
          <p:cNvPr id="7" name="Text 5"/>
          <p:cNvSpPr txBox="1"/>
          <p:nvPr/>
        </p:nvSpPr>
        <p:spPr>
          <a:xfrm>
            <a:off x="640080" y="1810512"/>
            <a:ext cx="1417320" cy="402336"/>
          </a:xfrm>
          <a:prstGeom prst="rect">
            <a:avLst/>
          </a:prstGeom>
          <a:noFill/>
          <a:ln/>
        </p:spPr>
        <p:txBody>
          <a:bodyPr wrap="square" lIns="0" tIns="0" rIns="0" bIns="0" rtlCol="0" anchor="ctr"/>
          <a:lstStyle/>
          <a:p>
            <a:pPr algn="ctr" indent="0" marL="0">
              <a:buNone/>
            </a:pPr>
            <a:r>
              <a:rPr lang="en-US" sz="1600" b="1" dirty="0">
                <a:solidFill>
                  <a:srgbClr val="16202B"/>
                </a:solidFill>
                <a:latin typeface="Courier New" pitchFamily="34" charset="0"/>
                <a:ea typeface="Courier New" pitchFamily="34" charset="-122"/>
                <a:cs typeface="Courier New" pitchFamily="34" charset="-120"/>
              </a:rPr>
              <a:t>0</a:t>
            </a:r>
            <a:endParaRPr lang="en-US" sz="1600" dirty="0"/>
          </a:p>
        </p:txBody>
      </p:sp>
      <p:sp>
        <p:nvSpPr>
          <p:cNvPr id="8" name="Text 6"/>
          <p:cNvSpPr txBox="1"/>
          <p:nvPr/>
        </p:nvSpPr>
        <p:spPr>
          <a:xfrm>
            <a:off x="640080" y="2231136"/>
            <a:ext cx="1417320" cy="274320"/>
          </a:xfrm>
          <a:prstGeom prst="rect">
            <a:avLst/>
          </a:prstGeom>
          <a:noFill/>
          <a:ln/>
        </p:spPr>
        <p:txBody>
          <a:bodyPr wrap="square" lIns="0" tIns="0" rIns="0" bIns="0" rtlCol="0" anchor="ctr"/>
          <a:lstStyle/>
          <a:p>
            <a:pPr algn="ctr" indent="0" marL="0">
              <a:buNone/>
            </a:pPr>
            <a:r>
              <a:rPr lang="en-US" sz="1050" dirty="0">
                <a:solidFill>
                  <a:srgbClr val="62707E"/>
                </a:solidFill>
                <a:latin typeface="Courier New" pitchFamily="34" charset="0"/>
                <a:ea typeface="Courier New" pitchFamily="34" charset="-122"/>
                <a:cs typeface="Courier New" pitchFamily="34" charset="-120"/>
              </a:rPr>
              <a:t>next</a:t>
            </a:r>
            <a:endParaRPr lang="en-US" sz="1050" dirty="0"/>
          </a:p>
        </p:txBody>
      </p:sp>
      <p:sp>
        <p:nvSpPr>
          <p:cNvPr id="9" name="Shape 7"/>
          <p:cNvSpPr/>
          <p:nvPr/>
        </p:nvSpPr>
        <p:spPr>
          <a:xfrm>
            <a:off x="2130552" y="2093976"/>
            <a:ext cx="274320" cy="201168"/>
          </a:xfrm>
          <a:prstGeom prst="rightArrow">
            <a:avLst/>
          </a:prstGeom>
          <a:solidFill>
            <a:srgbClr val="16202B"/>
          </a:solidFill>
          <a:ln w="12700">
            <a:solidFill>
              <a:srgbClr val="333333"/>
            </a:solidFill>
            <a:prstDash val="solid"/>
          </a:ln>
        </p:spPr>
      </p:sp>
      <p:sp>
        <p:nvSpPr>
          <p:cNvPr id="10" name="Shape 8"/>
          <p:cNvSpPr/>
          <p:nvPr/>
        </p:nvSpPr>
        <p:spPr>
          <a:xfrm>
            <a:off x="2478024" y="1737360"/>
            <a:ext cx="1417320" cy="914400"/>
          </a:xfrm>
          <a:prstGeom prst="roundRect">
            <a:avLst>
              <a:gd name="adj" fmla="val 6000"/>
            </a:avLst>
          </a:prstGeom>
          <a:solidFill>
            <a:srgbClr val="F2F5F8"/>
          </a:solidFill>
          <a:ln w="12700">
            <a:solidFill>
              <a:srgbClr val="333333"/>
            </a:solidFill>
            <a:prstDash val="solid"/>
          </a:ln>
        </p:spPr>
      </p:sp>
      <p:sp>
        <p:nvSpPr>
          <p:cNvPr id="11" name="Text 9"/>
          <p:cNvSpPr txBox="1"/>
          <p:nvPr/>
        </p:nvSpPr>
        <p:spPr>
          <a:xfrm>
            <a:off x="2478024" y="1810512"/>
            <a:ext cx="1417320" cy="402336"/>
          </a:xfrm>
          <a:prstGeom prst="rect">
            <a:avLst/>
          </a:prstGeom>
          <a:noFill/>
          <a:ln/>
        </p:spPr>
        <p:txBody>
          <a:bodyPr wrap="square" lIns="0" tIns="0" rIns="0" bIns="0" rtlCol="0" anchor="ctr"/>
          <a:lstStyle/>
          <a:p>
            <a:pPr algn="ctr" indent="0" marL="0">
              <a:buNone/>
            </a:pPr>
            <a:r>
              <a:rPr lang="en-US" sz="1600" b="1" dirty="0">
                <a:solidFill>
                  <a:srgbClr val="16202B"/>
                </a:solidFill>
                <a:latin typeface="Courier New" pitchFamily="34" charset="0"/>
                <a:ea typeface="Courier New" pitchFamily="34" charset="-122"/>
                <a:cs typeface="Courier New" pitchFamily="34" charset="-120"/>
              </a:rPr>
              <a:t>1</a:t>
            </a:r>
            <a:endParaRPr lang="en-US" sz="1600" dirty="0"/>
          </a:p>
        </p:txBody>
      </p:sp>
      <p:sp>
        <p:nvSpPr>
          <p:cNvPr id="12" name="Text 10"/>
          <p:cNvSpPr txBox="1"/>
          <p:nvPr/>
        </p:nvSpPr>
        <p:spPr>
          <a:xfrm>
            <a:off x="2478024" y="2231136"/>
            <a:ext cx="1417320" cy="274320"/>
          </a:xfrm>
          <a:prstGeom prst="rect">
            <a:avLst/>
          </a:prstGeom>
          <a:noFill/>
          <a:ln/>
        </p:spPr>
        <p:txBody>
          <a:bodyPr wrap="square" lIns="0" tIns="0" rIns="0" bIns="0" rtlCol="0" anchor="ctr"/>
          <a:lstStyle/>
          <a:p>
            <a:pPr algn="ctr" indent="0" marL="0">
              <a:buNone/>
            </a:pPr>
            <a:r>
              <a:rPr lang="en-US" sz="1050" dirty="0">
                <a:solidFill>
                  <a:srgbClr val="62707E"/>
                </a:solidFill>
                <a:latin typeface="Courier New" pitchFamily="34" charset="0"/>
                <a:ea typeface="Courier New" pitchFamily="34" charset="-122"/>
                <a:cs typeface="Courier New" pitchFamily="34" charset="-120"/>
              </a:rPr>
              <a:t>next</a:t>
            </a:r>
            <a:endParaRPr lang="en-US" sz="1050" dirty="0"/>
          </a:p>
        </p:txBody>
      </p:sp>
      <p:sp>
        <p:nvSpPr>
          <p:cNvPr id="13" name="Shape 11"/>
          <p:cNvSpPr/>
          <p:nvPr/>
        </p:nvSpPr>
        <p:spPr>
          <a:xfrm>
            <a:off x="3968496" y="2093976"/>
            <a:ext cx="274320" cy="201168"/>
          </a:xfrm>
          <a:prstGeom prst="rightArrow">
            <a:avLst/>
          </a:prstGeom>
          <a:solidFill>
            <a:srgbClr val="16202B"/>
          </a:solidFill>
          <a:ln w="12700">
            <a:solidFill>
              <a:srgbClr val="333333"/>
            </a:solidFill>
            <a:prstDash val="solid"/>
          </a:ln>
        </p:spPr>
      </p:sp>
      <p:sp>
        <p:nvSpPr>
          <p:cNvPr id="14" name="Shape 12"/>
          <p:cNvSpPr/>
          <p:nvPr/>
        </p:nvSpPr>
        <p:spPr>
          <a:xfrm>
            <a:off x="4315968" y="1737360"/>
            <a:ext cx="1417320" cy="914400"/>
          </a:xfrm>
          <a:prstGeom prst="roundRect">
            <a:avLst>
              <a:gd name="adj" fmla="val 6000"/>
            </a:avLst>
          </a:prstGeom>
          <a:solidFill>
            <a:srgbClr val="F2F5F8"/>
          </a:solidFill>
          <a:ln w="12700">
            <a:solidFill>
              <a:srgbClr val="333333"/>
            </a:solidFill>
            <a:prstDash val="solid"/>
          </a:ln>
        </p:spPr>
      </p:sp>
      <p:sp>
        <p:nvSpPr>
          <p:cNvPr id="15" name="Text 13"/>
          <p:cNvSpPr txBox="1"/>
          <p:nvPr/>
        </p:nvSpPr>
        <p:spPr>
          <a:xfrm>
            <a:off x="4315968" y="1810512"/>
            <a:ext cx="1417320" cy="402336"/>
          </a:xfrm>
          <a:prstGeom prst="rect">
            <a:avLst/>
          </a:prstGeom>
          <a:noFill/>
          <a:ln/>
        </p:spPr>
        <p:txBody>
          <a:bodyPr wrap="square" lIns="0" tIns="0" rIns="0" bIns="0" rtlCol="0" anchor="ctr"/>
          <a:lstStyle/>
          <a:p>
            <a:pPr algn="ctr" indent="0" marL="0">
              <a:buNone/>
            </a:pPr>
            <a:r>
              <a:rPr lang="en-US" sz="1600" b="1" dirty="0">
                <a:solidFill>
                  <a:srgbClr val="16202B"/>
                </a:solidFill>
                <a:latin typeface="Courier New" pitchFamily="34" charset="0"/>
                <a:ea typeface="Courier New" pitchFamily="34" charset="-122"/>
                <a:cs typeface="Courier New" pitchFamily="34" charset="-120"/>
              </a:rPr>
              <a:t>2</a:t>
            </a:r>
            <a:endParaRPr lang="en-US" sz="1600" dirty="0"/>
          </a:p>
        </p:txBody>
      </p:sp>
      <p:sp>
        <p:nvSpPr>
          <p:cNvPr id="16" name="Text 14"/>
          <p:cNvSpPr txBox="1"/>
          <p:nvPr/>
        </p:nvSpPr>
        <p:spPr>
          <a:xfrm>
            <a:off x="4315968" y="2231136"/>
            <a:ext cx="1417320" cy="274320"/>
          </a:xfrm>
          <a:prstGeom prst="rect">
            <a:avLst/>
          </a:prstGeom>
          <a:noFill/>
          <a:ln/>
        </p:spPr>
        <p:txBody>
          <a:bodyPr wrap="square" lIns="0" tIns="0" rIns="0" bIns="0" rtlCol="0" anchor="ctr"/>
          <a:lstStyle/>
          <a:p>
            <a:pPr algn="ctr" indent="0" marL="0">
              <a:buNone/>
            </a:pPr>
            <a:r>
              <a:rPr lang="en-US" sz="1050" dirty="0">
                <a:solidFill>
                  <a:srgbClr val="62707E"/>
                </a:solidFill>
                <a:latin typeface="Courier New" pitchFamily="34" charset="0"/>
                <a:ea typeface="Courier New" pitchFamily="34" charset="-122"/>
                <a:cs typeface="Courier New" pitchFamily="34" charset="-120"/>
              </a:rPr>
              <a:t>next</a:t>
            </a:r>
            <a:endParaRPr lang="en-US" sz="1050" dirty="0"/>
          </a:p>
        </p:txBody>
      </p:sp>
      <p:sp>
        <p:nvSpPr>
          <p:cNvPr id="17" name="Shape 15"/>
          <p:cNvSpPr/>
          <p:nvPr/>
        </p:nvSpPr>
        <p:spPr>
          <a:xfrm>
            <a:off x="5806440" y="2093976"/>
            <a:ext cx="274320" cy="201168"/>
          </a:xfrm>
          <a:prstGeom prst="rightArrow">
            <a:avLst/>
          </a:prstGeom>
          <a:solidFill>
            <a:srgbClr val="16202B"/>
          </a:solidFill>
          <a:ln w="12700">
            <a:solidFill>
              <a:srgbClr val="333333"/>
            </a:solidFill>
            <a:prstDash val="solid"/>
          </a:ln>
        </p:spPr>
      </p:sp>
      <p:sp>
        <p:nvSpPr>
          <p:cNvPr id="18" name="Shape 16"/>
          <p:cNvSpPr/>
          <p:nvPr/>
        </p:nvSpPr>
        <p:spPr>
          <a:xfrm>
            <a:off x="6153912" y="1737360"/>
            <a:ext cx="1417320" cy="914400"/>
          </a:xfrm>
          <a:prstGeom prst="roundRect">
            <a:avLst>
              <a:gd name="adj" fmla="val 6000"/>
            </a:avLst>
          </a:prstGeom>
          <a:solidFill>
            <a:srgbClr val="F2F5F8"/>
          </a:solidFill>
          <a:ln w="12700">
            <a:solidFill>
              <a:srgbClr val="333333"/>
            </a:solidFill>
            <a:prstDash val="solid"/>
          </a:ln>
        </p:spPr>
      </p:sp>
      <p:sp>
        <p:nvSpPr>
          <p:cNvPr id="19" name="Text 17"/>
          <p:cNvSpPr txBox="1"/>
          <p:nvPr/>
        </p:nvSpPr>
        <p:spPr>
          <a:xfrm>
            <a:off x="6153912" y="1810512"/>
            <a:ext cx="1417320" cy="402336"/>
          </a:xfrm>
          <a:prstGeom prst="rect">
            <a:avLst/>
          </a:prstGeom>
          <a:noFill/>
          <a:ln/>
        </p:spPr>
        <p:txBody>
          <a:bodyPr wrap="square" lIns="0" tIns="0" rIns="0" bIns="0" rtlCol="0" anchor="ctr"/>
          <a:lstStyle/>
          <a:p>
            <a:pPr algn="ctr" indent="0" marL="0">
              <a:buNone/>
            </a:pPr>
            <a:r>
              <a:rPr lang="en-US" sz="1600" b="1" dirty="0">
                <a:solidFill>
                  <a:srgbClr val="16202B"/>
                </a:solidFill>
                <a:latin typeface="Courier New" pitchFamily="34" charset="0"/>
                <a:ea typeface="Courier New" pitchFamily="34" charset="-122"/>
                <a:cs typeface="Courier New" pitchFamily="34" charset="-120"/>
              </a:rPr>
              <a:t>3</a:t>
            </a:r>
            <a:endParaRPr lang="en-US" sz="1600" dirty="0"/>
          </a:p>
        </p:txBody>
      </p:sp>
      <p:sp>
        <p:nvSpPr>
          <p:cNvPr id="20" name="Text 18"/>
          <p:cNvSpPr txBox="1"/>
          <p:nvPr/>
        </p:nvSpPr>
        <p:spPr>
          <a:xfrm>
            <a:off x="6153912" y="2231136"/>
            <a:ext cx="1417320" cy="274320"/>
          </a:xfrm>
          <a:prstGeom prst="rect">
            <a:avLst/>
          </a:prstGeom>
          <a:noFill/>
          <a:ln/>
        </p:spPr>
        <p:txBody>
          <a:bodyPr wrap="square" lIns="0" tIns="0" rIns="0" bIns="0" rtlCol="0" anchor="ctr"/>
          <a:lstStyle/>
          <a:p>
            <a:pPr algn="ctr" indent="0" marL="0">
              <a:buNone/>
            </a:pPr>
            <a:r>
              <a:rPr lang="en-US" sz="1050" dirty="0">
                <a:solidFill>
                  <a:srgbClr val="62707E"/>
                </a:solidFill>
                <a:latin typeface="Courier New" pitchFamily="34" charset="0"/>
                <a:ea typeface="Courier New" pitchFamily="34" charset="-122"/>
                <a:cs typeface="Courier New" pitchFamily="34" charset="-120"/>
              </a:rPr>
              <a:t>next</a:t>
            </a:r>
            <a:endParaRPr lang="en-US" sz="1050" dirty="0"/>
          </a:p>
        </p:txBody>
      </p:sp>
      <p:sp>
        <p:nvSpPr>
          <p:cNvPr id="21" name="Shape 19"/>
          <p:cNvSpPr/>
          <p:nvPr/>
        </p:nvSpPr>
        <p:spPr>
          <a:xfrm>
            <a:off x="7644384" y="2093976"/>
            <a:ext cx="274320" cy="201168"/>
          </a:xfrm>
          <a:prstGeom prst="rightArrow">
            <a:avLst/>
          </a:prstGeom>
          <a:solidFill>
            <a:srgbClr val="16202B"/>
          </a:solidFill>
          <a:ln w="12700">
            <a:solidFill>
              <a:srgbClr val="333333"/>
            </a:solidFill>
            <a:prstDash val="solid"/>
          </a:ln>
        </p:spPr>
      </p:sp>
      <p:sp>
        <p:nvSpPr>
          <p:cNvPr id="22" name="Shape 20"/>
          <p:cNvSpPr/>
          <p:nvPr/>
        </p:nvSpPr>
        <p:spPr>
          <a:xfrm>
            <a:off x="7991856" y="1737360"/>
            <a:ext cx="914400" cy="914400"/>
          </a:xfrm>
          <a:prstGeom prst="roundRect">
            <a:avLst>
              <a:gd name="adj" fmla="val 6000"/>
            </a:avLst>
          </a:prstGeom>
          <a:solidFill>
            <a:srgbClr val="16202B"/>
          </a:solidFill>
          <a:ln w="12700">
            <a:solidFill>
              <a:srgbClr val="333333"/>
            </a:solidFill>
            <a:prstDash val="solid"/>
          </a:ln>
        </p:spPr>
      </p:sp>
      <p:sp>
        <p:nvSpPr>
          <p:cNvPr id="23" name="Text 21"/>
          <p:cNvSpPr txBox="1"/>
          <p:nvPr/>
        </p:nvSpPr>
        <p:spPr>
          <a:xfrm>
            <a:off x="7991856" y="1737360"/>
            <a:ext cx="914400" cy="914400"/>
          </a:xfrm>
          <a:prstGeom prst="rect">
            <a:avLst/>
          </a:prstGeom>
          <a:noFill/>
          <a:ln/>
        </p:spPr>
        <p:txBody>
          <a:bodyPr wrap="square" lIns="0" tIns="0" rIns="0" bIns="0" rtlCol="0" anchor="ctr"/>
          <a:lstStyle/>
          <a:p>
            <a:pPr algn="ctr" indent="0" marL="0">
              <a:buNone/>
            </a:pPr>
            <a:r>
              <a:rPr lang="en-US" sz="1200" b="1" dirty="0">
                <a:solidFill>
                  <a:srgbClr val="8FD9AE"/>
                </a:solidFill>
                <a:latin typeface="Courier New" pitchFamily="34" charset="0"/>
                <a:ea typeface="Courier New" pitchFamily="34" charset="-122"/>
                <a:cs typeface="Courier New" pitchFamily="34" charset="-120"/>
              </a:rPr>
              <a:t>NULL</a:t>
            </a:r>
            <a:endParaRPr lang="en-US" sz="1200" dirty="0"/>
          </a:p>
        </p:txBody>
      </p:sp>
      <p:sp>
        <p:nvSpPr>
          <p:cNvPr id="24" name="Text 22"/>
          <p:cNvSpPr txBox="1"/>
          <p:nvPr/>
        </p:nvSpPr>
        <p:spPr>
          <a:xfrm>
            <a:off x="640080" y="2724912"/>
            <a:ext cx="1417320" cy="237744"/>
          </a:xfrm>
          <a:prstGeom prst="rect">
            <a:avLst/>
          </a:prstGeom>
          <a:noFill/>
          <a:ln/>
        </p:spPr>
        <p:txBody>
          <a:bodyPr wrap="square" lIns="0" tIns="0" rIns="0" bIns="0" rtlCol="0" anchor="ctr"/>
          <a:lstStyle/>
          <a:p>
            <a:pPr algn="ctr" indent="0" marL="0">
              <a:buNone/>
            </a:pPr>
            <a:r>
              <a:rPr lang="en-US" sz="1150" b="1" dirty="0">
                <a:solidFill>
                  <a:srgbClr val="D9901F"/>
                </a:solidFill>
                <a:latin typeface="Courier New" pitchFamily="34" charset="0"/>
                <a:ea typeface="Courier New" pitchFamily="34" charset="-122"/>
                <a:cs typeface="Courier New" pitchFamily="34" charset="-120"/>
              </a:rPr>
              <a:t>head</a:t>
            </a:r>
            <a:endParaRPr lang="en-US" sz="1150" dirty="0"/>
          </a:p>
        </p:txBody>
      </p:sp>
      <p:sp>
        <p:nvSpPr>
          <p:cNvPr id="25" name="Text 23"/>
          <p:cNvSpPr txBox="1"/>
          <p:nvPr/>
        </p:nvSpPr>
        <p:spPr>
          <a:xfrm>
            <a:off x="7626096" y="2724912"/>
            <a:ext cx="1645920" cy="237744"/>
          </a:xfrm>
          <a:prstGeom prst="rect">
            <a:avLst/>
          </a:prstGeom>
          <a:noFill/>
          <a:ln/>
        </p:spPr>
        <p:txBody>
          <a:bodyPr wrap="square" lIns="0" tIns="0" rIns="0" bIns="0" rtlCol="0" anchor="ctr"/>
          <a:lstStyle/>
          <a:p>
            <a:pPr algn="ctr" indent="0" marL="0">
              <a:buNone/>
            </a:pPr>
            <a:r>
              <a:rPr lang="en-US" sz="1150" dirty="0">
                <a:solidFill>
                  <a:srgbClr val="62707E"/>
                </a:solidFill>
                <a:latin typeface="Courier New" pitchFamily="34" charset="0"/>
                <a:ea typeface="Courier New" pitchFamily="34" charset="-122"/>
                <a:cs typeface="Courier New" pitchFamily="34" charset="-120"/>
              </a:rPr>
              <a:t>the end marker</a:t>
            </a:r>
            <a:endParaRPr lang="en-US" sz="1150" dirty="0"/>
          </a:p>
        </p:txBody>
      </p:sp>
      <p:sp>
        <p:nvSpPr>
          <p:cNvPr id="26" name="Shape 24"/>
          <p:cNvSpPr/>
          <p:nvPr/>
        </p:nvSpPr>
        <p:spPr>
          <a:xfrm>
            <a:off x="640080" y="3246120"/>
            <a:ext cx="3453384" cy="1600200"/>
          </a:xfrm>
          <a:prstGeom prst="roundRect">
            <a:avLst>
              <a:gd name="adj" fmla="val 3429"/>
            </a:avLst>
          </a:prstGeom>
          <a:solidFill>
            <a:srgbClr val="F2F5F8"/>
          </a:solidFill>
          <a:ln w="12700">
            <a:solidFill>
              <a:srgbClr val="333333"/>
            </a:solidFill>
            <a:prstDash val="solid"/>
          </a:ln>
        </p:spPr>
      </p:sp>
      <p:sp>
        <p:nvSpPr>
          <p:cNvPr id="27" name="Text 25"/>
          <p:cNvSpPr txBox="1"/>
          <p:nvPr/>
        </p:nvSpPr>
        <p:spPr>
          <a:xfrm>
            <a:off x="877824" y="3429000"/>
            <a:ext cx="2996184" cy="274320"/>
          </a:xfrm>
          <a:prstGeom prst="rect">
            <a:avLst/>
          </a:prstGeom>
          <a:noFill/>
          <a:ln/>
        </p:spPr>
        <p:txBody>
          <a:bodyPr wrap="square" lIns="0" tIns="0" rIns="0" bIns="0"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Growing costs nothing</a:t>
            </a:r>
            <a:endParaRPr lang="en-US" sz="1400" dirty="0"/>
          </a:p>
        </p:txBody>
      </p:sp>
      <p:sp>
        <p:nvSpPr>
          <p:cNvPr id="28" name="Text 26"/>
          <p:cNvSpPr txBox="1"/>
          <p:nvPr/>
        </p:nvSpPr>
        <p:spPr>
          <a:xfrm>
            <a:off x="877824" y="3739896"/>
            <a:ext cx="2996184" cy="978408"/>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Adding a node is one malloc and one pointer assignment. Nothing is ever copied, and there is no capacity to run out of.</a:t>
            </a:r>
            <a:endParaRPr lang="en-US" sz="1200" dirty="0"/>
          </a:p>
        </p:txBody>
      </p:sp>
      <p:sp>
        <p:nvSpPr>
          <p:cNvPr id="29" name="Shape 27"/>
          <p:cNvSpPr/>
          <p:nvPr/>
        </p:nvSpPr>
        <p:spPr>
          <a:xfrm>
            <a:off x="4367784" y="3246120"/>
            <a:ext cx="3453384" cy="1600200"/>
          </a:xfrm>
          <a:prstGeom prst="roundRect">
            <a:avLst>
              <a:gd name="adj" fmla="val 3429"/>
            </a:avLst>
          </a:prstGeom>
          <a:solidFill>
            <a:srgbClr val="F2F5F8"/>
          </a:solidFill>
          <a:ln w="12700">
            <a:solidFill>
              <a:srgbClr val="333333"/>
            </a:solidFill>
            <a:prstDash val="solid"/>
          </a:ln>
        </p:spPr>
      </p:sp>
      <p:sp>
        <p:nvSpPr>
          <p:cNvPr id="30" name="Text 28"/>
          <p:cNvSpPr txBox="1"/>
          <p:nvPr/>
        </p:nvSpPr>
        <p:spPr>
          <a:xfrm>
            <a:off x="4605528" y="3429000"/>
            <a:ext cx="2996184" cy="274320"/>
          </a:xfrm>
          <a:prstGeom prst="rect">
            <a:avLst/>
          </a:prstGeom>
          <a:noFill/>
          <a:ln/>
        </p:spPr>
        <p:txBody>
          <a:bodyPr wrap="square" lIns="0" tIns="0" rIns="0" bIns="0"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Reaching element 500</a:t>
            </a:r>
            <a:endParaRPr lang="en-US" sz="1400" dirty="0"/>
          </a:p>
        </p:txBody>
      </p:sp>
      <p:sp>
        <p:nvSpPr>
          <p:cNvPr id="31" name="Text 29"/>
          <p:cNvSpPr txBox="1"/>
          <p:nvPr/>
        </p:nvSpPr>
        <p:spPr>
          <a:xfrm>
            <a:off x="4605528" y="3739896"/>
            <a:ext cx="2996184" cy="978408"/>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means walking 500 nodes. There is no arithmetic that jumps straight to it, because the nodes are scattered across the heap.</a:t>
            </a:r>
            <a:endParaRPr lang="en-US" sz="1200" dirty="0"/>
          </a:p>
        </p:txBody>
      </p:sp>
      <p:sp>
        <p:nvSpPr>
          <p:cNvPr id="32" name="Shape 30"/>
          <p:cNvSpPr/>
          <p:nvPr/>
        </p:nvSpPr>
        <p:spPr>
          <a:xfrm>
            <a:off x="8095488" y="3246120"/>
            <a:ext cx="3453384" cy="1600200"/>
          </a:xfrm>
          <a:prstGeom prst="roundRect">
            <a:avLst>
              <a:gd name="adj" fmla="val 3429"/>
            </a:avLst>
          </a:prstGeom>
          <a:solidFill>
            <a:srgbClr val="F2F5F8"/>
          </a:solidFill>
          <a:ln w="12700">
            <a:solidFill>
              <a:srgbClr val="333333"/>
            </a:solidFill>
            <a:prstDash val="solid"/>
          </a:ln>
        </p:spPr>
      </p:sp>
      <p:sp>
        <p:nvSpPr>
          <p:cNvPr id="33" name="Text 31"/>
          <p:cNvSpPr txBox="1"/>
          <p:nvPr/>
        </p:nvSpPr>
        <p:spPr>
          <a:xfrm>
            <a:off x="8333232" y="3429000"/>
            <a:ext cx="2996184" cy="274320"/>
          </a:xfrm>
          <a:prstGeom prst="rect">
            <a:avLst/>
          </a:prstGeom>
          <a:noFill/>
          <a:ln/>
        </p:spPr>
        <p:txBody>
          <a:bodyPr wrap="square" lIns="0" tIns="0" rIns="0" bIns="0" rtlCol="0" anchor="ctr"/>
          <a:lstStyle/>
          <a:p>
            <a:pPr indent="0" marL="0">
              <a:buNone/>
            </a:pPr>
            <a:r>
              <a:rPr lang="en-US" sz="1400" b="1" dirty="0">
                <a:solidFill>
                  <a:srgbClr val="1A2530"/>
                </a:solidFill>
                <a:latin typeface="Calibri" pitchFamily="34" charset="0"/>
                <a:ea typeface="Calibri" pitchFamily="34" charset="-122"/>
                <a:cs typeface="Calibri" pitchFamily="34" charset="-120"/>
              </a:rPr>
              <a:t>Every node is a decision</a:t>
            </a:r>
            <a:endParaRPr lang="en-US" sz="1400" dirty="0"/>
          </a:p>
        </p:txBody>
      </p:sp>
      <p:sp>
        <p:nvSpPr>
          <p:cNvPr id="34" name="Text 32"/>
          <p:cNvSpPr txBox="1"/>
          <p:nvPr/>
        </p:nvSpPr>
        <p:spPr>
          <a:xfrm>
            <a:off x="8333232" y="3739896"/>
            <a:ext cx="2996184" cy="978408"/>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One malloc per node, one free per node. Lose the address of a node and you have lost everything after it too.</a:t>
            </a:r>
            <a:endParaRPr lang="en-US" sz="1200" dirty="0"/>
          </a:p>
        </p:txBody>
      </p:sp>
      <p:sp>
        <p:nvSpPr>
          <p:cNvPr id="35" name="Shape 33"/>
          <p:cNvSpPr/>
          <p:nvPr/>
        </p:nvSpPr>
        <p:spPr>
          <a:xfrm>
            <a:off x="640080" y="5029200"/>
            <a:ext cx="10908792" cy="1155700"/>
          </a:xfrm>
          <a:prstGeom prst="roundRect">
            <a:avLst>
              <a:gd name="adj" fmla="val 4747"/>
            </a:avLst>
          </a:prstGeom>
          <a:solidFill>
            <a:srgbClr val="E8F3ED"/>
          </a:solidFill>
          <a:ln w="12700">
            <a:solidFill>
              <a:srgbClr val="333333"/>
            </a:solidFill>
            <a:prstDash val="solid"/>
          </a:ln>
        </p:spPr>
      </p:sp>
      <p:sp>
        <p:nvSpPr>
          <p:cNvPr id="36" name="Shape 34"/>
          <p:cNvSpPr/>
          <p:nvPr/>
        </p:nvSpPr>
        <p:spPr>
          <a:xfrm>
            <a:off x="877824" y="5234940"/>
            <a:ext cx="118872" cy="118872"/>
          </a:xfrm>
          <a:prstGeom prst="ellipse">
            <a:avLst/>
          </a:prstGeom>
          <a:solidFill>
            <a:srgbClr val="2F8A63"/>
          </a:solidFill>
          <a:ln w="12700">
            <a:solidFill>
              <a:srgbClr val="333333"/>
            </a:solidFill>
            <a:prstDash val="solid"/>
          </a:ln>
        </p:spPr>
      </p:sp>
      <p:sp>
        <p:nvSpPr>
          <p:cNvPr id="37" name="Text 35"/>
          <p:cNvSpPr txBox="1"/>
          <p:nvPr/>
        </p:nvSpPr>
        <p:spPr>
          <a:xfrm>
            <a:off x="1097280" y="5184648"/>
            <a:ext cx="10268712" cy="228600"/>
          </a:xfrm>
          <a:prstGeom prst="rect">
            <a:avLst/>
          </a:prstGeom>
          <a:noFill/>
          <a:ln/>
        </p:spPr>
        <p:txBody>
          <a:bodyPr wrap="square" lIns="0" tIns="0" rIns="0" bIns="0" rtlCol="0" anchor="ctr"/>
          <a:lstStyle/>
          <a:p>
            <a:pPr indent="0" marL="0">
              <a:buNone/>
            </a:pPr>
            <a:r>
              <a:rPr lang="en-US" sz="1050" b="1" spc="120" kern="0" dirty="0">
                <a:solidFill>
                  <a:srgbClr val="2F8A63"/>
                </a:solidFill>
                <a:latin typeface="Calibri" pitchFamily="34" charset="0"/>
                <a:ea typeface="Calibri" pitchFamily="34" charset="-122"/>
                <a:cs typeface="Calibri" pitchFamily="34" charset="-120"/>
              </a:rPr>
              <a:t>NOTE</a:t>
            </a:r>
            <a:endParaRPr lang="en-US" sz="1050" dirty="0"/>
          </a:p>
        </p:txBody>
      </p:sp>
      <p:sp>
        <p:nvSpPr>
          <p:cNvPr id="38" name="Text 36"/>
          <p:cNvSpPr txBox="1"/>
          <p:nvPr/>
        </p:nvSpPr>
        <p:spPr>
          <a:xfrm>
            <a:off x="896112" y="5477256"/>
            <a:ext cx="10396728" cy="597916"/>
          </a:xfrm>
          <a:prstGeom prst="rect">
            <a:avLst/>
          </a:prstGeom>
          <a:noFill/>
          <a:ln/>
        </p:spPr>
        <p:txBody>
          <a:bodyPr wrap="square" lIns="0" tIns="0" rIns="0" bIns="0" rtlCol="0" anchor="t"/>
          <a:lstStyle/>
          <a:p>
            <a:pPr indent="0" marL="0">
              <a:spcAft>
                <a:spcPts val="400"/>
              </a:spcAft>
              <a:buNone/>
            </a:pPr>
            <a:r>
              <a:rPr lang="en-US" sz="1300" dirty="0">
                <a:solidFill>
                  <a:srgbClr val="1A2530"/>
                </a:solidFill>
                <a:latin typeface="Calibri" pitchFamily="34" charset="0"/>
                <a:ea typeface="Calibri" pitchFamily="34" charset="-122"/>
                <a:cs typeface="Calibri" pitchFamily="34" charset="-120"/>
              </a:rPr>
              <a:t>The struct is recursive: a node contains a pointer to a node. That is only possible because a pointer has a fixed size whatever it points at — the compiler does not need to know how big a Node is to reserve room for its address.</a:t>
            </a:r>
            <a:endParaRPr lang="en-US" sz="130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069848"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069848"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comparison</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Against the dynamic array you just wrote</a:t>
            </a:r>
            <a:endParaRPr lang="en-US" sz="3000" dirty="0"/>
          </a:p>
        </p:txBody>
      </p:sp>
      <p:sp>
        <p:nvSpPr>
          <p:cNvPr id="5" name="Text 3"/>
          <p:cNvSpPr txBox="1"/>
          <p:nvPr/>
        </p:nvSpPr>
        <p:spPr>
          <a:xfrm>
            <a:off x="4078224" y="1298448"/>
            <a:ext cx="3840480" cy="292608"/>
          </a:xfrm>
          <a:prstGeom prst="rect">
            <a:avLst/>
          </a:prstGeom>
          <a:noFill/>
          <a:ln/>
        </p:spPr>
        <p:txBody>
          <a:bodyPr wrap="square" lIns="0" tIns="0" rIns="0" bIns="0" rtlCol="0" anchor="ctr"/>
          <a:lstStyle/>
          <a:p>
            <a:pPr indent="0" marL="0">
              <a:buNone/>
            </a:pPr>
            <a:r>
              <a:rPr lang="en-US" sz="1500" b="1" dirty="0">
                <a:solidFill>
                  <a:srgbClr val="D9901F"/>
                </a:solidFill>
                <a:latin typeface="Calibri" pitchFamily="34" charset="0"/>
                <a:ea typeface="Calibri" pitchFamily="34" charset="-122"/>
                <a:cs typeface="Calibri" pitchFamily="34" charset="-120"/>
              </a:rPr>
              <a:t>Dynamic array</a:t>
            </a:r>
            <a:endParaRPr lang="en-US" sz="1500" dirty="0"/>
          </a:p>
        </p:txBody>
      </p:sp>
      <p:sp>
        <p:nvSpPr>
          <p:cNvPr id="6" name="Text 4"/>
          <p:cNvSpPr txBox="1"/>
          <p:nvPr/>
        </p:nvSpPr>
        <p:spPr>
          <a:xfrm>
            <a:off x="7918704" y="1298448"/>
            <a:ext cx="3867912" cy="292608"/>
          </a:xfrm>
          <a:prstGeom prst="rect">
            <a:avLst/>
          </a:prstGeom>
          <a:noFill/>
          <a:ln/>
        </p:spPr>
        <p:txBody>
          <a:bodyPr wrap="square" lIns="0" tIns="0" rIns="0" bIns="0" rtlCol="0" anchor="ctr"/>
          <a:lstStyle/>
          <a:p>
            <a:pPr indent="0" marL="0">
              <a:buNone/>
            </a:pPr>
            <a:r>
              <a:rPr lang="en-US" sz="1500" b="1" dirty="0">
                <a:solidFill>
                  <a:srgbClr val="16202B"/>
                </a:solidFill>
                <a:latin typeface="Calibri" pitchFamily="34" charset="0"/>
                <a:ea typeface="Calibri" pitchFamily="34" charset="-122"/>
                <a:cs typeface="Calibri" pitchFamily="34" charset="-120"/>
              </a:rPr>
              <a:t>Linked list</a:t>
            </a:r>
            <a:endParaRPr lang="en-US" sz="1500" dirty="0"/>
          </a:p>
        </p:txBody>
      </p:sp>
      <p:sp>
        <p:nvSpPr>
          <p:cNvPr id="7" name="Shape 5"/>
          <p:cNvSpPr/>
          <p:nvPr/>
        </p:nvSpPr>
        <p:spPr>
          <a:xfrm>
            <a:off x="3840480" y="1645920"/>
            <a:ext cx="7708392" cy="585216"/>
          </a:xfrm>
          <a:prstGeom prst="roundRect">
            <a:avLst>
              <a:gd name="adj" fmla="val 9375"/>
            </a:avLst>
          </a:prstGeom>
          <a:solidFill>
            <a:srgbClr val="F2F5F8"/>
          </a:solidFill>
          <a:ln w="12700">
            <a:solidFill>
              <a:srgbClr val="333333"/>
            </a:solidFill>
            <a:prstDash val="solid"/>
          </a:ln>
        </p:spPr>
      </p:sp>
      <p:sp>
        <p:nvSpPr>
          <p:cNvPr id="8" name="Text 6"/>
          <p:cNvSpPr txBox="1"/>
          <p:nvPr/>
        </p:nvSpPr>
        <p:spPr>
          <a:xfrm>
            <a:off x="640080" y="1645920"/>
            <a:ext cx="3017520" cy="585216"/>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Read element i</a:t>
            </a:r>
            <a:endParaRPr lang="en-US" sz="1300" dirty="0"/>
          </a:p>
        </p:txBody>
      </p:sp>
      <p:sp>
        <p:nvSpPr>
          <p:cNvPr id="9" name="Text 7"/>
          <p:cNvSpPr txBox="1"/>
          <p:nvPr/>
        </p:nvSpPr>
        <p:spPr>
          <a:xfrm>
            <a:off x="4078224" y="1645920"/>
            <a:ext cx="3474720" cy="585216"/>
          </a:xfrm>
          <a:prstGeom prst="rect">
            <a:avLst/>
          </a:prstGeom>
          <a:noFill/>
          <a:ln/>
        </p:spPr>
        <p:txBody>
          <a:bodyPr wrap="square" lIns="0" tIns="0" rIns="0" bIns="0" rtlCol="0" anchor="ctr"/>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one addition, instantly</a:t>
            </a:r>
            <a:endParaRPr lang="en-US" sz="1200" dirty="0"/>
          </a:p>
        </p:txBody>
      </p:sp>
      <p:sp>
        <p:nvSpPr>
          <p:cNvPr id="10" name="Text 8"/>
          <p:cNvSpPr txBox="1"/>
          <p:nvPr/>
        </p:nvSpPr>
        <p:spPr>
          <a:xfrm>
            <a:off x="7772400" y="1645920"/>
            <a:ext cx="3547872" cy="585216"/>
          </a:xfrm>
          <a:prstGeom prst="rect">
            <a:avLst/>
          </a:prstGeom>
          <a:noFill/>
          <a:ln/>
        </p:spPr>
        <p:txBody>
          <a:bodyPr wrap="square" lIns="0" tIns="0" rIns="0" bIns="0" rtlCol="0" anchor="ctr"/>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walk i nodes from the head</a:t>
            </a:r>
            <a:endParaRPr lang="en-US" sz="1200" dirty="0"/>
          </a:p>
        </p:txBody>
      </p:sp>
      <p:sp>
        <p:nvSpPr>
          <p:cNvPr id="11" name="Shape 9"/>
          <p:cNvSpPr/>
          <p:nvPr/>
        </p:nvSpPr>
        <p:spPr>
          <a:xfrm>
            <a:off x="3840480" y="2286000"/>
            <a:ext cx="7708392" cy="585216"/>
          </a:xfrm>
          <a:prstGeom prst="roundRect">
            <a:avLst>
              <a:gd name="adj" fmla="val 9375"/>
            </a:avLst>
          </a:prstGeom>
          <a:solidFill>
            <a:srgbClr val="F2F5F8"/>
          </a:solidFill>
          <a:ln w="12700">
            <a:solidFill>
              <a:srgbClr val="333333"/>
            </a:solidFill>
            <a:prstDash val="solid"/>
          </a:ln>
        </p:spPr>
      </p:sp>
      <p:sp>
        <p:nvSpPr>
          <p:cNvPr id="12" name="Text 10"/>
          <p:cNvSpPr txBox="1"/>
          <p:nvPr/>
        </p:nvSpPr>
        <p:spPr>
          <a:xfrm>
            <a:off x="640080" y="2286000"/>
            <a:ext cx="3017520" cy="585216"/>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Insert at the front</a:t>
            </a:r>
            <a:endParaRPr lang="en-US" sz="1300" dirty="0"/>
          </a:p>
        </p:txBody>
      </p:sp>
      <p:sp>
        <p:nvSpPr>
          <p:cNvPr id="13" name="Text 11"/>
          <p:cNvSpPr txBox="1"/>
          <p:nvPr/>
        </p:nvSpPr>
        <p:spPr>
          <a:xfrm>
            <a:off x="4078224" y="2286000"/>
            <a:ext cx="3474720" cy="585216"/>
          </a:xfrm>
          <a:prstGeom prst="rect">
            <a:avLst/>
          </a:prstGeom>
          <a:noFill/>
          <a:ln/>
        </p:spPr>
        <p:txBody>
          <a:bodyPr wrap="square" lIns="0" tIns="0" rIns="0" bIns="0" rtlCol="0" anchor="ctr"/>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shift every element along</a:t>
            </a:r>
            <a:endParaRPr lang="en-US" sz="1200" dirty="0"/>
          </a:p>
        </p:txBody>
      </p:sp>
      <p:sp>
        <p:nvSpPr>
          <p:cNvPr id="14" name="Text 12"/>
          <p:cNvSpPr txBox="1"/>
          <p:nvPr/>
        </p:nvSpPr>
        <p:spPr>
          <a:xfrm>
            <a:off x="7772400" y="2286000"/>
            <a:ext cx="3547872" cy="585216"/>
          </a:xfrm>
          <a:prstGeom prst="rect">
            <a:avLst/>
          </a:prstGeom>
          <a:noFill/>
          <a:ln/>
        </p:spPr>
        <p:txBody>
          <a:bodyPr wrap="square" lIns="0" tIns="0" rIns="0" bIns="0" rtlCol="0" anchor="ctr"/>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one malloc, two assignments</a:t>
            </a:r>
            <a:endParaRPr lang="en-US" sz="1200" dirty="0"/>
          </a:p>
        </p:txBody>
      </p:sp>
      <p:sp>
        <p:nvSpPr>
          <p:cNvPr id="15" name="Shape 13"/>
          <p:cNvSpPr/>
          <p:nvPr/>
        </p:nvSpPr>
        <p:spPr>
          <a:xfrm>
            <a:off x="3840480" y="2926080"/>
            <a:ext cx="7708392" cy="585216"/>
          </a:xfrm>
          <a:prstGeom prst="roundRect">
            <a:avLst>
              <a:gd name="adj" fmla="val 9375"/>
            </a:avLst>
          </a:prstGeom>
          <a:solidFill>
            <a:srgbClr val="F2F5F8"/>
          </a:solidFill>
          <a:ln w="12700">
            <a:solidFill>
              <a:srgbClr val="333333"/>
            </a:solidFill>
            <a:prstDash val="solid"/>
          </a:ln>
        </p:spPr>
      </p:sp>
      <p:sp>
        <p:nvSpPr>
          <p:cNvPr id="16" name="Text 14"/>
          <p:cNvSpPr txBox="1"/>
          <p:nvPr/>
        </p:nvSpPr>
        <p:spPr>
          <a:xfrm>
            <a:off x="640080" y="2926080"/>
            <a:ext cx="3017520" cy="585216"/>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Insert at the end</a:t>
            </a:r>
            <a:endParaRPr lang="en-US" sz="1300" dirty="0"/>
          </a:p>
        </p:txBody>
      </p:sp>
      <p:sp>
        <p:nvSpPr>
          <p:cNvPr id="17" name="Text 15"/>
          <p:cNvSpPr txBox="1"/>
          <p:nvPr/>
        </p:nvSpPr>
        <p:spPr>
          <a:xfrm>
            <a:off x="4078224" y="2926080"/>
            <a:ext cx="3474720" cy="585216"/>
          </a:xfrm>
          <a:prstGeom prst="rect">
            <a:avLst/>
          </a:prstGeom>
          <a:noFill/>
          <a:ln/>
        </p:spPr>
        <p:txBody>
          <a:bodyPr wrap="square" lIns="0" tIns="0" rIns="0" bIns="0" rtlCol="0" anchor="ctr"/>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free, until the block fills up</a:t>
            </a:r>
            <a:endParaRPr lang="en-US" sz="1200" dirty="0"/>
          </a:p>
        </p:txBody>
      </p:sp>
      <p:sp>
        <p:nvSpPr>
          <p:cNvPr id="18" name="Text 16"/>
          <p:cNvSpPr txBox="1"/>
          <p:nvPr/>
        </p:nvSpPr>
        <p:spPr>
          <a:xfrm>
            <a:off x="7772400" y="2926080"/>
            <a:ext cx="3547872" cy="585216"/>
          </a:xfrm>
          <a:prstGeom prst="rect">
            <a:avLst/>
          </a:prstGeom>
          <a:noFill/>
          <a:ln/>
        </p:spPr>
        <p:txBody>
          <a:bodyPr wrap="square" lIns="0" tIns="0" rIns="0" bIns="0" rtlCol="0" anchor="ctr"/>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one malloc, if you kept a tail pointer</a:t>
            </a:r>
            <a:endParaRPr lang="en-US" sz="1200" dirty="0"/>
          </a:p>
        </p:txBody>
      </p:sp>
      <p:sp>
        <p:nvSpPr>
          <p:cNvPr id="19" name="Shape 17"/>
          <p:cNvSpPr/>
          <p:nvPr/>
        </p:nvSpPr>
        <p:spPr>
          <a:xfrm>
            <a:off x="3840480" y="3566160"/>
            <a:ext cx="7708392" cy="585216"/>
          </a:xfrm>
          <a:prstGeom prst="roundRect">
            <a:avLst>
              <a:gd name="adj" fmla="val 9375"/>
            </a:avLst>
          </a:prstGeom>
          <a:solidFill>
            <a:srgbClr val="F2F5F8"/>
          </a:solidFill>
          <a:ln w="12700">
            <a:solidFill>
              <a:srgbClr val="333333"/>
            </a:solidFill>
            <a:prstDash val="solid"/>
          </a:ln>
        </p:spPr>
      </p:sp>
      <p:sp>
        <p:nvSpPr>
          <p:cNvPr id="20" name="Text 18"/>
          <p:cNvSpPr txBox="1"/>
          <p:nvPr/>
        </p:nvSpPr>
        <p:spPr>
          <a:xfrm>
            <a:off x="640080" y="3566160"/>
            <a:ext cx="3017520" cy="585216"/>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Memory layout</a:t>
            </a:r>
            <a:endParaRPr lang="en-US" sz="1300" dirty="0"/>
          </a:p>
        </p:txBody>
      </p:sp>
      <p:sp>
        <p:nvSpPr>
          <p:cNvPr id="21" name="Text 19"/>
          <p:cNvSpPr txBox="1"/>
          <p:nvPr/>
        </p:nvSpPr>
        <p:spPr>
          <a:xfrm>
            <a:off x="4078224" y="3566160"/>
            <a:ext cx="3474720" cy="585216"/>
          </a:xfrm>
          <a:prstGeom prst="rect">
            <a:avLst/>
          </a:prstGeom>
          <a:noFill/>
          <a:ln/>
        </p:spPr>
        <p:txBody>
          <a:bodyPr wrap="square" lIns="0" tIns="0" rIns="0" bIns="0" rtlCol="0" anchor="ctr"/>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one contiguous block, cache friendly</a:t>
            </a:r>
            <a:endParaRPr lang="en-US" sz="1200" dirty="0"/>
          </a:p>
        </p:txBody>
      </p:sp>
      <p:sp>
        <p:nvSpPr>
          <p:cNvPr id="22" name="Text 20"/>
          <p:cNvSpPr txBox="1"/>
          <p:nvPr/>
        </p:nvSpPr>
        <p:spPr>
          <a:xfrm>
            <a:off x="7772400" y="3566160"/>
            <a:ext cx="3547872" cy="585216"/>
          </a:xfrm>
          <a:prstGeom prst="rect">
            <a:avLst/>
          </a:prstGeom>
          <a:noFill/>
          <a:ln/>
        </p:spPr>
        <p:txBody>
          <a:bodyPr wrap="square" lIns="0" tIns="0" rIns="0" bIns="0" rtlCol="0" anchor="ctr"/>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scattered nodes, plus 8 bytes of pointer each</a:t>
            </a:r>
            <a:endParaRPr lang="en-US" sz="1200" dirty="0"/>
          </a:p>
        </p:txBody>
      </p:sp>
      <p:sp>
        <p:nvSpPr>
          <p:cNvPr id="23" name="Shape 21"/>
          <p:cNvSpPr/>
          <p:nvPr/>
        </p:nvSpPr>
        <p:spPr>
          <a:xfrm>
            <a:off x="3840480" y="4206240"/>
            <a:ext cx="7708392" cy="585216"/>
          </a:xfrm>
          <a:prstGeom prst="roundRect">
            <a:avLst>
              <a:gd name="adj" fmla="val 9375"/>
            </a:avLst>
          </a:prstGeom>
          <a:solidFill>
            <a:srgbClr val="F2F5F8"/>
          </a:solidFill>
          <a:ln w="12700">
            <a:solidFill>
              <a:srgbClr val="333333"/>
            </a:solidFill>
            <a:prstDash val="solid"/>
          </a:ln>
        </p:spPr>
      </p:sp>
      <p:sp>
        <p:nvSpPr>
          <p:cNvPr id="24" name="Text 22"/>
          <p:cNvSpPr txBox="1"/>
          <p:nvPr/>
        </p:nvSpPr>
        <p:spPr>
          <a:xfrm>
            <a:off x="640080" y="4206240"/>
            <a:ext cx="3017520" cy="585216"/>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Growing</a:t>
            </a:r>
            <a:endParaRPr lang="en-US" sz="1300" dirty="0"/>
          </a:p>
        </p:txBody>
      </p:sp>
      <p:sp>
        <p:nvSpPr>
          <p:cNvPr id="25" name="Text 23"/>
          <p:cNvSpPr txBox="1"/>
          <p:nvPr/>
        </p:nvSpPr>
        <p:spPr>
          <a:xfrm>
            <a:off x="4078224" y="4206240"/>
            <a:ext cx="3474720" cy="585216"/>
          </a:xfrm>
          <a:prstGeom prst="rect">
            <a:avLst/>
          </a:prstGeom>
          <a:noFill/>
          <a:ln/>
        </p:spPr>
        <p:txBody>
          <a:bodyPr wrap="square" lIns="0" tIns="0" rIns="0" bIns="0" rtlCol="0" anchor="ctr"/>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realloc, which may copy everything</a:t>
            </a:r>
            <a:endParaRPr lang="en-US" sz="1200" dirty="0"/>
          </a:p>
        </p:txBody>
      </p:sp>
      <p:sp>
        <p:nvSpPr>
          <p:cNvPr id="26" name="Text 24"/>
          <p:cNvSpPr txBox="1"/>
          <p:nvPr/>
        </p:nvSpPr>
        <p:spPr>
          <a:xfrm>
            <a:off x="7772400" y="4206240"/>
            <a:ext cx="3547872" cy="585216"/>
          </a:xfrm>
          <a:prstGeom prst="rect">
            <a:avLst/>
          </a:prstGeom>
          <a:noFill/>
          <a:ln/>
        </p:spPr>
        <p:txBody>
          <a:bodyPr wrap="square" lIns="0" tIns="0" rIns="0" bIns="0" rtlCol="0" anchor="ctr"/>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nothing to copy, ever</a:t>
            </a:r>
            <a:endParaRPr lang="en-US" sz="1200" dirty="0"/>
          </a:p>
        </p:txBody>
      </p:sp>
      <p:sp>
        <p:nvSpPr>
          <p:cNvPr id="27" name="Shape 25"/>
          <p:cNvSpPr/>
          <p:nvPr/>
        </p:nvSpPr>
        <p:spPr>
          <a:xfrm>
            <a:off x="3840480" y="4846320"/>
            <a:ext cx="7708392" cy="585216"/>
          </a:xfrm>
          <a:prstGeom prst="roundRect">
            <a:avLst>
              <a:gd name="adj" fmla="val 9375"/>
            </a:avLst>
          </a:prstGeom>
          <a:solidFill>
            <a:srgbClr val="F2F5F8"/>
          </a:solidFill>
          <a:ln w="12700">
            <a:solidFill>
              <a:srgbClr val="333333"/>
            </a:solidFill>
            <a:prstDash val="solid"/>
          </a:ln>
        </p:spPr>
      </p:sp>
      <p:sp>
        <p:nvSpPr>
          <p:cNvPr id="28" name="Text 26"/>
          <p:cNvSpPr txBox="1"/>
          <p:nvPr/>
        </p:nvSpPr>
        <p:spPr>
          <a:xfrm>
            <a:off x="640080" y="4846320"/>
            <a:ext cx="3017520" cy="585216"/>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Freeing</a:t>
            </a:r>
            <a:endParaRPr lang="en-US" sz="1300" dirty="0"/>
          </a:p>
        </p:txBody>
      </p:sp>
      <p:sp>
        <p:nvSpPr>
          <p:cNvPr id="29" name="Text 27"/>
          <p:cNvSpPr txBox="1"/>
          <p:nvPr/>
        </p:nvSpPr>
        <p:spPr>
          <a:xfrm>
            <a:off x="4078224" y="4846320"/>
            <a:ext cx="3474720" cy="585216"/>
          </a:xfrm>
          <a:prstGeom prst="rect">
            <a:avLst/>
          </a:prstGeom>
          <a:noFill/>
          <a:ln/>
        </p:spPr>
        <p:txBody>
          <a:bodyPr wrap="square" lIns="0" tIns="0" rIns="0" bIns="0" rtlCol="0" anchor="ctr"/>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one call to free</a:t>
            </a:r>
            <a:endParaRPr lang="en-US" sz="1200" dirty="0"/>
          </a:p>
        </p:txBody>
      </p:sp>
      <p:sp>
        <p:nvSpPr>
          <p:cNvPr id="30" name="Text 28"/>
          <p:cNvSpPr txBox="1"/>
          <p:nvPr/>
        </p:nvSpPr>
        <p:spPr>
          <a:xfrm>
            <a:off x="7772400" y="4846320"/>
            <a:ext cx="3547872" cy="585216"/>
          </a:xfrm>
          <a:prstGeom prst="rect">
            <a:avLst/>
          </a:prstGeom>
          <a:noFill/>
          <a:ln/>
        </p:spPr>
        <p:txBody>
          <a:bodyPr wrap="square" lIns="0" tIns="0" rIns="0" bIns="0" rtlCol="0" anchor="ctr"/>
          <a:lstStyle/>
          <a:p>
            <a:pPr indent="0" marL="0">
              <a:lnSpc>
                <a:spcPts val="1500"/>
              </a:lnSpc>
              <a:buNone/>
            </a:pPr>
            <a:r>
              <a:rPr lang="en-US" sz="1200" dirty="0">
                <a:solidFill>
                  <a:srgbClr val="1A2530"/>
                </a:solidFill>
                <a:latin typeface="Calibri" pitchFamily="34" charset="0"/>
                <a:ea typeface="Calibri" pitchFamily="34" charset="-122"/>
                <a:cs typeface="Calibri" pitchFamily="34" charset="-120"/>
              </a:rPr>
              <a:t>one call per node, in the right order</a:t>
            </a:r>
            <a:endParaRPr lang="en-US" sz="1200" dirty="0"/>
          </a:p>
        </p:txBody>
      </p:sp>
      <p:sp>
        <p:nvSpPr>
          <p:cNvPr id="31" name="Text 29"/>
          <p:cNvSpPr txBox="1"/>
          <p:nvPr/>
        </p:nvSpPr>
        <p:spPr>
          <a:xfrm>
            <a:off x="640080" y="5632704"/>
            <a:ext cx="10908792" cy="548640"/>
          </a:xfrm>
          <a:prstGeom prst="rect">
            <a:avLst/>
          </a:prstGeom>
          <a:noFill/>
          <a:ln/>
        </p:spPr>
        <p:txBody>
          <a:bodyPr wrap="square" lIns="0" tIns="0" rIns="0" bIns="0" rtlCol="0" anchor="t"/>
          <a:lstStyle/>
          <a:p>
            <a:pPr indent="0" marL="0">
              <a:lnSpc>
                <a:spcPts val="1755"/>
              </a:lnSpc>
              <a:buNone/>
            </a:pPr>
            <a:r>
              <a:rPr lang="en-US" sz="1300" dirty="0">
                <a:solidFill>
                  <a:srgbClr val="62707E"/>
                </a:solidFill>
                <a:latin typeface="Calibri" pitchFamily="34" charset="0"/>
                <a:ea typeface="Calibri" pitchFamily="34" charset="-122"/>
                <a:cs typeface="Calibri" pitchFamily="34" charset="-120"/>
              </a:rPr>
              <a:t>Neither wins. The array is faster at almost everything until you have to insert in the middle of a long list, and the list never has to copy. Knowing which operation costs what is the whole reason for writing both by hand.</a:t>
            </a:r>
            <a:endParaRPr lang="en-US" sz="130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297534"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297534"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linked_list.c</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The code you are given (1 of 2)</a:t>
            </a:r>
            <a:endParaRPr lang="en-US" sz="3000" dirty="0"/>
          </a:p>
        </p:txBody>
      </p:sp>
      <p:sp>
        <p:nvSpPr>
          <p:cNvPr id="5" name="Text 3"/>
          <p:cNvSpPr txBox="1"/>
          <p:nvPr/>
        </p:nvSpPr>
        <p:spPr>
          <a:xfrm>
            <a:off x="640080" y="1298448"/>
            <a:ext cx="630936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THE NODE, AND THE main() THAT BUILDS THE CHAIN</a:t>
            </a:r>
            <a:endParaRPr lang="en-US" sz="950" dirty="0"/>
          </a:p>
        </p:txBody>
      </p:sp>
      <p:sp>
        <p:nvSpPr>
          <p:cNvPr id="6" name="Shape 4"/>
          <p:cNvSpPr/>
          <p:nvPr/>
        </p:nvSpPr>
        <p:spPr>
          <a:xfrm>
            <a:off x="640080" y="1545336"/>
            <a:ext cx="6309360" cy="3831336"/>
          </a:xfrm>
          <a:prstGeom prst="roundRect">
            <a:avLst>
              <a:gd name="adj" fmla="val 1193"/>
            </a:avLst>
          </a:prstGeom>
          <a:solidFill>
            <a:srgbClr val="16202B"/>
          </a:solidFill>
          <a:ln w="12700">
            <a:solidFill>
              <a:srgbClr val="333333"/>
            </a:solidFill>
            <a:prstDash val="solid"/>
          </a:ln>
        </p:spPr>
      </p:sp>
      <p:sp>
        <p:nvSpPr>
          <p:cNvPr id="7" name="Text 5"/>
          <p:cNvSpPr txBox="1"/>
          <p:nvPr/>
        </p:nvSpPr>
        <p:spPr>
          <a:xfrm>
            <a:off x="859536" y="1682496"/>
            <a:ext cx="5870448" cy="3557016"/>
          </a:xfrm>
          <a:prstGeom prst="rect">
            <a:avLst/>
          </a:prstGeom>
          <a:noFill/>
          <a:ln/>
        </p:spPr>
        <p:txBody>
          <a:bodyPr wrap="square" lIns="0" tIns="0" rIns="0" bIns="0" rtlCol="0" anchor="t"/>
          <a:lstStyle/>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typedef struct node Node;</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struct node{</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        int data;</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        Node* next;</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 </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int main(){</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        Node* first_node = (Node*) malloc(1 * sizeof(Node));</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        Node* current_node = first_node;</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 </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        for (int value = 0; value &lt; 9; value++){</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                current_node-&gt;data = value;</a:t>
            </a:r>
            <a:endParaRPr lang="en-US" sz="1050" dirty="0"/>
          </a:p>
          <a:p>
            <a:pPr indent="0" marL="0">
              <a:lnSpc>
                <a:spcPts val="1386"/>
              </a:lnSpc>
              <a:buNone/>
            </a:pPr>
            <a:r>
              <a:rPr lang="en-US" sz="1050" dirty="0">
                <a:solidFill>
                  <a:srgbClr val="D9901F"/>
                </a:solidFill>
                <a:latin typeface="Courier New" pitchFamily="34" charset="0"/>
                <a:ea typeface="Courier New" pitchFamily="34" charset="-122"/>
                <a:cs typeface="Courier New" pitchFamily="34" charset="-120"/>
              </a:rPr>
              <a:t>                current_node-&gt;next = (Node*) malloc(1 * sizeof(Node));</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                current_node = current_node-&gt;next;</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        }</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 </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        print_list(first_node);</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        erase_list(first_node);</a:t>
            </a:r>
            <a:endParaRPr lang="en-US" sz="1050" dirty="0"/>
          </a:p>
          <a:p>
            <a:pPr indent="0" marL="0">
              <a:lnSpc>
                <a:spcPts val="1386"/>
              </a:lnSpc>
              <a:buNone/>
            </a:pPr>
            <a:r>
              <a:rPr lang="en-US" sz="1050" dirty="0">
                <a:solidFill>
                  <a:srgbClr val="D9901F"/>
                </a:solidFill>
                <a:latin typeface="Courier New" pitchFamily="34" charset="0"/>
                <a:ea typeface="Courier New" pitchFamily="34" charset="-122"/>
                <a:cs typeface="Courier New" pitchFamily="34" charset="-120"/>
              </a:rPr>
              <a:t>        print_list(first_node);</a:t>
            </a:r>
            <a:endParaRPr lang="en-US" sz="1050" dirty="0"/>
          </a:p>
          <a:p>
            <a:pPr indent="0" marL="0">
              <a:lnSpc>
                <a:spcPts val="1386"/>
              </a:lnSpc>
              <a:buNone/>
            </a:pPr>
            <a:r>
              <a:rPr lang="en-US" sz="1050" dirty="0">
                <a:solidFill>
                  <a:srgbClr val="E3EAF1"/>
                </a:solidFill>
                <a:latin typeface="Courier New" pitchFamily="34" charset="0"/>
                <a:ea typeface="Courier New" pitchFamily="34" charset="-122"/>
                <a:cs typeface="Courier New" pitchFamily="34" charset="-120"/>
              </a:rPr>
              <a:t>}</a:t>
            </a:r>
            <a:endParaRPr lang="en-US" sz="1050" dirty="0"/>
          </a:p>
        </p:txBody>
      </p:sp>
      <p:sp>
        <p:nvSpPr>
          <p:cNvPr id="8" name="Text 6"/>
          <p:cNvSpPr txBox="1"/>
          <p:nvPr/>
        </p:nvSpPr>
        <p:spPr>
          <a:xfrm>
            <a:off x="7178040" y="1298448"/>
            <a:ext cx="4370832" cy="1737360"/>
          </a:xfrm>
          <a:prstGeom prst="rect">
            <a:avLst/>
          </a:prstGeom>
          <a:noFill/>
          <a:ln/>
        </p:spPr>
        <p:txBody>
          <a:bodyPr wrap="square" lIns="0" tIns="0" rIns="0" bIns="0" rtlCol="0" anchor="t"/>
          <a:lstStyle/>
          <a:p>
            <a:pPr indent="0" marL="0">
              <a:lnSpc>
                <a:spcPts val="1755"/>
              </a:lnSpc>
              <a:buNone/>
            </a:pPr>
            <a:r>
              <a:rPr lang="en-US" sz="1300" dirty="0">
                <a:solidFill>
                  <a:srgbClr val="1A2530"/>
                </a:solidFill>
                <a:latin typeface="Calibri" pitchFamily="34" charset="0"/>
                <a:ea typeface="Calibri" pitchFamily="34" charset="-122"/>
                <a:cs typeface="Calibri" pitchFamily="34" charset="-120"/>
              </a:rPr>
              <a:t>Read the loop body in order, then count. How many times does the loop run, how many nodes does it allocate, and how many of them are ever given a value?</a:t>
            </a:r>
            <a:endParaRPr lang="en-US" sz="1300" dirty="0"/>
          </a:p>
          <a:p>
            <a:pPr indent="0" marL="0">
              <a:lnSpc>
                <a:spcPts val="1755"/>
              </a:lnSpc>
              <a:buNone/>
            </a:pPr>
            <a:endParaRPr lang="en-US" sz="1300" dirty="0"/>
          </a:p>
          <a:p>
            <a:pPr indent="0" marL="0">
              <a:lnSpc>
                <a:spcPts val="1755"/>
              </a:lnSpc>
              <a:buNone/>
            </a:pPr>
            <a:r>
              <a:rPr lang="en-US" sz="1300" dirty="0">
                <a:solidFill>
                  <a:srgbClr val="1A2530"/>
                </a:solidFill>
                <a:latin typeface="Calibri" pitchFamily="34" charset="0"/>
                <a:ea typeface="Calibri" pitchFamily="34" charset="-122"/>
                <a:cs typeface="Calibri" pitchFamily="34" charset="-120"/>
              </a:rPr>
              <a:t>The two numbers are not the same. That gap is where the first bug lives.</a:t>
            </a:r>
            <a:endParaRPr lang="en-US" sz="1300" dirty="0"/>
          </a:p>
        </p:txBody>
      </p:sp>
      <p:sp>
        <p:nvSpPr>
          <p:cNvPr id="9" name="Shape 7"/>
          <p:cNvSpPr/>
          <p:nvPr/>
        </p:nvSpPr>
        <p:spPr>
          <a:xfrm>
            <a:off x="7178040" y="3200400"/>
            <a:ext cx="4370832" cy="2099310"/>
          </a:xfrm>
          <a:prstGeom prst="roundRect">
            <a:avLst>
              <a:gd name="adj" fmla="val 2613"/>
            </a:avLst>
          </a:prstGeom>
          <a:solidFill>
            <a:srgbClr val="FBF1DF"/>
          </a:solidFill>
          <a:ln w="12700">
            <a:solidFill>
              <a:srgbClr val="333333"/>
            </a:solidFill>
            <a:prstDash val="solid"/>
          </a:ln>
        </p:spPr>
      </p:sp>
      <p:sp>
        <p:nvSpPr>
          <p:cNvPr id="10" name="Shape 8"/>
          <p:cNvSpPr/>
          <p:nvPr/>
        </p:nvSpPr>
        <p:spPr>
          <a:xfrm>
            <a:off x="7415784" y="3406140"/>
            <a:ext cx="118872" cy="118872"/>
          </a:xfrm>
          <a:prstGeom prst="ellipse">
            <a:avLst/>
          </a:prstGeom>
          <a:solidFill>
            <a:srgbClr val="D9901F"/>
          </a:solidFill>
          <a:ln w="12700">
            <a:solidFill>
              <a:srgbClr val="333333"/>
            </a:solidFill>
            <a:prstDash val="solid"/>
          </a:ln>
        </p:spPr>
      </p:sp>
      <p:sp>
        <p:nvSpPr>
          <p:cNvPr id="11" name="Text 9"/>
          <p:cNvSpPr txBox="1"/>
          <p:nvPr/>
        </p:nvSpPr>
        <p:spPr>
          <a:xfrm>
            <a:off x="7635240" y="3355848"/>
            <a:ext cx="3730752" cy="228600"/>
          </a:xfrm>
          <a:prstGeom prst="rect">
            <a:avLst/>
          </a:prstGeom>
          <a:noFill/>
          <a:ln/>
        </p:spPr>
        <p:txBody>
          <a:bodyPr wrap="square" lIns="0" tIns="0" rIns="0" bIns="0" rtlCol="0" anchor="ctr"/>
          <a:lstStyle/>
          <a:p>
            <a:pPr indent="0" marL="0">
              <a:buNone/>
            </a:pPr>
            <a:r>
              <a:rPr lang="en-US" sz="1050" b="1" spc="120" kern="0" dirty="0">
                <a:solidFill>
                  <a:srgbClr val="D9901F"/>
                </a:solidFill>
                <a:latin typeface="Calibri" pitchFamily="34" charset="0"/>
                <a:ea typeface="Calibri" pitchFamily="34" charset="-122"/>
                <a:cs typeface="Calibri" pitchFamily="34" charset="-120"/>
              </a:rPr>
              <a:t>DO THIS FIRST</a:t>
            </a:r>
            <a:endParaRPr lang="en-US" sz="1050" dirty="0"/>
          </a:p>
        </p:txBody>
      </p:sp>
      <p:sp>
        <p:nvSpPr>
          <p:cNvPr id="12" name="Text 10"/>
          <p:cNvSpPr txBox="1"/>
          <p:nvPr/>
        </p:nvSpPr>
        <p:spPr>
          <a:xfrm>
            <a:off x="7434072" y="3648456"/>
            <a:ext cx="3858768" cy="154152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530"/>
                </a:solidFill>
                <a:latin typeface="Calibri" pitchFamily="34" charset="0"/>
                <a:ea typeface="Calibri" pitchFamily="34" charset="-122"/>
                <a:cs typeface="Calibri" pitchFamily="34" charset="-120"/>
              </a:rPr>
              <a:t>Compile and run it. Then run it again. And a third time.</a:t>
            </a:r>
            <a:endParaRPr lang="en-US" sz="1250" dirty="0"/>
          </a:p>
          <a:p>
            <a:pPr marL="342900" indent="-342900">
              <a:spcAft>
                <a:spcPts val="400"/>
              </a:spcAft>
              <a:buSzPct val="100000"/>
              <a:buChar char="•"/>
            </a:pPr>
            <a:r>
              <a:rPr lang="en-US" sz="1250" dirty="0">
                <a:solidFill>
                  <a:srgbClr val="1A2530"/>
                </a:solidFill>
                <a:latin typeface="Calibri" pitchFamily="34" charset="0"/>
                <a:ea typeface="Calibri" pitchFamily="34" charset="-122"/>
                <a:cs typeface="Calibri" pitchFamily="34" charset="-120"/>
              </a:rPr>
              <a:t>Now compile with -fsanitize=address and run it once more.</a:t>
            </a:r>
            <a:endParaRPr lang="en-US" sz="1250" dirty="0"/>
          </a:p>
          <a:p>
            <a:pPr marL="342900" indent="-342900">
              <a:spcAft>
                <a:spcPts val="400"/>
              </a:spcAft>
              <a:buSzPct val="100000"/>
              <a:buChar char="•"/>
            </a:pPr>
            <a:r>
              <a:rPr lang="en-US" sz="1250" dirty="0">
                <a:solidFill>
                  <a:srgbClr val="1A2530"/>
                </a:solidFill>
                <a:latin typeface="Calibri" pitchFamily="34" charset="0"/>
                <a:ea typeface="Calibri" pitchFamily="34" charset="-122"/>
                <a:cs typeface="Calibri" pitchFamily="34" charset="-120"/>
              </a:rPr>
              <a:t>Write down what you saw each time, before reading any hint.</a:t>
            </a:r>
            <a:endParaRPr lang="en-US" sz="12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297534"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297534"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linked_list.c</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The code you are given (2 of 2)</a:t>
            </a:r>
            <a:endParaRPr lang="en-US" sz="3000" dirty="0"/>
          </a:p>
        </p:txBody>
      </p:sp>
      <p:sp>
        <p:nvSpPr>
          <p:cNvPr id="5" name="Text 3"/>
          <p:cNvSpPr txBox="1"/>
          <p:nvPr/>
        </p:nvSpPr>
        <p:spPr>
          <a:xfrm>
            <a:off x="640080" y="1298448"/>
            <a:ext cx="548640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print_list</a:t>
            </a:r>
            <a:endParaRPr lang="en-US" sz="950" dirty="0"/>
          </a:p>
        </p:txBody>
      </p:sp>
      <p:sp>
        <p:nvSpPr>
          <p:cNvPr id="6" name="Shape 4"/>
          <p:cNvSpPr/>
          <p:nvPr/>
        </p:nvSpPr>
        <p:spPr>
          <a:xfrm>
            <a:off x="640080" y="1545336"/>
            <a:ext cx="5486400" cy="1920240"/>
          </a:xfrm>
          <a:prstGeom prst="roundRect">
            <a:avLst>
              <a:gd name="adj" fmla="val 2381"/>
            </a:avLst>
          </a:prstGeom>
          <a:solidFill>
            <a:srgbClr val="16202B"/>
          </a:solidFill>
          <a:ln w="12700">
            <a:solidFill>
              <a:srgbClr val="333333"/>
            </a:solidFill>
            <a:prstDash val="solid"/>
          </a:ln>
        </p:spPr>
      </p:sp>
      <p:sp>
        <p:nvSpPr>
          <p:cNvPr id="7" name="Text 5"/>
          <p:cNvSpPr txBox="1"/>
          <p:nvPr/>
        </p:nvSpPr>
        <p:spPr>
          <a:xfrm>
            <a:off x="859536" y="1682496"/>
            <a:ext cx="5047488" cy="1645920"/>
          </a:xfrm>
          <a:prstGeom prst="rect">
            <a:avLst/>
          </a:prstGeom>
          <a:noFill/>
          <a:ln/>
        </p:spPr>
        <p:txBody>
          <a:bodyPr wrap="square" lIns="0" tIns="0" rIns="0" bIns="0" rtlCol="0" anchor="t"/>
          <a:lstStyle/>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void print_list(Node* head){</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Node* current_node = head;</a:t>
            </a:r>
            <a:endParaRPr lang="en-US" sz="1200" dirty="0"/>
          </a:p>
          <a:p>
            <a:pPr indent="0" marL="0">
              <a:lnSpc>
                <a:spcPts val="1584"/>
              </a:lnSpc>
              <a:buNone/>
            </a:pPr>
            <a:r>
              <a:rPr lang="en-US" sz="1200" dirty="0">
                <a:solidFill>
                  <a:srgbClr val="D9901F"/>
                </a:solidFill>
                <a:latin typeface="Courier New" pitchFamily="34" charset="0"/>
                <a:ea typeface="Courier New" pitchFamily="34" charset="-122"/>
                <a:cs typeface="Courier New" pitchFamily="34" charset="-120"/>
              </a:rPr>
              <a:t>        while (current_node-&gt;next != NULL){</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printf("%d, ", current_node-&gt;data);</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current_node = current_node-&gt;next;</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printf("\n");</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a:t>
            </a:r>
            <a:endParaRPr lang="en-US" sz="1200" dirty="0"/>
          </a:p>
        </p:txBody>
      </p:sp>
      <p:sp>
        <p:nvSpPr>
          <p:cNvPr id="8" name="Text 6"/>
          <p:cNvSpPr txBox="1"/>
          <p:nvPr/>
        </p:nvSpPr>
        <p:spPr>
          <a:xfrm>
            <a:off x="6336792" y="1298448"/>
            <a:ext cx="521208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erase_list</a:t>
            </a:r>
            <a:endParaRPr lang="en-US" sz="950" dirty="0"/>
          </a:p>
        </p:txBody>
      </p:sp>
      <p:sp>
        <p:nvSpPr>
          <p:cNvPr id="9" name="Shape 7"/>
          <p:cNvSpPr/>
          <p:nvPr/>
        </p:nvSpPr>
        <p:spPr>
          <a:xfrm>
            <a:off x="6336792" y="1545336"/>
            <a:ext cx="5212080" cy="2121408"/>
          </a:xfrm>
          <a:prstGeom prst="roundRect">
            <a:avLst>
              <a:gd name="adj" fmla="val 2155"/>
            </a:avLst>
          </a:prstGeom>
          <a:solidFill>
            <a:srgbClr val="16202B"/>
          </a:solidFill>
          <a:ln w="12700">
            <a:solidFill>
              <a:srgbClr val="333333"/>
            </a:solidFill>
            <a:prstDash val="solid"/>
          </a:ln>
        </p:spPr>
      </p:sp>
      <p:sp>
        <p:nvSpPr>
          <p:cNvPr id="10" name="Text 8"/>
          <p:cNvSpPr txBox="1"/>
          <p:nvPr/>
        </p:nvSpPr>
        <p:spPr>
          <a:xfrm>
            <a:off x="6556248" y="1682496"/>
            <a:ext cx="4773168" cy="1847088"/>
          </a:xfrm>
          <a:prstGeom prst="rect">
            <a:avLst/>
          </a:prstGeom>
          <a:noFill/>
          <a:ln/>
        </p:spPr>
        <p:txBody>
          <a:bodyPr wrap="square" lIns="0" tIns="0" rIns="0" bIns="0" rtlCol="0" anchor="t"/>
          <a:lstStyle/>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void erase_list(Node* head){</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Node* current_node = head;</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Node* previous_node;</a:t>
            </a:r>
            <a:endParaRPr lang="en-US" sz="1200" dirty="0"/>
          </a:p>
          <a:p>
            <a:pPr indent="0" marL="0">
              <a:lnSpc>
                <a:spcPts val="1584"/>
              </a:lnSpc>
              <a:buNone/>
            </a:pPr>
            <a:r>
              <a:rPr lang="en-US" sz="1200" dirty="0">
                <a:solidFill>
                  <a:srgbClr val="D9901F"/>
                </a:solidFill>
                <a:latin typeface="Courier New" pitchFamily="34" charset="0"/>
                <a:ea typeface="Courier New" pitchFamily="34" charset="-122"/>
                <a:cs typeface="Courier New" pitchFamily="34" charset="-120"/>
              </a:rPr>
              <a:t>        while (current_node-&gt;next != NULL){</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previous_node = current_node;</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current_node = current_node-&gt;next;</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free(previous_node);</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a:t>
            </a:r>
            <a:endParaRPr lang="en-US" sz="1200" dirty="0"/>
          </a:p>
        </p:txBody>
      </p:sp>
      <p:sp>
        <p:nvSpPr>
          <p:cNvPr id="11" name="Shape 9"/>
          <p:cNvSpPr/>
          <p:nvPr/>
        </p:nvSpPr>
        <p:spPr>
          <a:xfrm>
            <a:off x="640080" y="3822192"/>
            <a:ext cx="10908792" cy="1653032"/>
          </a:xfrm>
          <a:prstGeom prst="roundRect">
            <a:avLst>
              <a:gd name="adj" fmla="val 3319"/>
            </a:avLst>
          </a:prstGeom>
          <a:solidFill>
            <a:srgbClr val="FBF1DF"/>
          </a:solidFill>
          <a:ln w="12700">
            <a:solidFill>
              <a:srgbClr val="333333"/>
            </a:solidFill>
            <a:prstDash val="solid"/>
          </a:ln>
        </p:spPr>
      </p:sp>
      <p:sp>
        <p:nvSpPr>
          <p:cNvPr id="12" name="Shape 10"/>
          <p:cNvSpPr/>
          <p:nvPr/>
        </p:nvSpPr>
        <p:spPr>
          <a:xfrm>
            <a:off x="877824" y="4027932"/>
            <a:ext cx="118872" cy="118872"/>
          </a:xfrm>
          <a:prstGeom prst="ellipse">
            <a:avLst/>
          </a:prstGeom>
          <a:solidFill>
            <a:srgbClr val="D9901F"/>
          </a:solidFill>
          <a:ln w="12700">
            <a:solidFill>
              <a:srgbClr val="333333"/>
            </a:solidFill>
            <a:prstDash val="solid"/>
          </a:ln>
        </p:spPr>
      </p:sp>
      <p:sp>
        <p:nvSpPr>
          <p:cNvPr id="13" name="Text 11"/>
          <p:cNvSpPr txBox="1"/>
          <p:nvPr/>
        </p:nvSpPr>
        <p:spPr>
          <a:xfrm>
            <a:off x="1097280" y="3977640"/>
            <a:ext cx="10268712" cy="228600"/>
          </a:xfrm>
          <a:prstGeom prst="rect">
            <a:avLst/>
          </a:prstGeom>
          <a:noFill/>
          <a:ln/>
        </p:spPr>
        <p:txBody>
          <a:bodyPr wrap="square" lIns="0" tIns="0" rIns="0" bIns="0" rtlCol="0" anchor="ctr"/>
          <a:lstStyle/>
          <a:p>
            <a:pPr indent="0" marL="0">
              <a:buNone/>
            </a:pPr>
            <a:r>
              <a:rPr lang="en-US" sz="1050" b="1" spc="120" kern="0" dirty="0">
                <a:solidFill>
                  <a:srgbClr val="D9901F"/>
                </a:solidFill>
                <a:latin typeface="Calibri" pitchFamily="34" charset="0"/>
                <a:ea typeface="Calibri" pitchFamily="34" charset="-122"/>
                <a:cs typeface="Calibri" pitchFamily="34" charset="-120"/>
              </a:rPr>
              <a:t>TWO QUESTIONS BEFORE YOU TOUCH ANYTHING</a:t>
            </a:r>
            <a:endParaRPr lang="en-US" sz="1050" dirty="0"/>
          </a:p>
        </p:txBody>
      </p:sp>
      <p:sp>
        <p:nvSpPr>
          <p:cNvPr id="14" name="Text 12"/>
          <p:cNvSpPr txBox="1"/>
          <p:nvPr/>
        </p:nvSpPr>
        <p:spPr>
          <a:xfrm>
            <a:off x="896112" y="4270248"/>
            <a:ext cx="10396728" cy="1095248"/>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A2530"/>
                </a:solidFill>
                <a:latin typeface="Calibri" pitchFamily="34" charset="0"/>
                <a:ea typeface="Calibri" pitchFamily="34" charset="-122"/>
                <a:cs typeface="Calibri" pitchFamily="34" charset="-120"/>
              </a:rPr>
              <a:t>Both loops test the same condition. Take a list of exactly three nodes, ending in NULL, and write down on paper which nodes each loop visits. Which one is left out, and why?</a:t>
            </a:r>
            <a:endParaRPr lang="en-US" sz="1300" dirty="0"/>
          </a:p>
          <a:p>
            <a:pPr marL="342900" indent="-342900">
              <a:spcAft>
                <a:spcPts val="400"/>
              </a:spcAft>
              <a:buSzPct val="100000"/>
              <a:buChar char="•"/>
            </a:pPr>
            <a:r>
              <a:rPr lang="en-US" sz="1300" dirty="0">
                <a:solidFill>
                  <a:srgbClr val="1A2530"/>
                </a:solidFill>
                <a:latin typeface="Calibri" pitchFamily="34" charset="0"/>
                <a:ea typeface="Calibri" pitchFamily="34" charset="-122"/>
                <a:cs typeface="Calibri" pitchFamily="34" charset="-120"/>
              </a:rPr>
              <a:t>erase_list reads current_node-&gt;next and then frees a node. Check the order carefully: is it reading through memory it has already given back, or not? Being able to answer that precisely is most of this exercise.</a:t>
            </a:r>
            <a:endParaRPr lang="en-US" sz="1300" dirty="0"/>
          </a:p>
        </p:txBody>
      </p:sp>
      <p:sp>
        <p:nvSpPr>
          <p:cNvPr id="15" name="Text 13"/>
          <p:cNvSpPr txBox="1"/>
          <p:nvPr/>
        </p:nvSpPr>
        <p:spPr>
          <a:xfrm>
            <a:off x="640080" y="5596128"/>
            <a:ext cx="10908792" cy="548640"/>
          </a:xfrm>
          <a:prstGeom prst="rect">
            <a:avLst/>
          </a:prstGeom>
          <a:noFill/>
          <a:ln/>
        </p:spPr>
        <p:txBody>
          <a:bodyPr wrap="square" lIns="0" tIns="0" rIns="0" bIns="0" rtlCol="0" anchor="t"/>
          <a:lstStyle/>
          <a:p>
            <a:pPr indent="0" marL="0">
              <a:lnSpc>
                <a:spcPts val="1688"/>
              </a:lnSpc>
              <a:buNone/>
            </a:pPr>
            <a:r>
              <a:rPr lang="en-US" sz="1250" dirty="0">
                <a:solidFill>
                  <a:srgbClr val="62707E"/>
                </a:solidFill>
                <a:latin typeface="Calibri" pitchFamily="34" charset="0"/>
                <a:ea typeface="Calibri" pitchFamily="34" charset="-122"/>
                <a:cs typeface="Calibri" pitchFamily="34" charset="-120"/>
              </a:rPr>
              <a:t>Note that neither function is told how long the list is. The only thing that can stop either loop is a pointer that equals NULL, so something, somewhere, has to put one there.</a:t>
            </a:r>
            <a:endParaRPr lang="en-US" sz="12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297534"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297534"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linked_list.c</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Your task</a:t>
            </a:r>
            <a:endParaRPr lang="en-US" sz="3000" dirty="0"/>
          </a:p>
        </p:txBody>
      </p:sp>
      <p:sp>
        <p:nvSpPr>
          <p:cNvPr id="5" name="Text 3"/>
          <p:cNvSpPr txBox="1"/>
          <p:nvPr/>
        </p:nvSpPr>
        <p:spPr>
          <a:xfrm>
            <a:off x="640080" y="1188720"/>
            <a:ext cx="10908792" cy="411480"/>
          </a:xfrm>
          <a:prstGeom prst="rect">
            <a:avLst/>
          </a:prstGeom>
          <a:noFill/>
          <a:ln/>
        </p:spPr>
        <p:txBody>
          <a:bodyPr wrap="square" lIns="0" tIns="0" rIns="0" bIns="0" rtlCol="0" anchor="t"/>
          <a:lstStyle/>
          <a:p>
            <a:pPr indent="0" marL="0">
              <a:lnSpc>
                <a:spcPts val="1823"/>
              </a:lnSpc>
              <a:buNone/>
            </a:pPr>
            <a:r>
              <a:rPr lang="en-US" sz="1350" dirty="0">
                <a:solidFill>
                  <a:srgbClr val="62707E"/>
                </a:solidFill>
                <a:latin typeface="Calibri" pitchFamily="34" charset="0"/>
                <a:ea typeface="Calibri" pitchFamily="34" charset="-122"/>
                <a:cs typeface="Calibri" pitchFamily="34" charset="-120"/>
              </a:rPr>
              <a:t>The program compiles without a single warning, even with -Wall -Wextra. On many machines it appears to print the right thing. It is still wrong in at least four ways.</a:t>
            </a:r>
            <a:endParaRPr lang="en-US" sz="1350" dirty="0"/>
          </a:p>
        </p:txBody>
      </p:sp>
      <p:sp>
        <p:nvSpPr>
          <p:cNvPr id="6" name="Shape 4"/>
          <p:cNvSpPr/>
          <p:nvPr/>
        </p:nvSpPr>
        <p:spPr>
          <a:xfrm>
            <a:off x="640080" y="1783080"/>
            <a:ext cx="3453384" cy="2194560"/>
          </a:xfrm>
          <a:prstGeom prst="roundRect">
            <a:avLst>
              <a:gd name="adj" fmla="val 2500"/>
            </a:avLst>
          </a:prstGeom>
          <a:solidFill>
            <a:srgbClr val="F2F5F8"/>
          </a:solidFill>
          <a:ln w="12700">
            <a:solidFill>
              <a:srgbClr val="333333"/>
            </a:solidFill>
            <a:prstDash val="solid"/>
          </a:ln>
        </p:spPr>
      </p:sp>
      <p:sp>
        <p:nvSpPr>
          <p:cNvPr id="7" name="Shape 5"/>
          <p:cNvSpPr/>
          <p:nvPr/>
        </p:nvSpPr>
        <p:spPr>
          <a:xfrm>
            <a:off x="859536" y="1965960"/>
            <a:ext cx="384048" cy="384048"/>
          </a:xfrm>
          <a:prstGeom prst="ellipse">
            <a:avLst/>
          </a:prstGeom>
          <a:solidFill>
            <a:srgbClr val="D9901F"/>
          </a:solidFill>
          <a:ln w="12700">
            <a:solidFill>
              <a:srgbClr val="333333"/>
            </a:solidFill>
            <a:prstDash val="solid"/>
          </a:ln>
        </p:spPr>
      </p:sp>
      <p:sp>
        <p:nvSpPr>
          <p:cNvPr id="8" name="Text 6"/>
          <p:cNvSpPr txBox="1"/>
          <p:nvPr/>
        </p:nvSpPr>
        <p:spPr>
          <a:xfrm>
            <a:off x="859536"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877824" y="247802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Reproduce it</a:t>
            </a:r>
            <a:endParaRPr lang="en-US" sz="1500" dirty="0"/>
          </a:p>
        </p:txBody>
      </p:sp>
      <p:sp>
        <p:nvSpPr>
          <p:cNvPr id="10" name="Text 8"/>
          <p:cNvSpPr txBox="1"/>
          <p:nvPr/>
        </p:nvSpPr>
        <p:spPr>
          <a:xfrm>
            <a:off x="877824" y="2788920"/>
            <a:ext cx="2996184" cy="10607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Run the program under -fsanitize=address and record exactly what it reports. Do not fix anything yet.</a:t>
            </a:r>
            <a:endParaRPr lang="en-US" sz="1200" dirty="0"/>
          </a:p>
        </p:txBody>
      </p:sp>
      <p:sp>
        <p:nvSpPr>
          <p:cNvPr id="11" name="Shape 9"/>
          <p:cNvSpPr/>
          <p:nvPr/>
        </p:nvSpPr>
        <p:spPr>
          <a:xfrm>
            <a:off x="4367784" y="1783080"/>
            <a:ext cx="3453384" cy="2194560"/>
          </a:xfrm>
          <a:prstGeom prst="roundRect">
            <a:avLst>
              <a:gd name="adj" fmla="val 2500"/>
            </a:avLst>
          </a:prstGeom>
          <a:solidFill>
            <a:srgbClr val="F2F5F8"/>
          </a:solidFill>
          <a:ln w="12700">
            <a:solidFill>
              <a:srgbClr val="333333"/>
            </a:solidFill>
            <a:prstDash val="solid"/>
          </a:ln>
        </p:spPr>
      </p:sp>
      <p:sp>
        <p:nvSpPr>
          <p:cNvPr id="12" name="Shape 10"/>
          <p:cNvSpPr/>
          <p:nvPr/>
        </p:nvSpPr>
        <p:spPr>
          <a:xfrm>
            <a:off x="4587240" y="1965960"/>
            <a:ext cx="384048" cy="384048"/>
          </a:xfrm>
          <a:prstGeom prst="ellipse">
            <a:avLst/>
          </a:prstGeom>
          <a:solidFill>
            <a:srgbClr val="D9901F"/>
          </a:solidFill>
          <a:ln w="12700">
            <a:solidFill>
              <a:srgbClr val="333333"/>
            </a:solidFill>
            <a:prstDash val="solid"/>
          </a:ln>
        </p:spPr>
      </p:sp>
      <p:sp>
        <p:nvSpPr>
          <p:cNvPr id="13" name="Text 11"/>
          <p:cNvSpPr txBox="1"/>
          <p:nvPr/>
        </p:nvSpPr>
        <p:spPr>
          <a:xfrm>
            <a:off x="45872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605528" y="247802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Choose a convention</a:t>
            </a:r>
            <a:endParaRPr lang="en-US" sz="1500" dirty="0"/>
          </a:p>
        </p:txBody>
      </p:sp>
      <p:sp>
        <p:nvSpPr>
          <p:cNvPr id="15" name="Text 13"/>
          <p:cNvSpPr txBox="1"/>
          <p:nvPr/>
        </p:nvSpPr>
        <p:spPr>
          <a:xfrm>
            <a:off x="4605528" y="2788920"/>
            <a:ext cx="2996184" cy="10607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Decide what marks the end of the list, write it down in one sentence, and then make main, print_list and erase_list all agree with it.</a:t>
            </a:r>
            <a:endParaRPr lang="en-US" sz="1200" dirty="0"/>
          </a:p>
        </p:txBody>
      </p:sp>
      <p:sp>
        <p:nvSpPr>
          <p:cNvPr id="16" name="Shape 14"/>
          <p:cNvSpPr/>
          <p:nvPr/>
        </p:nvSpPr>
        <p:spPr>
          <a:xfrm>
            <a:off x="8095488" y="1783080"/>
            <a:ext cx="3453384" cy="2194560"/>
          </a:xfrm>
          <a:prstGeom prst="roundRect">
            <a:avLst>
              <a:gd name="adj" fmla="val 2500"/>
            </a:avLst>
          </a:prstGeom>
          <a:solidFill>
            <a:srgbClr val="F2F5F8"/>
          </a:solidFill>
          <a:ln w="12700">
            <a:solidFill>
              <a:srgbClr val="333333"/>
            </a:solidFill>
            <a:prstDash val="solid"/>
          </a:ln>
        </p:spPr>
      </p:sp>
      <p:sp>
        <p:nvSpPr>
          <p:cNvPr id="17" name="Shape 15"/>
          <p:cNvSpPr/>
          <p:nvPr/>
        </p:nvSpPr>
        <p:spPr>
          <a:xfrm>
            <a:off x="8314944" y="1965960"/>
            <a:ext cx="384048" cy="384048"/>
          </a:xfrm>
          <a:prstGeom prst="ellipse">
            <a:avLst/>
          </a:prstGeom>
          <a:solidFill>
            <a:srgbClr val="D9901F"/>
          </a:solidFill>
          <a:ln w="12700">
            <a:solidFill>
              <a:srgbClr val="333333"/>
            </a:solidFill>
            <a:prstDash val="solid"/>
          </a:ln>
        </p:spPr>
      </p:sp>
      <p:sp>
        <p:nvSpPr>
          <p:cNvPr id="18" name="Text 16"/>
          <p:cNvSpPr txBox="1"/>
          <p:nvPr/>
        </p:nvSpPr>
        <p:spPr>
          <a:xfrm>
            <a:off x="8314944"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333232" y="247802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Print every value</a:t>
            </a:r>
            <a:endParaRPr lang="en-US" sz="1500" dirty="0"/>
          </a:p>
        </p:txBody>
      </p:sp>
      <p:sp>
        <p:nvSpPr>
          <p:cNvPr id="20" name="Text 18"/>
          <p:cNvSpPr txBox="1"/>
          <p:nvPr/>
        </p:nvSpPr>
        <p:spPr>
          <a:xfrm>
            <a:off x="8333232" y="2788920"/>
            <a:ext cx="2996184" cy="10607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print_list must show all nine values, once each, whatever the list length — including a list of one node, and a list of none.</a:t>
            </a:r>
            <a:endParaRPr lang="en-US" sz="1200" dirty="0"/>
          </a:p>
        </p:txBody>
      </p:sp>
      <p:sp>
        <p:nvSpPr>
          <p:cNvPr id="21" name="Shape 19"/>
          <p:cNvSpPr/>
          <p:nvPr/>
        </p:nvSpPr>
        <p:spPr>
          <a:xfrm>
            <a:off x="640080" y="1783080"/>
            <a:ext cx="3453384" cy="2194560"/>
          </a:xfrm>
          <a:prstGeom prst="roundRect">
            <a:avLst>
              <a:gd name="adj" fmla="val 2500"/>
            </a:avLst>
          </a:prstGeom>
          <a:solidFill>
            <a:srgbClr val="F2F5F8"/>
          </a:solidFill>
          <a:ln w="12700">
            <a:solidFill>
              <a:srgbClr val="333333"/>
            </a:solidFill>
            <a:prstDash val="solid"/>
          </a:ln>
        </p:spPr>
      </p:sp>
      <p:sp>
        <p:nvSpPr>
          <p:cNvPr id="22" name="Shape 20"/>
          <p:cNvSpPr/>
          <p:nvPr/>
        </p:nvSpPr>
        <p:spPr>
          <a:xfrm>
            <a:off x="859536" y="1965960"/>
            <a:ext cx="384048" cy="384048"/>
          </a:xfrm>
          <a:prstGeom prst="ellipse">
            <a:avLst/>
          </a:prstGeom>
          <a:solidFill>
            <a:srgbClr val="D9901F"/>
          </a:solidFill>
          <a:ln w="12700">
            <a:solidFill>
              <a:srgbClr val="333333"/>
            </a:solidFill>
            <a:prstDash val="solid"/>
          </a:ln>
        </p:spPr>
      </p:sp>
      <p:sp>
        <p:nvSpPr>
          <p:cNvPr id="23" name="Text 21"/>
          <p:cNvSpPr txBox="1"/>
          <p:nvPr/>
        </p:nvSpPr>
        <p:spPr>
          <a:xfrm>
            <a:off x="859536"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877824" y="247802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Free every node</a:t>
            </a:r>
            <a:endParaRPr lang="en-US" sz="1500" dirty="0"/>
          </a:p>
        </p:txBody>
      </p:sp>
      <p:sp>
        <p:nvSpPr>
          <p:cNvPr id="25" name="Text 23"/>
          <p:cNvSpPr txBox="1"/>
          <p:nvPr/>
        </p:nvSpPr>
        <p:spPr>
          <a:xfrm>
            <a:off x="877824" y="2788920"/>
            <a:ext cx="2996184" cy="10607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erase_list must free each node exactly once, never read a node after freeing it, and leave nothing behind.</a:t>
            </a:r>
            <a:endParaRPr lang="en-US" sz="1200" dirty="0"/>
          </a:p>
        </p:txBody>
      </p:sp>
      <p:sp>
        <p:nvSpPr>
          <p:cNvPr id="26" name="Shape 24"/>
          <p:cNvSpPr/>
          <p:nvPr/>
        </p:nvSpPr>
        <p:spPr>
          <a:xfrm>
            <a:off x="4367784" y="1783080"/>
            <a:ext cx="3453384" cy="2194560"/>
          </a:xfrm>
          <a:prstGeom prst="roundRect">
            <a:avLst>
              <a:gd name="adj" fmla="val 2500"/>
            </a:avLst>
          </a:prstGeom>
          <a:solidFill>
            <a:srgbClr val="F2F5F8"/>
          </a:solidFill>
          <a:ln w="12700">
            <a:solidFill>
              <a:srgbClr val="333333"/>
            </a:solidFill>
            <a:prstDash val="solid"/>
          </a:ln>
        </p:spPr>
      </p:sp>
      <p:sp>
        <p:nvSpPr>
          <p:cNvPr id="27" name="Shape 25"/>
          <p:cNvSpPr/>
          <p:nvPr/>
        </p:nvSpPr>
        <p:spPr>
          <a:xfrm>
            <a:off x="4587240" y="1965960"/>
            <a:ext cx="384048" cy="384048"/>
          </a:xfrm>
          <a:prstGeom prst="ellipse">
            <a:avLst/>
          </a:prstGeom>
          <a:solidFill>
            <a:srgbClr val="D9901F"/>
          </a:solidFill>
          <a:ln w="12700">
            <a:solidFill>
              <a:srgbClr val="333333"/>
            </a:solidFill>
            <a:prstDash val="solid"/>
          </a:ln>
        </p:spPr>
      </p:sp>
      <p:sp>
        <p:nvSpPr>
          <p:cNvPr id="28" name="Text 26"/>
          <p:cNvSpPr txBox="1"/>
          <p:nvPr/>
        </p:nvSpPr>
        <p:spPr>
          <a:xfrm>
            <a:off x="45872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4605528" y="247802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The last line</a:t>
            </a:r>
            <a:endParaRPr lang="en-US" sz="1500" dirty="0"/>
          </a:p>
        </p:txBody>
      </p:sp>
      <p:sp>
        <p:nvSpPr>
          <p:cNvPr id="30" name="Text 28"/>
          <p:cNvSpPr txBox="1"/>
          <p:nvPr/>
        </p:nvSpPr>
        <p:spPr>
          <a:xfrm>
            <a:off x="4605528" y="2788920"/>
            <a:ext cx="2996184" cy="10607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Make the final print_list call safe, or delete it and be able to explain why it could never have been safe.</a:t>
            </a:r>
            <a:endParaRPr lang="en-US" sz="1200" dirty="0"/>
          </a:p>
        </p:txBody>
      </p:sp>
      <p:sp>
        <p:nvSpPr>
          <p:cNvPr id="31" name="Shape 29"/>
          <p:cNvSpPr/>
          <p:nvPr/>
        </p:nvSpPr>
        <p:spPr>
          <a:xfrm>
            <a:off x="8095488" y="1783080"/>
            <a:ext cx="3453384" cy="2194560"/>
          </a:xfrm>
          <a:prstGeom prst="roundRect">
            <a:avLst>
              <a:gd name="adj" fmla="val 2500"/>
            </a:avLst>
          </a:prstGeom>
          <a:solidFill>
            <a:srgbClr val="F2F5F8"/>
          </a:solidFill>
          <a:ln w="12700">
            <a:solidFill>
              <a:srgbClr val="333333"/>
            </a:solidFill>
            <a:prstDash val="solid"/>
          </a:ln>
        </p:spPr>
      </p:sp>
      <p:sp>
        <p:nvSpPr>
          <p:cNvPr id="32" name="Shape 30"/>
          <p:cNvSpPr/>
          <p:nvPr/>
        </p:nvSpPr>
        <p:spPr>
          <a:xfrm>
            <a:off x="8314944" y="1965960"/>
            <a:ext cx="384048" cy="384048"/>
          </a:xfrm>
          <a:prstGeom prst="ellipse">
            <a:avLst/>
          </a:prstGeom>
          <a:solidFill>
            <a:srgbClr val="D9901F"/>
          </a:solidFill>
          <a:ln w="12700">
            <a:solidFill>
              <a:srgbClr val="333333"/>
            </a:solidFill>
            <a:prstDash val="solid"/>
          </a:ln>
        </p:spPr>
      </p:sp>
      <p:sp>
        <p:nvSpPr>
          <p:cNvPr id="33" name="Text 31"/>
          <p:cNvSpPr txBox="1"/>
          <p:nvPr/>
        </p:nvSpPr>
        <p:spPr>
          <a:xfrm>
            <a:off x="8314944"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8333232" y="247802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Tidy up</a:t>
            </a:r>
            <a:endParaRPr lang="en-US" sz="1500" dirty="0"/>
          </a:p>
        </p:txBody>
      </p:sp>
      <p:sp>
        <p:nvSpPr>
          <p:cNvPr id="35" name="Text 33"/>
          <p:cNvSpPr txBox="1"/>
          <p:nvPr/>
        </p:nvSpPr>
        <p:spPr>
          <a:xfrm>
            <a:off x="8333232" y="2788920"/>
            <a:ext cx="2996184" cy="10607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Deal with the smaller things in hint 5 once the four real bugs are gone.</a:t>
            </a:r>
            <a:endParaRPr lang="en-US" sz="1200" dirty="0"/>
          </a:p>
        </p:txBody>
      </p:sp>
      <p:sp>
        <p:nvSpPr>
          <p:cNvPr id="36" name="Shape 34"/>
          <p:cNvSpPr/>
          <p:nvPr/>
        </p:nvSpPr>
        <p:spPr>
          <a:xfrm>
            <a:off x="640080" y="4434840"/>
            <a:ext cx="10908792" cy="1155700"/>
          </a:xfrm>
          <a:prstGeom prst="roundRect">
            <a:avLst>
              <a:gd name="adj" fmla="val 4747"/>
            </a:avLst>
          </a:prstGeom>
          <a:solidFill>
            <a:srgbClr val="FAEBE8"/>
          </a:solidFill>
          <a:ln w="12700">
            <a:solidFill>
              <a:srgbClr val="333333"/>
            </a:solidFill>
            <a:prstDash val="solid"/>
          </a:ln>
        </p:spPr>
      </p:sp>
      <p:sp>
        <p:nvSpPr>
          <p:cNvPr id="37" name="Shape 35"/>
          <p:cNvSpPr/>
          <p:nvPr/>
        </p:nvSpPr>
        <p:spPr>
          <a:xfrm>
            <a:off x="877824" y="4640580"/>
            <a:ext cx="118872" cy="118872"/>
          </a:xfrm>
          <a:prstGeom prst="ellipse">
            <a:avLst/>
          </a:prstGeom>
          <a:solidFill>
            <a:srgbClr val="B8412F"/>
          </a:solidFill>
          <a:ln w="12700">
            <a:solidFill>
              <a:srgbClr val="333333"/>
            </a:solidFill>
            <a:prstDash val="solid"/>
          </a:ln>
        </p:spPr>
      </p:sp>
      <p:sp>
        <p:nvSpPr>
          <p:cNvPr id="38" name="Text 36"/>
          <p:cNvSpPr txBox="1"/>
          <p:nvPr/>
        </p:nvSpPr>
        <p:spPr>
          <a:xfrm>
            <a:off x="1097280" y="4590288"/>
            <a:ext cx="10268712" cy="228600"/>
          </a:xfrm>
          <a:prstGeom prst="rect">
            <a:avLst/>
          </a:prstGeom>
          <a:noFill/>
          <a:ln/>
        </p:spPr>
        <p:txBody>
          <a:bodyPr wrap="square" lIns="0" tIns="0" rIns="0" bIns="0" rtlCol="0" anchor="ctr"/>
          <a:lstStyle/>
          <a:p>
            <a:pPr indent="0" marL="0">
              <a:buNone/>
            </a:pPr>
            <a:r>
              <a:rPr lang="en-US" sz="1050" b="1" spc="120" kern="0" dirty="0">
                <a:solidFill>
                  <a:srgbClr val="B8412F"/>
                </a:solidFill>
                <a:latin typeface="Calibri" pitchFamily="34" charset="0"/>
                <a:ea typeface="Calibri" pitchFamily="34" charset="-122"/>
                <a:cs typeface="Calibri" pitchFamily="34" charset="-120"/>
              </a:rPr>
              <a:t>AT LEAST FOUR</a:t>
            </a:r>
            <a:endParaRPr lang="en-US" sz="1050" dirty="0"/>
          </a:p>
        </p:txBody>
      </p:sp>
      <p:sp>
        <p:nvSpPr>
          <p:cNvPr id="39" name="Text 37"/>
          <p:cNvSpPr txBox="1"/>
          <p:nvPr/>
        </p:nvSpPr>
        <p:spPr>
          <a:xfrm>
            <a:off x="896112" y="4882896"/>
            <a:ext cx="10396728" cy="597916"/>
          </a:xfrm>
          <a:prstGeom prst="rect">
            <a:avLst/>
          </a:prstGeom>
          <a:noFill/>
          <a:ln/>
        </p:spPr>
        <p:txBody>
          <a:bodyPr wrap="square" lIns="0" tIns="0" rIns="0" bIns="0" rtlCol="0" anchor="t"/>
          <a:lstStyle/>
          <a:p>
            <a:pPr indent="0" marL="0">
              <a:spcAft>
                <a:spcPts val="400"/>
              </a:spcAft>
              <a:buNone/>
            </a:pPr>
            <a:r>
              <a:rPr lang="en-US" sz="1300" dirty="0">
                <a:solidFill>
                  <a:srgbClr val="1A2530"/>
                </a:solidFill>
                <a:latin typeface="Calibri" pitchFamily="34" charset="0"/>
                <a:ea typeface="Calibri" pitchFamily="34" charset="-122"/>
                <a:cs typeface="Calibri" pitchFamily="34" charset="-120"/>
              </a:rPr>
              <a:t>The count is deliberately vague. Two of the bugs partly hide each other, so fixing one can make the output look worse before it looks better. Trust the sanitizer, not the appearance of the output.</a:t>
            </a:r>
            <a:endParaRPr lang="en-US" sz="130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145743"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145743"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hint 1 of 5</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Draw what main() actually builds</a:t>
            </a:r>
            <a:endParaRPr lang="en-US" sz="3000" dirty="0"/>
          </a:p>
        </p:txBody>
      </p:sp>
      <p:sp>
        <p:nvSpPr>
          <p:cNvPr id="5" name="Text 3"/>
          <p:cNvSpPr txBox="1"/>
          <p:nvPr/>
        </p:nvSpPr>
        <p:spPr>
          <a:xfrm>
            <a:off x="640080" y="1170432"/>
            <a:ext cx="10908792" cy="365760"/>
          </a:xfrm>
          <a:prstGeom prst="rect">
            <a:avLst/>
          </a:prstGeom>
          <a:noFill/>
          <a:ln/>
        </p:spPr>
        <p:txBody>
          <a:bodyPr wrap="square" lIns="0" tIns="0" rIns="0" bIns="0" rtlCol="0" anchor="t"/>
          <a:lstStyle/>
          <a:p>
            <a:pPr indent="0" marL="0">
              <a:lnSpc>
                <a:spcPts val="1823"/>
              </a:lnSpc>
              <a:buNone/>
            </a:pPr>
            <a:r>
              <a:rPr lang="en-US" sz="1350" dirty="0">
                <a:solidFill>
                  <a:srgbClr val="62707E"/>
                </a:solidFill>
                <a:latin typeface="Calibri" pitchFamily="34" charset="0"/>
                <a:ea typeface="Calibri" pitchFamily="34" charset="-122"/>
                <a:cs typeface="Calibri" pitchFamily="34" charset="-120"/>
              </a:rPr>
              <a:t>The loop runs nine times. It allocates ten nodes. The tenth never receives a value, and nothing ever sets its next pointer.</a:t>
            </a:r>
            <a:endParaRPr lang="en-US" sz="1350" dirty="0"/>
          </a:p>
        </p:txBody>
      </p:sp>
      <p:sp>
        <p:nvSpPr>
          <p:cNvPr id="6" name="Shape 4"/>
          <p:cNvSpPr/>
          <p:nvPr/>
        </p:nvSpPr>
        <p:spPr>
          <a:xfrm>
            <a:off x="640080" y="1691640"/>
            <a:ext cx="1371600" cy="914400"/>
          </a:xfrm>
          <a:prstGeom prst="roundRect">
            <a:avLst>
              <a:gd name="adj" fmla="val 6000"/>
            </a:avLst>
          </a:prstGeom>
          <a:solidFill>
            <a:srgbClr val="F2F5F8"/>
          </a:solidFill>
          <a:ln w="12700">
            <a:solidFill>
              <a:srgbClr val="333333"/>
            </a:solidFill>
            <a:prstDash val="solid"/>
          </a:ln>
        </p:spPr>
      </p:sp>
      <p:sp>
        <p:nvSpPr>
          <p:cNvPr id="7" name="Text 5"/>
          <p:cNvSpPr txBox="1"/>
          <p:nvPr/>
        </p:nvSpPr>
        <p:spPr>
          <a:xfrm>
            <a:off x="640080" y="1764792"/>
            <a:ext cx="1371600" cy="402336"/>
          </a:xfrm>
          <a:prstGeom prst="rect">
            <a:avLst/>
          </a:prstGeom>
          <a:noFill/>
          <a:ln/>
        </p:spPr>
        <p:txBody>
          <a:bodyPr wrap="square" lIns="0" tIns="0" rIns="0" bIns="0" rtlCol="0" anchor="ctr"/>
          <a:lstStyle/>
          <a:p>
            <a:pPr algn="ctr" indent="0" marL="0">
              <a:buNone/>
            </a:pPr>
            <a:r>
              <a:rPr lang="en-US" sz="1600" b="1" dirty="0">
                <a:solidFill>
                  <a:srgbClr val="16202B"/>
                </a:solidFill>
                <a:latin typeface="Courier New" pitchFamily="34" charset="0"/>
                <a:ea typeface="Courier New" pitchFamily="34" charset="-122"/>
                <a:cs typeface="Courier New" pitchFamily="34" charset="-120"/>
              </a:rPr>
              <a:t>0</a:t>
            </a:r>
            <a:endParaRPr lang="en-US" sz="1600" dirty="0"/>
          </a:p>
        </p:txBody>
      </p:sp>
      <p:sp>
        <p:nvSpPr>
          <p:cNvPr id="8" name="Text 6"/>
          <p:cNvSpPr txBox="1"/>
          <p:nvPr/>
        </p:nvSpPr>
        <p:spPr>
          <a:xfrm>
            <a:off x="640080" y="2185416"/>
            <a:ext cx="1371600" cy="274320"/>
          </a:xfrm>
          <a:prstGeom prst="rect">
            <a:avLst/>
          </a:prstGeom>
          <a:noFill/>
          <a:ln/>
        </p:spPr>
        <p:txBody>
          <a:bodyPr wrap="square" lIns="0" tIns="0" rIns="0" bIns="0" rtlCol="0" anchor="ctr"/>
          <a:lstStyle/>
          <a:p>
            <a:pPr algn="ctr" indent="0" marL="0">
              <a:buNone/>
            </a:pPr>
            <a:r>
              <a:rPr lang="en-US" sz="1050" dirty="0">
                <a:solidFill>
                  <a:srgbClr val="62707E"/>
                </a:solidFill>
                <a:latin typeface="Courier New" pitchFamily="34" charset="0"/>
                <a:ea typeface="Courier New" pitchFamily="34" charset="-122"/>
                <a:cs typeface="Courier New" pitchFamily="34" charset="-120"/>
              </a:rPr>
              <a:t>next</a:t>
            </a:r>
            <a:endParaRPr lang="en-US" sz="1050" dirty="0"/>
          </a:p>
        </p:txBody>
      </p:sp>
      <p:sp>
        <p:nvSpPr>
          <p:cNvPr id="9" name="Shape 7"/>
          <p:cNvSpPr/>
          <p:nvPr/>
        </p:nvSpPr>
        <p:spPr>
          <a:xfrm>
            <a:off x="2084832" y="2048256"/>
            <a:ext cx="274320" cy="201168"/>
          </a:xfrm>
          <a:prstGeom prst="rightArrow">
            <a:avLst/>
          </a:prstGeom>
          <a:solidFill>
            <a:srgbClr val="16202B"/>
          </a:solidFill>
          <a:ln w="12700">
            <a:solidFill>
              <a:srgbClr val="333333"/>
            </a:solidFill>
            <a:prstDash val="solid"/>
          </a:ln>
        </p:spPr>
      </p:sp>
      <p:sp>
        <p:nvSpPr>
          <p:cNvPr id="10" name="Shape 8"/>
          <p:cNvSpPr/>
          <p:nvPr/>
        </p:nvSpPr>
        <p:spPr>
          <a:xfrm>
            <a:off x="2432304" y="1691640"/>
            <a:ext cx="1371600" cy="914400"/>
          </a:xfrm>
          <a:prstGeom prst="roundRect">
            <a:avLst>
              <a:gd name="adj" fmla="val 6000"/>
            </a:avLst>
          </a:prstGeom>
          <a:solidFill>
            <a:srgbClr val="F2F5F8"/>
          </a:solidFill>
          <a:ln w="12700">
            <a:solidFill>
              <a:srgbClr val="333333"/>
            </a:solidFill>
            <a:prstDash val="solid"/>
          </a:ln>
        </p:spPr>
      </p:sp>
      <p:sp>
        <p:nvSpPr>
          <p:cNvPr id="11" name="Text 9"/>
          <p:cNvSpPr txBox="1"/>
          <p:nvPr/>
        </p:nvSpPr>
        <p:spPr>
          <a:xfrm>
            <a:off x="2432304" y="1764792"/>
            <a:ext cx="1371600" cy="402336"/>
          </a:xfrm>
          <a:prstGeom prst="rect">
            <a:avLst/>
          </a:prstGeom>
          <a:noFill/>
          <a:ln/>
        </p:spPr>
        <p:txBody>
          <a:bodyPr wrap="square" lIns="0" tIns="0" rIns="0" bIns="0" rtlCol="0" anchor="ctr"/>
          <a:lstStyle/>
          <a:p>
            <a:pPr algn="ctr" indent="0" marL="0">
              <a:buNone/>
            </a:pPr>
            <a:r>
              <a:rPr lang="en-US" sz="1600" b="1" dirty="0">
                <a:solidFill>
                  <a:srgbClr val="16202B"/>
                </a:solidFill>
                <a:latin typeface="Courier New" pitchFamily="34" charset="0"/>
                <a:ea typeface="Courier New" pitchFamily="34" charset="-122"/>
                <a:cs typeface="Courier New" pitchFamily="34" charset="-120"/>
              </a:rPr>
              <a:t>1</a:t>
            </a:r>
            <a:endParaRPr lang="en-US" sz="1600" dirty="0"/>
          </a:p>
        </p:txBody>
      </p:sp>
      <p:sp>
        <p:nvSpPr>
          <p:cNvPr id="12" name="Text 10"/>
          <p:cNvSpPr txBox="1"/>
          <p:nvPr/>
        </p:nvSpPr>
        <p:spPr>
          <a:xfrm>
            <a:off x="2432304" y="2185416"/>
            <a:ext cx="1371600" cy="274320"/>
          </a:xfrm>
          <a:prstGeom prst="rect">
            <a:avLst/>
          </a:prstGeom>
          <a:noFill/>
          <a:ln/>
        </p:spPr>
        <p:txBody>
          <a:bodyPr wrap="square" lIns="0" tIns="0" rIns="0" bIns="0" rtlCol="0" anchor="ctr"/>
          <a:lstStyle/>
          <a:p>
            <a:pPr algn="ctr" indent="0" marL="0">
              <a:buNone/>
            </a:pPr>
            <a:r>
              <a:rPr lang="en-US" sz="1050" dirty="0">
                <a:solidFill>
                  <a:srgbClr val="62707E"/>
                </a:solidFill>
                <a:latin typeface="Courier New" pitchFamily="34" charset="0"/>
                <a:ea typeface="Courier New" pitchFamily="34" charset="-122"/>
                <a:cs typeface="Courier New" pitchFamily="34" charset="-120"/>
              </a:rPr>
              <a:t>next</a:t>
            </a:r>
            <a:endParaRPr lang="en-US" sz="1050" dirty="0"/>
          </a:p>
        </p:txBody>
      </p:sp>
      <p:sp>
        <p:nvSpPr>
          <p:cNvPr id="13" name="Shape 11"/>
          <p:cNvSpPr/>
          <p:nvPr/>
        </p:nvSpPr>
        <p:spPr>
          <a:xfrm>
            <a:off x="3877056" y="2048256"/>
            <a:ext cx="274320" cy="201168"/>
          </a:xfrm>
          <a:prstGeom prst="rightArrow">
            <a:avLst/>
          </a:prstGeom>
          <a:solidFill>
            <a:srgbClr val="16202B"/>
          </a:solidFill>
          <a:ln w="12700">
            <a:solidFill>
              <a:srgbClr val="333333"/>
            </a:solidFill>
            <a:prstDash val="solid"/>
          </a:ln>
        </p:spPr>
      </p:sp>
      <p:sp>
        <p:nvSpPr>
          <p:cNvPr id="14" name="Shape 12"/>
          <p:cNvSpPr/>
          <p:nvPr/>
        </p:nvSpPr>
        <p:spPr>
          <a:xfrm>
            <a:off x="4224528" y="1691640"/>
            <a:ext cx="1371600" cy="914400"/>
          </a:xfrm>
          <a:prstGeom prst="roundRect">
            <a:avLst>
              <a:gd name="adj" fmla="val 6000"/>
            </a:avLst>
          </a:prstGeom>
          <a:solidFill>
            <a:srgbClr val="F2F5F8"/>
          </a:solidFill>
          <a:ln w="12700">
            <a:solidFill>
              <a:srgbClr val="333333"/>
            </a:solidFill>
            <a:prstDash val="solid"/>
          </a:ln>
        </p:spPr>
      </p:sp>
      <p:sp>
        <p:nvSpPr>
          <p:cNvPr id="15" name="Text 13"/>
          <p:cNvSpPr txBox="1"/>
          <p:nvPr/>
        </p:nvSpPr>
        <p:spPr>
          <a:xfrm>
            <a:off x="4224528" y="1764792"/>
            <a:ext cx="1371600" cy="402336"/>
          </a:xfrm>
          <a:prstGeom prst="rect">
            <a:avLst/>
          </a:prstGeom>
          <a:noFill/>
          <a:ln/>
        </p:spPr>
        <p:txBody>
          <a:bodyPr wrap="square" lIns="0" tIns="0" rIns="0" bIns="0" rtlCol="0" anchor="ctr"/>
          <a:lstStyle/>
          <a:p>
            <a:pPr algn="ctr" indent="0" marL="0">
              <a:buNone/>
            </a:pPr>
            <a:r>
              <a:rPr lang="en-US" sz="1600" b="1" dirty="0">
                <a:solidFill>
                  <a:srgbClr val="16202B"/>
                </a:solidFill>
                <a:latin typeface="Courier New" pitchFamily="34" charset="0"/>
                <a:ea typeface="Courier New" pitchFamily="34" charset="-122"/>
                <a:cs typeface="Courier New" pitchFamily="34" charset="-120"/>
              </a:rPr>
              <a:t>2</a:t>
            </a:r>
            <a:endParaRPr lang="en-US" sz="1600" dirty="0"/>
          </a:p>
        </p:txBody>
      </p:sp>
      <p:sp>
        <p:nvSpPr>
          <p:cNvPr id="16" name="Text 14"/>
          <p:cNvSpPr txBox="1"/>
          <p:nvPr/>
        </p:nvSpPr>
        <p:spPr>
          <a:xfrm>
            <a:off x="4224528" y="2185416"/>
            <a:ext cx="1371600" cy="274320"/>
          </a:xfrm>
          <a:prstGeom prst="rect">
            <a:avLst/>
          </a:prstGeom>
          <a:noFill/>
          <a:ln/>
        </p:spPr>
        <p:txBody>
          <a:bodyPr wrap="square" lIns="0" tIns="0" rIns="0" bIns="0" rtlCol="0" anchor="ctr"/>
          <a:lstStyle/>
          <a:p>
            <a:pPr algn="ctr" indent="0" marL="0">
              <a:buNone/>
            </a:pPr>
            <a:r>
              <a:rPr lang="en-US" sz="1050" dirty="0">
                <a:solidFill>
                  <a:srgbClr val="62707E"/>
                </a:solidFill>
                <a:latin typeface="Courier New" pitchFamily="34" charset="0"/>
                <a:ea typeface="Courier New" pitchFamily="34" charset="-122"/>
                <a:cs typeface="Courier New" pitchFamily="34" charset="-120"/>
              </a:rPr>
              <a:t>next</a:t>
            </a:r>
            <a:endParaRPr lang="en-US" sz="1050" dirty="0"/>
          </a:p>
        </p:txBody>
      </p:sp>
      <p:sp>
        <p:nvSpPr>
          <p:cNvPr id="17" name="Shape 15"/>
          <p:cNvSpPr/>
          <p:nvPr/>
        </p:nvSpPr>
        <p:spPr>
          <a:xfrm>
            <a:off x="5669280" y="2048256"/>
            <a:ext cx="274320" cy="201168"/>
          </a:xfrm>
          <a:prstGeom prst="rightArrow">
            <a:avLst/>
          </a:prstGeom>
          <a:solidFill>
            <a:srgbClr val="16202B"/>
          </a:solidFill>
          <a:ln w="12700">
            <a:solidFill>
              <a:srgbClr val="333333"/>
            </a:solidFill>
            <a:prstDash val="solid"/>
          </a:ln>
        </p:spPr>
      </p:sp>
      <p:sp>
        <p:nvSpPr>
          <p:cNvPr id="18" name="Text 16"/>
          <p:cNvSpPr txBox="1"/>
          <p:nvPr/>
        </p:nvSpPr>
        <p:spPr>
          <a:xfrm>
            <a:off x="6016752" y="1691640"/>
            <a:ext cx="1371600" cy="914400"/>
          </a:xfrm>
          <a:prstGeom prst="rect">
            <a:avLst/>
          </a:prstGeom>
          <a:noFill/>
          <a:ln/>
        </p:spPr>
        <p:txBody>
          <a:bodyPr wrap="square" lIns="0" tIns="0" rIns="0" bIns="0" rtlCol="0" anchor="ctr"/>
          <a:lstStyle/>
          <a:p>
            <a:pPr algn="ctr" indent="0" marL="0">
              <a:buNone/>
            </a:pPr>
            <a:r>
              <a:rPr lang="en-US" sz="2000" b="1" dirty="0">
                <a:solidFill>
                  <a:srgbClr val="62707E"/>
                </a:solidFill>
                <a:latin typeface="Courier New" pitchFamily="34" charset="0"/>
                <a:ea typeface="Courier New" pitchFamily="34" charset="-122"/>
                <a:cs typeface="Courier New" pitchFamily="34" charset="-120"/>
              </a:rPr>
              <a:t>· · ·</a:t>
            </a:r>
            <a:endParaRPr lang="en-US" sz="2000" dirty="0"/>
          </a:p>
        </p:txBody>
      </p:sp>
      <p:sp>
        <p:nvSpPr>
          <p:cNvPr id="19" name="Shape 17"/>
          <p:cNvSpPr/>
          <p:nvPr/>
        </p:nvSpPr>
        <p:spPr>
          <a:xfrm>
            <a:off x="7461504" y="2048256"/>
            <a:ext cx="274320" cy="201168"/>
          </a:xfrm>
          <a:prstGeom prst="rightArrow">
            <a:avLst/>
          </a:prstGeom>
          <a:solidFill>
            <a:srgbClr val="16202B"/>
          </a:solidFill>
          <a:ln w="12700">
            <a:solidFill>
              <a:srgbClr val="333333"/>
            </a:solidFill>
            <a:prstDash val="solid"/>
          </a:ln>
        </p:spPr>
      </p:sp>
      <p:sp>
        <p:nvSpPr>
          <p:cNvPr id="20" name="Shape 18"/>
          <p:cNvSpPr/>
          <p:nvPr/>
        </p:nvSpPr>
        <p:spPr>
          <a:xfrm>
            <a:off x="7808976" y="1691640"/>
            <a:ext cx="1371600" cy="914400"/>
          </a:xfrm>
          <a:prstGeom prst="roundRect">
            <a:avLst>
              <a:gd name="adj" fmla="val 6000"/>
            </a:avLst>
          </a:prstGeom>
          <a:solidFill>
            <a:srgbClr val="F2F5F8"/>
          </a:solidFill>
          <a:ln w="12700">
            <a:solidFill>
              <a:srgbClr val="333333"/>
            </a:solidFill>
            <a:prstDash val="solid"/>
          </a:ln>
        </p:spPr>
      </p:sp>
      <p:sp>
        <p:nvSpPr>
          <p:cNvPr id="21" name="Text 19"/>
          <p:cNvSpPr txBox="1"/>
          <p:nvPr/>
        </p:nvSpPr>
        <p:spPr>
          <a:xfrm>
            <a:off x="7808976" y="1764792"/>
            <a:ext cx="1371600" cy="402336"/>
          </a:xfrm>
          <a:prstGeom prst="rect">
            <a:avLst/>
          </a:prstGeom>
          <a:noFill/>
          <a:ln/>
        </p:spPr>
        <p:txBody>
          <a:bodyPr wrap="square" lIns="0" tIns="0" rIns="0" bIns="0" rtlCol="0" anchor="ctr"/>
          <a:lstStyle/>
          <a:p>
            <a:pPr algn="ctr" indent="0" marL="0">
              <a:buNone/>
            </a:pPr>
            <a:r>
              <a:rPr lang="en-US" sz="1600" b="1" dirty="0">
                <a:solidFill>
                  <a:srgbClr val="16202B"/>
                </a:solidFill>
                <a:latin typeface="Courier New" pitchFamily="34" charset="0"/>
                <a:ea typeface="Courier New" pitchFamily="34" charset="-122"/>
                <a:cs typeface="Courier New" pitchFamily="34" charset="-120"/>
              </a:rPr>
              <a:t>8</a:t>
            </a:r>
            <a:endParaRPr lang="en-US" sz="1600" dirty="0"/>
          </a:p>
        </p:txBody>
      </p:sp>
      <p:sp>
        <p:nvSpPr>
          <p:cNvPr id="22" name="Text 20"/>
          <p:cNvSpPr txBox="1"/>
          <p:nvPr/>
        </p:nvSpPr>
        <p:spPr>
          <a:xfrm>
            <a:off x="7808976" y="2185416"/>
            <a:ext cx="1371600" cy="274320"/>
          </a:xfrm>
          <a:prstGeom prst="rect">
            <a:avLst/>
          </a:prstGeom>
          <a:noFill/>
          <a:ln/>
        </p:spPr>
        <p:txBody>
          <a:bodyPr wrap="square" lIns="0" tIns="0" rIns="0" bIns="0" rtlCol="0" anchor="ctr"/>
          <a:lstStyle/>
          <a:p>
            <a:pPr algn="ctr" indent="0" marL="0">
              <a:buNone/>
            </a:pPr>
            <a:r>
              <a:rPr lang="en-US" sz="1050" dirty="0">
                <a:solidFill>
                  <a:srgbClr val="62707E"/>
                </a:solidFill>
                <a:latin typeface="Courier New" pitchFamily="34" charset="0"/>
                <a:ea typeface="Courier New" pitchFamily="34" charset="-122"/>
                <a:cs typeface="Courier New" pitchFamily="34" charset="-120"/>
              </a:rPr>
              <a:t>next</a:t>
            </a:r>
            <a:endParaRPr lang="en-US" sz="1050" dirty="0"/>
          </a:p>
        </p:txBody>
      </p:sp>
      <p:sp>
        <p:nvSpPr>
          <p:cNvPr id="23" name="Shape 21"/>
          <p:cNvSpPr/>
          <p:nvPr/>
        </p:nvSpPr>
        <p:spPr>
          <a:xfrm>
            <a:off x="9253728" y="2048256"/>
            <a:ext cx="274320" cy="201168"/>
          </a:xfrm>
          <a:prstGeom prst="rightArrow">
            <a:avLst/>
          </a:prstGeom>
          <a:solidFill>
            <a:srgbClr val="B8412F"/>
          </a:solidFill>
          <a:ln w="12700">
            <a:solidFill>
              <a:srgbClr val="333333"/>
            </a:solidFill>
            <a:prstDash val="solid"/>
          </a:ln>
        </p:spPr>
      </p:sp>
      <p:sp>
        <p:nvSpPr>
          <p:cNvPr id="24" name="Shape 22"/>
          <p:cNvSpPr/>
          <p:nvPr/>
        </p:nvSpPr>
        <p:spPr>
          <a:xfrm>
            <a:off x="9601200" y="1691640"/>
            <a:ext cx="1371600" cy="914400"/>
          </a:xfrm>
          <a:prstGeom prst="roundRect">
            <a:avLst>
              <a:gd name="adj" fmla="val 6000"/>
            </a:avLst>
          </a:prstGeom>
          <a:solidFill>
            <a:srgbClr val="FAEBE8"/>
          </a:solidFill>
          <a:ln w="12700">
            <a:solidFill>
              <a:srgbClr val="333333"/>
            </a:solidFill>
            <a:prstDash val="solid"/>
          </a:ln>
        </p:spPr>
      </p:sp>
      <p:sp>
        <p:nvSpPr>
          <p:cNvPr id="25" name="Text 23"/>
          <p:cNvSpPr txBox="1"/>
          <p:nvPr/>
        </p:nvSpPr>
        <p:spPr>
          <a:xfrm>
            <a:off x="9601200" y="1764792"/>
            <a:ext cx="1371600" cy="402336"/>
          </a:xfrm>
          <a:prstGeom prst="rect">
            <a:avLst/>
          </a:prstGeom>
          <a:noFill/>
          <a:ln/>
        </p:spPr>
        <p:txBody>
          <a:bodyPr wrap="square" lIns="0" tIns="0" rIns="0" bIns="0" rtlCol="0" anchor="ctr"/>
          <a:lstStyle/>
          <a:p>
            <a:pPr algn="ctr" indent="0" marL="0">
              <a:buNone/>
            </a:pPr>
            <a:r>
              <a:rPr lang="en-US" sz="1600" b="1" dirty="0">
                <a:solidFill>
                  <a:srgbClr val="B8412F"/>
                </a:solidFill>
                <a:latin typeface="Courier New" pitchFamily="34" charset="0"/>
                <a:ea typeface="Courier New" pitchFamily="34" charset="-122"/>
                <a:cs typeface="Courier New" pitchFamily="34" charset="-120"/>
              </a:rPr>
              <a:t>?</a:t>
            </a:r>
            <a:endParaRPr lang="en-US" sz="1600" dirty="0"/>
          </a:p>
        </p:txBody>
      </p:sp>
      <p:sp>
        <p:nvSpPr>
          <p:cNvPr id="26" name="Text 24"/>
          <p:cNvSpPr txBox="1"/>
          <p:nvPr/>
        </p:nvSpPr>
        <p:spPr>
          <a:xfrm>
            <a:off x="9601200" y="2185416"/>
            <a:ext cx="1371600" cy="274320"/>
          </a:xfrm>
          <a:prstGeom prst="rect">
            <a:avLst/>
          </a:prstGeom>
          <a:noFill/>
          <a:ln/>
        </p:spPr>
        <p:txBody>
          <a:bodyPr wrap="square" lIns="0" tIns="0" rIns="0" bIns="0" rtlCol="0" anchor="ctr"/>
          <a:lstStyle/>
          <a:p>
            <a:pPr algn="ctr" indent="0" marL="0">
              <a:buNone/>
            </a:pPr>
            <a:r>
              <a:rPr lang="en-US" sz="1050" dirty="0">
                <a:solidFill>
                  <a:srgbClr val="B8412F"/>
                </a:solidFill>
                <a:latin typeface="Courier New" pitchFamily="34" charset="0"/>
                <a:ea typeface="Courier New" pitchFamily="34" charset="-122"/>
                <a:cs typeface="Courier New" pitchFamily="34" charset="-120"/>
              </a:rPr>
              <a:t>next = ?</a:t>
            </a:r>
            <a:endParaRPr lang="en-US" sz="1050" dirty="0"/>
          </a:p>
        </p:txBody>
      </p:sp>
      <p:sp>
        <p:nvSpPr>
          <p:cNvPr id="27" name="Text 25"/>
          <p:cNvSpPr txBox="1"/>
          <p:nvPr/>
        </p:nvSpPr>
        <p:spPr>
          <a:xfrm>
            <a:off x="640080" y="2679192"/>
            <a:ext cx="1371600" cy="237744"/>
          </a:xfrm>
          <a:prstGeom prst="rect">
            <a:avLst/>
          </a:prstGeom>
          <a:noFill/>
          <a:ln/>
        </p:spPr>
        <p:txBody>
          <a:bodyPr wrap="square" lIns="0" tIns="0" rIns="0" bIns="0" rtlCol="0" anchor="ctr"/>
          <a:lstStyle/>
          <a:p>
            <a:pPr algn="ctr" indent="0" marL="0">
              <a:buNone/>
            </a:pPr>
            <a:r>
              <a:rPr lang="en-US" sz="1100" b="1" dirty="0">
                <a:solidFill>
                  <a:srgbClr val="D9901F"/>
                </a:solidFill>
                <a:latin typeface="Courier New" pitchFamily="34" charset="0"/>
                <a:ea typeface="Courier New" pitchFamily="34" charset="-122"/>
                <a:cs typeface="Courier New" pitchFamily="34" charset="-120"/>
              </a:rPr>
              <a:t>first_node</a:t>
            </a:r>
            <a:endParaRPr lang="en-US" sz="1100" dirty="0"/>
          </a:p>
        </p:txBody>
      </p:sp>
      <p:sp>
        <p:nvSpPr>
          <p:cNvPr id="28" name="Text 26"/>
          <p:cNvSpPr txBox="1"/>
          <p:nvPr/>
        </p:nvSpPr>
        <p:spPr>
          <a:xfrm>
            <a:off x="7589520" y="2679192"/>
            <a:ext cx="3566160" cy="237744"/>
          </a:xfrm>
          <a:prstGeom prst="rect">
            <a:avLst/>
          </a:prstGeom>
          <a:noFill/>
          <a:ln/>
        </p:spPr>
        <p:txBody>
          <a:bodyPr wrap="square" lIns="0" tIns="0" rIns="0" bIns="0" rtlCol="0" anchor="ctr"/>
          <a:lstStyle/>
          <a:p>
            <a:pPr algn="ctr" indent="0" marL="0">
              <a:buNone/>
            </a:pPr>
            <a:r>
              <a:rPr lang="en-US" sz="1100" dirty="0">
                <a:solidFill>
                  <a:srgbClr val="B8412F"/>
                </a:solidFill>
                <a:latin typeface="Calibri" pitchFamily="34" charset="0"/>
                <a:ea typeface="Calibri" pitchFamily="34" charset="-122"/>
                <a:cs typeface="Calibri" pitchFamily="34" charset="-120"/>
              </a:rPr>
              <a:t>allocated by the ninth pass, never written to</a:t>
            </a:r>
            <a:endParaRPr lang="en-US" sz="1100" dirty="0"/>
          </a:p>
        </p:txBody>
      </p:sp>
      <p:sp>
        <p:nvSpPr>
          <p:cNvPr id="29" name="Text 27"/>
          <p:cNvSpPr txBox="1"/>
          <p:nvPr/>
        </p:nvSpPr>
        <p:spPr>
          <a:xfrm>
            <a:off x="640080" y="3200400"/>
            <a:ext cx="5760720" cy="292608"/>
          </a:xfrm>
          <a:prstGeom prst="rect">
            <a:avLst/>
          </a:prstGeom>
          <a:noFill/>
          <a:ln/>
        </p:spPr>
        <p:txBody>
          <a:bodyPr wrap="square" lIns="0" tIns="0" rIns="0" bIns="0" rtlCol="0" anchor="ctr"/>
          <a:lstStyle/>
          <a:p>
            <a:pPr indent="0" marL="0">
              <a:buNone/>
            </a:pPr>
            <a:r>
              <a:rPr lang="en-US" sz="1900" b="1" dirty="0">
                <a:solidFill>
                  <a:srgbClr val="1A2530"/>
                </a:solidFill>
                <a:latin typeface="Calibri" pitchFamily="34" charset="0"/>
                <a:ea typeface="Calibri" pitchFamily="34" charset="-122"/>
                <a:cs typeface="Calibri" pitchFamily="34" charset="-120"/>
              </a:rPr>
              <a:t>Where does the list end?</a:t>
            </a:r>
            <a:endParaRPr lang="en-US" sz="1900" dirty="0"/>
          </a:p>
        </p:txBody>
      </p:sp>
      <p:sp>
        <p:nvSpPr>
          <p:cNvPr id="30" name="Text 28"/>
          <p:cNvSpPr txBox="1"/>
          <p:nvPr/>
        </p:nvSpPr>
        <p:spPr>
          <a:xfrm>
            <a:off x="640080" y="3611880"/>
            <a:ext cx="5760720" cy="1463040"/>
          </a:xfrm>
          <a:prstGeom prst="rect">
            <a:avLst/>
          </a:prstGeom>
          <a:noFill/>
          <a:ln/>
        </p:spPr>
        <p:txBody>
          <a:bodyPr wrap="square" lIns="0" tIns="0" rIns="0" bIns="0" rtlCol="0" anchor="t"/>
          <a:lstStyle/>
          <a:p>
            <a:pPr indent="0" marL="0">
              <a:lnSpc>
                <a:spcPts val="1755"/>
              </a:lnSpc>
              <a:buNone/>
            </a:pPr>
            <a:r>
              <a:rPr lang="en-US" sz="1300" dirty="0">
                <a:solidFill>
                  <a:srgbClr val="1A2530"/>
                </a:solidFill>
                <a:latin typeface="Calibri" pitchFamily="34" charset="0"/>
                <a:ea typeface="Calibri" pitchFamily="34" charset="-122"/>
                <a:cs typeface="Calibri" pitchFamily="34" charset="-120"/>
              </a:rPr>
              <a:t>It does not. Both loops stop when they find a next pointer equal to NULL, and no line in the program ever assigns NULL to anything. What they are actually testing is whatever bytes malloc happened to hand back for that tenth node.</a:t>
            </a:r>
            <a:endParaRPr lang="en-US" sz="1300" dirty="0"/>
          </a:p>
        </p:txBody>
      </p:sp>
      <p:sp>
        <p:nvSpPr>
          <p:cNvPr id="31" name="Shape 29"/>
          <p:cNvSpPr/>
          <p:nvPr/>
        </p:nvSpPr>
        <p:spPr>
          <a:xfrm>
            <a:off x="6629400" y="3200400"/>
            <a:ext cx="4919472" cy="1776857"/>
          </a:xfrm>
          <a:prstGeom prst="roundRect">
            <a:avLst>
              <a:gd name="adj" fmla="val 3088"/>
            </a:avLst>
          </a:prstGeom>
          <a:solidFill>
            <a:srgbClr val="FAEBE8"/>
          </a:solidFill>
          <a:ln w="12700">
            <a:solidFill>
              <a:srgbClr val="333333"/>
            </a:solidFill>
            <a:prstDash val="solid"/>
          </a:ln>
        </p:spPr>
      </p:sp>
      <p:sp>
        <p:nvSpPr>
          <p:cNvPr id="32" name="Shape 30"/>
          <p:cNvSpPr/>
          <p:nvPr/>
        </p:nvSpPr>
        <p:spPr>
          <a:xfrm>
            <a:off x="6867144" y="3406140"/>
            <a:ext cx="118872" cy="118872"/>
          </a:xfrm>
          <a:prstGeom prst="ellipse">
            <a:avLst/>
          </a:prstGeom>
          <a:solidFill>
            <a:srgbClr val="B8412F"/>
          </a:solidFill>
          <a:ln w="12700">
            <a:solidFill>
              <a:srgbClr val="333333"/>
            </a:solidFill>
            <a:prstDash val="solid"/>
          </a:ln>
        </p:spPr>
      </p:sp>
      <p:sp>
        <p:nvSpPr>
          <p:cNvPr id="33" name="Text 31"/>
          <p:cNvSpPr txBox="1"/>
          <p:nvPr/>
        </p:nvSpPr>
        <p:spPr>
          <a:xfrm>
            <a:off x="7086600" y="3355848"/>
            <a:ext cx="4279392" cy="228600"/>
          </a:xfrm>
          <a:prstGeom prst="rect">
            <a:avLst/>
          </a:prstGeom>
          <a:noFill/>
          <a:ln/>
        </p:spPr>
        <p:txBody>
          <a:bodyPr wrap="square" lIns="0" tIns="0" rIns="0" bIns="0" rtlCol="0" anchor="ctr"/>
          <a:lstStyle/>
          <a:p>
            <a:pPr indent="0" marL="0">
              <a:buNone/>
            </a:pPr>
            <a:r>
              <a:rPr lang="en-US" sz="1050" b="1" spc="120" kern="0" dirty="0">
                <a:solidFill>
                  <a:srgbClr val="B8412F"/>
                </a:solidFill>
                <a:latin typeface="Calibri" pitchFamily="34" charset="0"/>
                <a:ea typeface="Calibri" pitchFamily="34" charset="-122"/>
                <a:cs typeface="Calibri" pitchFamily="34" charset="-120"/>
              </a:rPr>
              <a:t>WHY IT OFTEN LOOKS FINE ANYWAY</a:t>
            </a:r>
            <a:endParaRPr lang="en-US" sz="1050" dirty="0"/>
          </a:p>
        </p:txBody>
      </p:sp>
      <p:sp>
        <p:nvSpPr>
          <p:cNvPr id="34" name="Text 32"/>
          <p:cNvSpPr txBox="1"/>
          <p:nvPr/>
        </p:nvSpPr>
        <p:spPr>
          <a:xfrm>
            <a:off x="6885432" y="3648456"/>
            <a:ext cx="4407408" cy="1219073"/>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Fresh pages from the operating system usually arrive full of zeros, so that uninitialised next is very often NULL by accident, and the first print looks perfect. That is luck. It is also exactly the kind of bug that survives until somebody else runs your program.</a:t>
            </a:r>
            <a:endParaRPr lang="en-US" sz="12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145743"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145743"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hint 2 of 5</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Hint 2 — pick one convention and apply it three times</a:t>
            </a:r>
            <a:endParaRPr lang="en-US" sz="3000" dirty="0"/>
          </a:p>
        </p:txBody>
      </p:sp>
      <p:sp>
        <p:nvSpPr>
          <p:cNvPr id="5" name="Text 3"/>
          <p:cNvSpPr txBox="1"/>
          <p:nvPr/>
        </p:nvSpPr>
        <p:spPr>
          <a:xfrm>
            <a:off x="640080" y="1188720"/>
            <a:ext cx="10908792" cy="365760"/>
          </a:xfrm>
          <a:prstGeom prst="rect">
            <a:avLst/>
          </a:prstGeom>
          <a:noFill/>
          <a:ln/>
        </p:spPr>
        <p:txBody>
          <a:bodyPr wrap="square" lIns="0" tIns="0" rIns="0" bIns="0" rtlCol="0" anchor="t"/>
          <a:lstStyle/>
          <a:p>
            <a:pPr indent="0" marL="0">
              <a:lnSpc>
                <a:spcPts val="1823"/>
              </a:lnSpc>
              <a:buNone/>
            </a:pPr>
            <a:r>
              <a:rPr lang="en-US" sz="1350" dirty="0">
                <a:solidFill>
                  <a:srgbClr val="62707E"/>
                </a:solidFill>
                <a:latin typeface="Calibri" pitchFamily="34" charset="0"/>
                <a:ea typeface="Calibri" pitchFamily="34" charset="-122"/>
                <a:cs typeface="Calibri" pitchFamily="34" charset="-120"/>
              </a:rPr>
              <a:t>There are two reasonable answers. The file currently uses the loops of one of them and the construction of neither.</a:t>
            </a:r>
            <a:endParaRPr lang="en-US" sz="1350" dirty="0"/>
          </a:p>
        </p:txBody>
      </p:sp>
      <p:sp>
        <p:nvSpPr>
          <p:cNvPr id="6" name="Shape 4"/>
          <p:cNvSpPr/>
          <p:nvPr/>
        </p:nvSpPr>
        <p:spPr>
          <a:xfrm>
            <a:off x="640080" y="1737360"/>
            <a:ext cx="5394960" cy="2286000"/>
          </a:xfrm>
          <a:prstGeom prst="roundRect">
            <a:avLst>
              <a:gd name="adj" fmla="val 2400"/>
            </a:avLst>
          </a:prstGeom>
          <a:solidFill>
            <a:srgbClr val="FBF1DF"/>
          </a:solidFill>
          <a:ln w="12700">
            <a:solidFill>
              <a:srgbClr val="333333"/>
            </a:solidFill>
            <a:prstDash val="solid"/>
          </a:ln>
        </p:spPr>
      </p:sp>
      <p:sp>
        <p:nvSpPr>
          <p:cNvPr id="7" name="Text 5"/>
          <p:cNvSpPr txBox="1"/>
          <p:nvPr/>
        </p:nvSpPr>
        <p:spPr>
          <a:xfrm>
            <a:off x="877824" y="1920240"/>
            <a:ext cx="4937760"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(a)  The last node holds a value</a:t>
            </a:r>
            <a:endParaRPr lang="en-US" sz="1500" dirty="0"/>
          </a:p>
        </p:txBody>
      </p:sp>
      <p:sp>
        <p:nvSpPr>
          <p:cNvPr id="8" name="Text 6"/>
          <p:cNvSpPr txBox="1"/>
          <p:nvPr/>
        </p:nvSpPr>
        <p:spPr>
          <a:xfrm>
            <a:off x="877824" y="2231136"/>
            <a:ext cx="4937760" cy="1664208"/>
          </a:xfrm>
          <a:prstGeom prst="rect">
            <a:avLst/>
          </a:prstGeom>
          <a:noFill/>
          <a:ln/>
        </p:spPr>
        <p:txBody>
          <a:bodyPr wrap="square" lIns="0" tIns="0" rIns="0" bIns="0" rtlCol="0" anchor="t"/>
          <a:lstStyle/>
          <a:p>
            <a:pPr indent="0" marL="0">
              <a:buNone/>
            </a:pPr>
            <a:r>
              <a:rPr lang="en-US" sz="1250" dirty="0">
                <a:solidFill>
                  <a:srgbClr val="1A2530"/>
                </a:solidFill>
                <a:latin typeface="Calibri" pitchFamily="34" charset="0"/>
                <a:ea typeface="Calibri" pitchFamily="34" charset="-122"/>
                <a:cs typeface="Calibri" pitchFamily="34" charset="-120"/>
              </a:rPr>
              <a:t>Nine values means nine nodes. The last one's next is set to NULL explicitly.</a:t>
            </a:r>
            <a:endParaRPr lang="en-US" sz="1250" dirty="0"/>
          </a:p>
          <a:p>
            <a:pPr indent="0" marL="0">
              <a:buNone/>
            </a:pPr>
            <a:endParaRPr lang="en-US" sz="1250" dirty="0"/>
          </a:p>
          <a:p>
            <a:pPr indent="0" marL="0">
              <a:buNone/>
            </a:pPr>
            <a:r>
              <a:rPr lang="en-US" sz="1250" dirty="0">
                <a:solidFill>
                  <a:srgbClr val="1A2530"/>
                </a:solidFill>
                <a:latin typeface="Calibri" pitchFamily="34" charset="0"/>
                <a:ea typeface="Calibri" pitchFamily="34" charset="-122"/>
                <a:cs typeface="Calibri" pitchFamily="34" charset="-120"/>
              </a:rPr>
              <a:t>Every loop then reads while (current != NULL).</a:t>
            </a:r>
            <a:endParaRPr lang="en-US" sz="1250" dirty="0"/>
          </a:p>
          <a:p>
            <a:pPr indent="0" marL="0">
              <a:buNone/>
            </a:pPr>
            <a:endParaRPr lang="en-US" sz="1250" dirty="0"/>
          </a:p>
          <a:p>
            <a:pPr indent="0" marL="0">
              <a:buNone/>
            </a:pPr>
            <a:r>
              <a:rPr lang="en-US" sz="1250" dirty="0">
                <a:solidFill>
                  <a:srgbClr val="1A2530"/>
                </a:solidFill>
                <a:latin typeface="Calibri" pitchFamily="34" charset="0"/>
                <a:ea typeface="Calibri" pitchFamily="34" charset="-122"/>
                <a:cs typeface="Calibri" pitchFamily="34" charset="-120"/>
              </a:rPr>
              <a:t>This is what you will see everywhere else, and what the rest of this deck assumes.</a:t>
            </a:r>
            <a:endParaRPr lang="en-US" sz="1250" dirty="0"/>
          </a:p>
        </p:txBody>
      </p:sp>
      <p:sp>
        <p:nvSpPr>
          <p:cNvPr id="9" name="Shape 7"/>
          <p:cNvSpPr/>
          <p:nvPr/>
        </p:nvSpPr>
        <p:spPr>
          <a:xfrm>
            <a:off x="6153912" y="1737360"/>
            <a:ext cx="5394960" cy="2286000"/>
          </a:xfrm>
          <a:prstGeom prst="roundRect">
            <a:avLst>
              <a:gd name="adj" fmla="val 2400"/>
            </a:avLst>
          </a:prstGeom>
          <a:solidFill>
            <a:srgbClr val="F2F5F8"/>
          </a:solidFill>
          <a:ln w="12700">
            <a:solidFill>
              <a:srgbClr val="333333"/>
            </a:solidFill>
            <a:prstDash val="solid"/>
          </a:ln>
        </p:spPr>
      </p:sp>
      <p:sp>
        <p:nvSpPr>
          <p:cNvPr id="10" name="Text 8"/>
          <p:cNvSpPr txBox="1"/>
          <p:nvPr/>
        </p:nvSpPr>
        <p:spPr>
          <a:xfrm>
            <a:off x="6391656" y="1920240"/>
            <a:ext cx="4937760"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(b)  A trailing empty sentinel</a:t>
            </a:r>
            <a:endParaRPr lang="en-US" sz="1500" dirty="0"/>
          </a:p>
        </p:txBody>
      </p:sp>
      <p:sp>
        <p:nvSpPr>
          <p:cNvPr id="11" name="Text 9"/>
          <p:cNvSpPr txBox="1"/>
          <p:nvPr/>
        </p:nvSpPr>
        <p:spPr>
          <a:xfrm>
            <a:off x="6391656" y="2231136"/>
            <a:ext cx="4937760" cy="1664208"/>
          </a:xfrm>
          <a:prstGeom prst="rect">
            <a:avLst/>
          </a:prstGeom>
          <a:noFill/>
          <a:ln/>
        </p:spPr>
        <p:txBody>
          <a:bodyPr wrap="square" lIns="0" tIns="0" rIns="0" bIns="0" rtlCol="0" anchor="t"/>
          <a:lstStyle/>
          <a:p>
            <a:pPr indent="0" marL="0">
              <a:buNone/>
            </a:pPr>
            <a:r>
              <a:rPr lang="en-US" sz="1250" dirty="0">
                <a:solidFill>
                  <a:srgbClr val="62707E"/>
                </a:solidFill>
                <a:latin typeface="Calibri" pitchFamily="34" charset="0"/>
                <a:ea typeface="Calibri" pitchFamily="34" charset="-122"/>
                <a:cs typeface="Calibri" pitchFamily="34" charset="-120"/>
              </a:rPr>
              <a:t>Ten nodes, the last one carrying no value, with its next set to NULL explicitly.</a:t>
            </a:r>
            <a:endParaRPr lang="en-US" sz="1250" dirty="0"/>
          </a:p>
          <a:p>
            <a:pPr indent="0" marL="0">
              <a:buNone/>
            </a:pPr>
            <a:endParaRPr lang="en-US" sz="1250" dirty="0"/>
          </a:p>
          <a:p>
            <a:pPr indent="0" marL="0">
              <a:buNone/>
            </a:pPr>
            <a:r>
              <a:rPr lang="en-US" sz="1250" dirty="0">
                <a:solidFill>
                  <a:srgbClr val="62707E"/>
                </a:solidFill>
                <a:latin typeface="Calibri" pitchFamily="34" charset="0"/>
                <a:ea typeface="Calibri" pitchFamily="34" charset="-122"/>
                <a:cs typeface="Calibri" pitchFamily="34" charset="-120"/>
              </a:rPr>
              <a:t>Loops then read while (current-&gt;next != NULL), which is what the file already does.</a:t>
            </a:r>
            <a:endParaRPr lang="en-US" sz="1250" dirty="0"/>
          </a:p>
          <a:p>
            <a:pPr indent="0" marL="0">
              <a:buNone/>
            </a:pPr>
            <a:endParaRPr lang="en-US" sz="1250" dirty="0"/>
          </a:p>
          <a:p>
            <a:pPr indent="0" marL="0">
              <a:buNone/>
            </a:pPr>
            <a:r>
              <a:rPr lang="en-US" sz="1250" dirty="0">
                <a:solidFill>
                  <a:srgbClr val="62707E"/>
                </a:solidFill>
                <a:latin typeface="Calibri" pitchFamily="34" charset="0"/>
                <a:ea typeface="Calibri" pitchFamily="34" charset="-122"/>
                <a:cs typeface="Calibri" pitchFamily="34" charset="-120"/>
              </a:rPr>
              <a:t>Workable, but you now have a node that must never be printed and must still be freed.</a:t>
            </a:r>
            <a:endParaRPr lang="en-US" sz="1250" dirty="0"/>
          </a:p>
        </p:txBody>
      </p:sp>
      <p:sp>
        <p:nvSpPr>
          <p:cNvPr id="12" name="Shape 10"/>
          <p:cNvSpPr/>
          <p:nvPr/>
        </p:nvSpPr>
        <p:spPr>
          <a:xfrm>
            <a:off x="640080" y="4251960"/>
            <a:ext cx="10908792" cy="1653032"/>
          </a:xfrm>
          <a:prstGeom prst="roundRect">
            <a:avLst>
              <a:gd name="adj" fmla="val 3319"/>
            </a:avLst>
          </a:prstGeom>
          <a:solidFill>
            <a:srgbClr val="FBF1DF"/>
          </a:solidFill>
          <a:ln w="12700">
            <a:solidFill>
              <a:srgbClr val="333333"/>
            </a:solidFill>
            <a:prstDash val="solid"/>
          </a:ln>
        </p:spPr>
      </p:sp>
      <p:sp>
        <p:nvSpPr>
          <p:cNvPr id="13" name="Shape 11"/>
          <p:cNvSpPr/>
          <p:nvPr/>
        </p:nvSpPr>
        <p:spPr>
          <a:xfrm>
            <a:off x="877824" y="4457700"/>
            <a:ext cx="118872" cy="118872"/>
          </a:xfrm>
          <a:prstGeom prst="ellipse">
            <a:avLst/>
          </a:prstGeom>
          <a:solidFill>
            <a:srgbClr val="D9901F"/>
          </a:solidFill>
          <a:ln w="12700">
            <a:solidFill>
              <a:srgbClr val="333333"/>
            </a:solidFill>
            <a:prstDash val="solid"/>
          </a:ln>
        </p:spPr>
      </p:sp>
      <p:sp>
        <p:nvSpPr>
          <p:cNvPr id="14" name="Text 12"/>
          <p:cNvSpPr txBox="1"/>
          <p:nvPr/>
        </p:nvSpPr>
        <p:spPr>
          <a:xfrm>
            <a:off x="1097280" y="4407408"/>
            <a:ext cx="10268712" cy="228600"/>
          </a:xfrm>
          <a:prstGeom prst="rect">
            <a:avLst/>
          </a:prstGeom>
          <a:noFill/>
          <a:ln/>
        </p:spPr>
        <p:txBody>
          <a:bodyPr wrap="square" lIns="0" tIns="0" rIns="0" bIns="0" rtlCol="0" anchor="ctr"/>
          <a:lstStyle/>
          <a:p>
            <a:pPr indent="0" marL="0">
              <a:buNone/>
            </a:pPr>
            <a:r>
              <a:rPr lang="en-US" sz="1050" b="1" spc="120" kern="0" dirty="0">
                <a:solidFill>
                  <a:srgbClr val="D9901F"/>
                </a:solidFill>
                <a:latin typeface="Calibri" pitchFamily="34" charset="0"/>
                <a:ea typeface="Calibri" pitchFamily="34" charset="-122"/>
                <a:cs typeface="Calibri" pitchFamily="34" charset="-120"/>
              </a:rPr>
              <a:t>WHICHEVER YOU PICK</a:t>
            </a:r>
            <a:endParaRPr lang="en-US" sz="1050" dirty="0"/>
          </a:p>
        </p:txBody>
      </p:sp>
      <p:sp>
        <p:nvSpPr>
          <p:cNvPr id="15" name="Text 13"/>
          <p:cNvSpPr txBox="1"/>
          <p:nvPr/>
        </p:nvSpPr>
        <p:spPr>
          <a:xfrm>
            <a:off x="896112" y="4700016"/>
            <a:ext cx="10396728" cy="1095248"/>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A2530"/>
                </a:solidFill>
                <a:latin typeface="Calibri" pitchFamily="34" charset="0"/>
                <a:ea typeface="Calibri" pitchFamily="34" charset="-122"/>
                <a:cs typeface="Calibri" pitchFamily="34" charset="-120"/>
              </a:rPr>
              <a:t>Write the sentence down above your code: "the list ends at the node whose next is NULL" or "the list ends at the empty node whose next is NULL".</a:t>
            </a:r>
            <a:endParaRPr lang="en-US" sz="1300" dirty="0"/>
          </a:p>
          <a:p>
            <a:pPr marL="342900" indent="-342900">
              <a:spcAft>
                <a:spcPts val="400"/>
              </a:spcAft>
              <a:buSzPct val="100000"/>
              <a:buChar char="•"/>
            </a:pPr>
            <a:r>
              <a:rPr lang="en-US" sz="1300" dirty="0">
                <a:solidFill>
                  <a:srgbClr val="1A2530"/>
                </a:solidFill>
                <a:latin typeface="Calibri" pitchFamily="34" charset="0"/>
                <a:ea typeface="Calibri" pitchFamily="34" charset="-122"/>
                <a:cs typeface="Calibri" pitchFamily="34" charset="-120"/>
              </a:rPr>
              <a:t>Then check all three places against it: the construction loop in main, the loop in print_list, and the loop in erase_list. A bug in a linked list is almost always two of those three disagreeing.</a:t>
            </a:r>
            <a:endParaRPr lang="en-US" sz="130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145743"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145743"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hint 3 of 5</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Hint 3 — the loop that stops one node early</a:t>
            </a:r>
            <a:endParaRPr lang="en-US" sz="3000" dirty="0"/>
          </a:p>
        </p:txBody>
      </p:sp>
      <p:sp>
        <p:nvSpPr>
          <p:cNvPr id="5" name="Text 3"/>
          <p:cNvSpPr txBox="1"/>
          <p:nvPr/>
        </p:nvSpPr>
        <p:spPr>
          <a:xfrm>
            <a:off x="640080" y="1188720"/>
            <a:ext cx="10908792" cy="365760"/>
          </a:xfrm>
          <a:prstGeom prst="rect">
            <a:avLst/>
          </a:prstGeom>
          <a:noFill/>
          <a:ln/>
        </p:spPr>
        <p:txBody>
          <a:bodyPr wrap="square" lIns="0" tIns="0" rIns="0" bIns="0" rtlCol="0" anchor="t"/>
          <a:lstStyle/>
          <a:p>
            <a:pPr indent="0" marL="0">
              <a:lnSpc>
                <a:spcPts val="1823"/>
              </a:lnSpc>
              <a:buNone/>
            </a:pPr>
            <a:r>
              <a:rPr lang="en-US" sz="1350" dirty="0">
                <a:solidFill>
                  <a:srgbClr val="62707E"/>
                </a:solidFill>
                <a:latin typeface="Calibri" pitchFamily="34" charset="0"/>
                <a:ea typeface="Calibri" pitchFamily="34" charset="-122"/>
                <a:cs typeface="Calibri" pitchFamily="34" charset="-120"/>
              </a:rPr>
              <a:t>Take a list of exactly three nodes ending properly in NULL, and trace both conditions by hand. This is a thirty-second exercise on paper and it settles the question for good.</a:t>
            </a:r>
            <a:endParaRPr lang="en-US" sz="1350" dirty="0"/>
          </a:p>
        </p:txBody>
      </p:sp>
      <p:sp>
        <p:nvSpPr>
          <p:cNvPr id="6" name="Text 4"/>
          <p:cNvSpPr txBox="1"/>
          <p:nvPr/>
        </p:nvSpPr>
        <p:spPr>
          <a:xfrm>
            <a:off x="640080" y="1737360"/>
            <a:ext cx="557784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WHAT EACH CONDITION VISITS</a:t>
            </a:r>
            <a:endParaRPr lang="en-US" sz="950" dirty="0"/>
          </a:p>
        </p:txBody>
      </p:sp>
      <p:sp>
        <p:nvSpPr>
          <p:cNvPr id="7" name="Shape 5"/>
          <p:cNvSpPr/>
          <p:nvPr/>
        </p:nvSpPr>
        <p:spPr>
          <a:xfrm>
            <a:off x="640080" y="1984248"/>
            <a:ext cx="5577840" cy="1719072"/>
          </a:xfrm>
          <a:prstGeom prst="roundRect">
            <a:avLst>
              <a:gd name="adj" fmla="val 2660"/>
            </a:avLst>
          </a:prstGeom>
          <a:solidFill>
            <a:srgbClr val="16202B"/>
          </a:solidFill>
          <a:ln w="12700">
            <a:solidFill>
              <a:srgbClr val="333333"/>
            </a:solidFill>
            <a:prstDash val="solid"/>
          </a:ln>
        </p:spPr>
      </p:sp>
      <p:sp>
        <p:nvSpPr>
          <p:cNvPr id="8" name="Text 6"/>
          <p:cNvSpPr txBox="1"/>
          <p:nvPr/>
        </p:nvSpPr>
        <p:spPr>
          <a:xfrm>
            <a:off x="859536" y="2121408"/>
            <a:ext cx="5138928" cy="1444752"/>
          </a:xfrm>
          <a:prstGeom prst="rect">
            <a:avLst/>
          </a:prstGeom>
          <a:noFill/>
          <a:ln/>
        </p:spPr>
        <p:txBody>
          <a:bodyPr wrap="square" lIns="0" tIns="0" rIns="0" bIns="0" rtlCol="0" anchor="t"/>
          <a:lstStyle/>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list:  [A] -&gt; [B] -&gt; [C] -&gt; NULL</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while (current != NULL)</a:t>
            </a:r>
            <a:endParaRPr lang="en-US" sz="1200" dirty="0"/>
          </a:p>
          <a:p>
            <a:pPr indent="0" marL="0">
              <a:lnSpc>
                <a:spcPts val="1584"/>
              </a:lnSpc>
              <a:buNone/>
            </a:pPr>
            <a:r>
              <a:rPr lang="en-US" sz="1200" dirty="0">
                <a:solidFill>
                  <a:srgbClr val="D9901F"/>
                </a:solidFill>
                <a:latin typeface="Courier New" pitchFamily="34" charset="0"/>
                <a:ea typeface="Courier New" pitchFamily="34" charset="-122"/>
                <a:cs typeface="Courier New" pitchFamily="34" charset="-120"/>
              </a:rPr>
              <a:t>        visits A, B, C        &lt;- all of them</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while (current-&gt;next != NULL)</a:t>
            </a:r>
            <a:endParaRPr lang="en-US" sz="1200" dirty="0"/>
          </a:p>
          <a:p>
            <a:pPr indent="0" marL="0">
              <a:lnSpc>
                <a:spcPts val="1584"/>
              </a:lnSpc>
              <a:buNone/>
            </a:pPr>
            <a:r>
              <a:rPr lang="en-US" sz="1200" dirty="0">
                <a:solidFill>
                  <a:srgbClr val="D9901F"/>
                </a:solidFill>
                <a:latin typeface="Courier New" pitchFamily="34" charset="0"/>
                <a:ea typeface="Courier New" pitchFamily="34" charset="-122"/>
                <a:cs typeface="Courier New" pitchFamily="34" charset="-120"/>
              </a:rPr>
              <a:t>        visits A, B           &lt;- C is skipped</a:t>
            </a:r>
            <a:endParaRPr lang="en-US" sz="1200" dirty="0"/>
          </a:p>
        </p:txBody>
      </p:sp>
      <p:sp>
        <p:nvSpPr>
          <p:cNvPr id="9" name="Shape 7"/>
          <p:cNvSpPr/>
          <p:nvPr/>
        </p:nvSpPr>
        <p:spPr>
          <a:xfrm>
            <a:off x="640080" y="3822192"/>
            <a:ext cx="5577840" cy="1351407"/>
          </a:xfrm>
          <a:prstGeom prst="roundRect">
            <a:avLst>
              <a:gd name="adj" fmla="val 4060"/>
            </a:avLst>
          </a:prstGeom>
          <a:solidFill>
            <a:srgbClr val="E8F3ED"/>
          </a:solidFill>
          <a:ln w="12700">
            <a:solidFill>
              <a:srgbClr val="333333"/>
            </a:solidFill>
            <a:prstDash val="solid"/>
          </a:ln>
        </p:spPr>
      </p:sp>
      <p:sp>
        <p:nvSpPr>
          <p:cNvPr id="10" name="Shape 8"/>
          <p:cNvSpPr/>
          <p:nvPr/>
        </p:nvSpPr>
        <p:spPr>
          <a:xfrm>
            <a:off x="877824" y="4027932"/>
            <a:ext cx="118872" cy="118872"/>
          </a:xfrm>
          <a:prstGeom prst="ellipse">
            <a:avLst/>
          </a:prstGeom>
          <a:solidFill>
            <a:srgbClr val="2F8A63"/>
          </a:solidFill>
          <a:ln w="12700">
            <a:solidFill>
              <a:srgbClr val="333333"/>
            </a:solidFill>
            <a:prstDash val="solid"/>
          </a:ln>
        </p:spPr>
      </p:sp>
      <p:sp>
        <p:nvSpPr>
          <p:cNvPr id="11" name="Text 9"/>
          <p:cNvSpPr txBox="1"/>
          <p:nvPr/>
        </p:nvSpPr>
        <p:spPr>
          <a:xfrm>
            <a:off x="1097280" y="3977640"/>
            <a:ext cx="4937760" cy="228600"/>
          </a:xfrm>
          <a:prstGeom prst="rect">
            <a:avLst/>
          </a:prstGeom>
          <a:noFill/>
          <a:ln/>
        </p:spPr>
        <p:txBody>
          <a:bodyPr wrap="square" lIns="0" tIns="0" rIns="0" bIns="0" rtlCol="0" anchor="ctr"/>
          <a:lstStyle/>
          <a:p>
            <a:pPr indent="0" marL="0">
              <a:buNone/>
            </a:pPr>
            <a:r>
              <a:rPr lang="en-US" sz="1050" b="1" spc="120" kern="0" dirty="0">
                <a:solidFill>
                  <a:srgbClr val="2F8A63"/>
                </a:solidFill>
                <a:latin typeface="Calibri" pitchFamily="34" charset="0"/>
                <a:ea typeface="Calibri" pitchFamily="34" charset="-122"/>
                <a:cs typeface="Calibri" pitchFamily="34" charset="-120"/>
              </a:rPr>
              <a:t>NOTE</a:t>
            </a:r>
            <a:endParaRPr lang="en-US" sz="1050" dirty="0"/>
          </a:p>
        </p:txBody>
      </p:sp>
      <p:sp>
        <p:nvSpPr>
          <p:cNvPr id="12" name="Text 10"/>
          <p:cNvSpPr txBox="1"/>
          <p:nvPr/>
        </p:nvSpPr>
        <p:spPr>
          <a:xfrm>
            <a:off x="896112" y="4270248"/>
            <a:ext cx="5065776" cy="793623"/>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"Am I standing on a node?" and "is there a node after this one?" are different questions. Only the first one is a correct test for whether there is work left to do.</a:t>
            </a:r>
            <a:endParaRPr lang="en-US" sz="1250" dirty="0"/>
          </a:p>
        </p:txBody>
      </p:sp>
      <p:sp>
        <p:nvSpPr>
          <p:cNvPr id="13" name="Shape 11"/>
          <p:cNvSpPr/>
          <p:nvPr/>
        </p:nvSpPr>
        <p:spPr>
          <a:xfrm>
            <a:off x="6446520" y="1737360"/>
            <a:ext cx="5102352" cy="2257171"/>
          </a:xfrm>
          <a:prstGeom prst="roundRect">
            <a:avLst>
              <a:gd name="adj" fmla="val 2431"/>
            </a:avLst>
          </a:prstGeom>
          <a:solidFill>
            <a:srgbClr val="FAEBE8"/>
          </a:solidFill>
          <a:ln w="12700">
            <a:solidFill>
              <a:srgbClr val="333333"/>
            </a:solidFill>
            <a:prstDash val="solid"/>
          </a:ln>
        </p:spPr>
      </p:sp>
      <p:sp>
        <p:nvSpPr>
          <p:cNvPr id="14" name="Shape 12"/>
          <p:cNvSpPr/>
          <p:nvPr/>
        </p:nvSpPr>
        <p:spPr>
          <a:xfrm>
            <a:off x="6684264" y="1943100"/>
            <a:ext cx="118872" cy="118872"/>
          </a:xfrm>
          <a:prstGeom prst="ellipse">
            <a:avLst/>
          </a:prstGeom>
          <a:solidFill>
            <a:srgbClr val="B8412F"/>
          </a:solidFill>
          <a:ln w="12700">
            <a:solidFill>
              <a:srgbClr val="333333"/>
            </a:solidFill>
            <a:prstDash val="solid"/>
          </a:ln>
        </p:spPr>
      </p:sp>
      <p:sp>
        <p:nvSpPr>
          <p:cNvPr id="15" name="Text 13"/>
          <p:cNvSpPr txBox="1"/>
          <p:nvPr/>
        </p:nvSpPr>
        <p:spPr>
          <a:xfrm>
            <a:off x="6903720" y="1892808"/>
            <a:ext cx="4462272" cy="228600"/>
          </a:xfrm>
          <a:prstGeom prst="rect">
            <a:avLst/>
          </a:prstGeom>
          <a:noFill/>
          <a:ln/>
        </p:spPr>
        <p:txBody>
          <a:bodyPr wrap="square" lIns="0" tIns="0" rIns="0" bIns="0" rtlCol="0" anchor="ctr"/>
          <a:lstStyle/>
          <a:p>
            <a:pPr indent="0" marL="0">
              <a:buNone/>
            </a:pPr>
            <a:r>
              <a:rPr lang="en-US" sz="1050" b="1" spc="120" kern="0" dirty="0">
                <a:solidFill>
                  <a:srgbClr val="B8412F"/>
                </a:solidFill>
                <a:latin typeface="Calibri" pitchFamily="34" charset="0"/>
                <a:ea typeface="Calibri" pitchFamily="34" charset="-122"/>
                <a:cs typeface="Calibri" pitchFamily="34" charset="-120"/>
              </a:rPr>
              <a:t>THE TWO BUGS CANCEL OUT</a:t>
            </a:r>
            <a:endParaRPr lang="en-US" sz="1050" dirty="0"/>
          </a:p>
        </p:txBody>
      </p:sp>
      <p:sp>
        <p:nvSpPr>
          <p:cNvPr id="16" name="Text 14"/>
          <p:cNvSpPr txBox="1"/>
          <p:nvPr/>
        </p:nvSpPr>
        <p:spPr>
          <a:xfrm>
            <a:off x="6702552" y="2185416"/>
            <a:ext cx="4590288" cy="1699387"/>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530"/>
                </a:solidFill>
                <a:latin typeface="Calibri" pitchFamily="34" charset="0"/>
                <a:ea typeface="Calibri" pitchFamily="34" charset="-122"/>
                <a:cs typeface="Calibri" pitchFamily="34" charset="-120"/>
              </a:rPr>
              <a:t>With nine values, the file allocates a tenth node. print_list then stops one node early — at the tenth. So it prints exactly nine values and looks correct.</a:t>
            </a:r>
            <a:endParaRPr lang="en-US" sz="1250" dirty="0"/>
          </a:p>
          <a:p>
            <a:pPr marL="342900" indent="-342900">
              <a:spcAft>
                <a:spcPts val="400"/>
              </a:spcAft>
              <a:buSzPct val="100000"/>
              <a:buChar char="•"/>
            </a:pPr>
            <a:r>
              <a:rPr lang="en-US" sz="1250" dirty="0">
                <a:solidFill>
                  <a:srgbClr val="1A2530"/>
                </a:solidFill>
                <a:latin typeface="Calibri" pitchFamily="34" charset="0"/>
                <a:ea typeface="Calibri" pitchFamily="34" charset="-122"/>
                <a:cs typeface="Calibri" pitchFamily="34" charset="-120"/>
              </a:rPr>
              <a:t>Fix only the extra node and the output loses a value. Fix only the loop condition and it prints garbage from the tenth. You have to fix both, together, which is why hint 2 comes first.</a:t>
            </a:r>
            <a:endParaRPr lang="en-US" sz="1250" dirty="0"/>
          </a:p>
        </p:txBody>
      </p:sp>
      <p:sp>
        <p:nvSpPr>
          <p:cNvPr id="17" name="Shape 15"/>
          <p:cNvSpPr/>
          <p:nvPr/>
        </p:nvSpPr>
        <p:spPr>
          <a:xfrm>
            <a:off x="6446520" y="4370832"/>
            <a:ext cx="5102352" cy="1351407"/>
          </a:xfrm>
          <a:prstGeom prst="roundRect">
            <a:avLst>
              <a:gd name="adj" fmla="val 4060"/>
            </a:avLst>
          </a:prstGeom>
          <a:solidFill>
            <a:srgbClr val="FBF1DF"/>
          </a:solidFill>
          <a:ln w="12700">
            <a:solidFill>
              <a:srgbClr val="333333"/>
            </a:solidFill>
            <a:prstDash val="solid"/>
          </a:ln>
        </p:spPr>
      </p:sp>
      <p:sp>
        <p:nvSpPr>
          <p:cNvPr id="18" name="Shape 16"/>
          <p:cNvSpPr/>
          <p:nvPr/>
        </p:nvSpPr>
        <p:spPr>
          <a:xfrm>
            <a:off x="6684264" y="4576572"/>
            <a:ext cx="118872" cy="118872"/>
          </a:xfrm>
          <a:prstGeom prst="ellipse">
            <a:avLst/>
          </a:prstGeom>
          <a:solidFill>
            <a:srgbClr val="D9901F"/>
          </a:solidFill>
          <a:ln w="12700">
            <a:solidFill>
              <a:srgbClr val="333333"/>
            </a:solidFill>
            <a:prstDash val="solid"/>
          </a:ln>
        </p:spPr>
      </p:sp>
      <p:sp>
        <p:nvSpPr>
          <p:cNvPr id="19" name="Text 17"/>
          <p:cNvSpPr txBox="1"/>
          <p:nvPr/>
        </p:nvSpPr>
        <p:spPr>
          <a:xfrm>
            <a:off x="6903720" y="4526280"/>
            <a:ext cx="4462272" cy="228600"/>
          </a:xfrm>
          <a:prstGeom prst="rect">
            <a:avLst/>
          </a:prstGeom>
          <a:noFill/>
          <a:ln/>
        </p:spPr>
        <p:txBody>
          <a:bodyPr wrap="square" lIns="0" tIns="0" rIns="0" bIns="0" rtlCol="0" anchor="ctr"/>
          <a:lstStyle/>
          <a:p>
            <a:pPr indent="0" marL="0">
              <a:buNone/>
            </a:pPr>
            <a:r>
              <a:rPr lang="en-US" sz="1050" b="1" spc="120" kern="0" dirty="0">
                <a:solidFill>
                  <a:srgbClr val="D9901F"/>
                </a:solidFill>
                <a:latin typeface="Calibri" pitchFamily="34" charset="0"/>
                <a:ea typeface="Calibri" pitchFamily="34" charset="-122"/>
                <a:cs typeface="Calibri" pitchFamily="34" charset="-120"/>
              </a:rPr>
              <a:t>TRY IT</a:t>
            </a:r>
            <a:endParaRPr lang="en-US" sz="1050" dirty="0"/>
          </a:p>
        </p:txBody>
      </p:sp>
      <p:sp>
        <p:nvSpPr>
          <p:cNvPr id="20" name="Text 18"/>
          <p:cNvSpPr txBox="1"/>
          <p:nvPr/>
        </p:nvSpPr>
        <p:spPr>
          <a:xfrm>
            <a:off x="6702552" y="4818888"/>
            <a:ext cx="4590288" cy="793623"/>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Once fixed, test print_list on a list of one node, and on a head that is NULL. Both must work without a special case in main.</a:t>
            </a:r>
            <a:endParaRPr lang="en-US" sz="12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145743"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145743"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hint 4 of 5</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Hint 4 — erase_list frees what it still needs</a:t>
            </a:r>
            <a:endParaRPr lang="en-US" sz="3000" dirty="0"/>
          </a:p>
        </p:txBody>
      </p:sp>
      <p:sp>
        <p:nvSpPr>
          <p:cNvPr id="5" name="Text 3"/>
          <p:cNvSpPr txBox="1"/>
          <p:nvPr/>
        </p:nvSpPr>
        <p:spPr>
          <a:xfrm>
            <a:off x="640080" y="1188720"/>
            <a:ext cx="10908792" cy="365760"/>
          </a:xfrm>
          <a:prstGeom prst="rect">
            <a:avLst/>
          </a:prstGeom>
          <a:noFill/>
          <a:ln/>
        </p:spPr>
        <p:txBody>
          <a:bodyPr wrap="square" lIns="0" tIns="0" rIns="0" bIns="0" rtlCol="0" anchor="t"/>
          <a:lstStyle/>
          <a:p>
            <a:pPr indent="0" marL="0">
              <a:lnSpc>
                <a:spcPts val="1823"/>
              </a:lnSpc>
              <a:buNone/>
            </a:pPr>
            <a:r>
              <a:rPr lang="en-US" sz="1350" dirty="0">
                <a:solidFill>
                  <a:srgbClr val="62707E"/>
                </a:solidFill>
                <a:latin typeface="Calibri" pitchFamily="34" charset="0"/>
                <a:ea typeface="Calibri" pitchFamily="34" charset="-122"/>
                <a:cs typeface="Calibri" pitchFamily="34" charset="-120"/>
              </a:rPr>
              <a:t>As written, the loop is careful: it moves on before freeing. But it inherits the same condition as print_list, so it stops one node early — and that node is leaked on every single run.</a:t>
            </a:r>
            <a:endParaRPr lang="en-US" sz="1350" dirty="0"/>
          </a:p>
        </p:txBody>
      </p:sp>
      <p:sp>
        <p:nvSpPr>
          <p:cNvPr id="6" name="Text 4"/>
          <p:cNvSpPr txBox="1"/>
          <p:nvPr/>
        </p:nvSpPr>
        <p:spPr>
          <a:xfrm>
            <a:off x="640080" y="1737360"/>
            <a:ext cx="594360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FILL IN THE BLANKS</a:t>
            </a:r>
            <a:endParaRPr lang="en-US" sz="950" dirty="0"/>
          </a:p>
        </p:txBody>
      </p:sp>
      <p:sp>
        <p:nvSpPr>
          <p:cNvPr id="7" name="Shape 5"/>
          <p:cNvSpPr/>
          <p:nvPr/>
        </p:nvSpPr>
        <p:spPr>
          <a:xfrm>
            <a:off x="640080" y="1984248"/>
            <a:ext cx="5943600" cy="1920240"/>
          </a:xfrm>
          <a:prstGeom prst="roundRect">
            <a:avLst>
              <a:gd name="adj" fmla="val 2381"/>
            </a:avLst>
          </a:prstGeom>
          <a:solidFill>
            <a:srgbClr val="16202B"/>
          </a:solidFill>
          <a:ln w="12700">
            <a:solidFill>
              <a:srgbClr val="333333"/>
            </a:solidFill>
            <a:prstDash val="solid"/>
          </a:ln>
        </p:spPr>
      </p:sp>
      <p:sp>
        <p:nvSpPr>
          <p:cNvPr id="8" name="Text 6"/>
          <p:cNvSpPr txBox="1"/>
          <p:nvPr/>
        </p:nvSpPr>
        <p:spPr>
          <a:xfrm>
            <a:off x="859536" y="2121408"/>
            <a:ext cx="5504688" cy="1645920"/>
          </a:xfrm>
          <a:prstGeom prst="rect">
            <a:avLst/>
          </a:prstGeom>
          <a:noFill/>
          <a:ln/>
        </p:spPr>
        <p:txBody>
          <a:bodyPr wrap="square" lIns="0" tIns="0" rIns="0" bIns="0" rtlCol="0" anchor="t"/>
          <a:lstStyle/>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void erase_list(Node* head){</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Node* current = head;</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while (current != NULL){</a:t>
            </a:r>
            <a:endParaRPr lang="en-US" sz="1200" dirty="0"/>
          </a:p>
          <a:p>
            <a:pPr indent="0" marL="0">
              <a:lnSpc>
                <a:spcPts val="1584"/>
              </a:lnSpc>
              <a:buNone/>
            </a:pPr>
            <a:r>
              <a:rPr lang="en-US" sz="1200" dirty="0">
                <a:solidFill>
                  <a:srgbClr val="D9901F"/>
                </a:solidFill>
                <a:latin typeface="Courier New" pitchFamily="34" charset="0"/>
                <a:ea typeface="Courier New" pitchFamily="34" charset="-122"/>
                <a:cs typeface="Courier New" pitchFamily="34" charset="-120"/>
              </a:rPr>
              <a:t>                Node* next = ____;  </a:t>
            </a:r>
            <a:pPr indent="0" marL="0">
              <a:lnSpc>
                <a:spcPts val="1584"/>
              </a:lnSpc>
              <a:buNone/>
            </a:pPr>
            <a:r>
              <a:rPr lang="en-US" sz="1200" dirty="0">
                <a:solidFill>
                  <a:srgbClr val="D9901F"/>
                </a:solidFill>
                <a:latin typeface="Courier New" pitchFamily="34" charset="0"/>
                <a:ea typeface="Courier New" pitchFamily="34" charset="-122"/>
                <a:cs typeface="Courier New" pitchFamily="34" charset="-120"/>
              </a:rPr>
              <a:t>/* read BEFORE free */</a:t>
            </a:r>
            <a:endParaRPr lang="en-US" sz="1200" dirty="0"/>
          </a:p>
          <a:p>
            <a:pPr indent="0" marL="0">
              <a:lnSpc>
                <a:spcPts val="1584"/>
              </a:lnSpc>
              <a:buNone/>
            </a:pPr>
            <a:r>
              <a:rPr lang="en-US" sz="1200" dirty="0">
                <a:solidFill>
                  <a:srgbClr val="D9901F"/>
                </a:solidFill>
                <a:latin typeface="Courier New" pitchFamily="34" charset="0"/>
                <a:ea typeface="Courier New" pitchFamily="34" charset="-122"/>
                <a:cs typeface="Courier New" pitchFamily="34" charset="-120"/>
              </a:rPr>
              <a:t>                free(____);</a:t>
            </a:r>
            <a:endParaRPr lang="en-US" sz="1200" dirty="0"/>
          </a:p>
          <a:p>
            <a:pPr indent="0" marL="0">
              <a:lnSpc>
                <a:spcPts val="1584"/>
              </a:lnSpc>
              <a:buNone/>
            </a:pPr>
            <a:r>
              <a:rPr lang="en-US" sz="1200" dirty="0">
                <a:solidFill>
                  <a:srgbClr val="D9901F"/>
                </a:solidFill>
                <a:latin typeface="Courier New" pitchFamily="34" charset="0"/>
                <a:ea typeface="Courier New" pitchFamily="34" charset="-122"/>
                <a:cs typeface="Courier New" pitchFamily="34" charset="-120"/>
              </a:rPr>
              <a:t>                current = ____;</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        }</a:t>
            </a:r>
            <a:endParaRPr lang="en-US" sz="1200" dirty="0"/>
          </a:p>
          <a:p>
            <a:pPr indent="0" marL="0">
              <a:lnSpc>
                <a:spcPts val="1584"/>
              </a:lnSpc>
              <a:buNone/>
            </a:pPr>
            <a:r>
              <a:rPr lang="en-US" sz="1200" dirty="0">
                <a:solidFill>
                  <a:srgbClr val="E3EAF1"/>
                </a:solidFill>
                <a:latin typeface="Courier New" pitchFamily="34" charset="0"/>
                <a:ea typeface="Courier New" pitchFamily="34" charset="-122"/>
                <a:cs typeface="Courier New" pitchFamily="34" charset="-120"/>
              </a:rPr>
              <a:t>}</a:t>
            </a:r>
            <a:endParaRPr lang="en-US" sz="1200" dirty="0"/>
          </a:p>
        </p:txBody>
      </p:sp>
      <p:sp>
        <p:nvSpPr>
          <p:cNvPr id="9" name="Shape 7"/>
          <p:cNvSpPr/>
          <p:nvPr/>
        </p:nvSpPr>
        <p:spPr>
          <a:xfrm>
            <a:off x="640080" y="4096512"/>
            <a:ext cx="5943600" cy="1564132"/>
          </a:xfrm>
          <a:prstGeom prst="roundRect">
            <a:avLst>
              <a:gd name="adj" fmla="val 3508"/>
            </a:avLst>
          </a:prstGeom>
          <a:solidFill>
            <a:srgbClr val="FAEBE8"/>
          </a:solidFill>
          <a:ln w="12700">
            <a:solidFill>
              <a:srgbClr val="333333"/>
            </a:solidFill>
            <a:prstDash val="solid"/>
          </a:ln>
        </p:spPr>
      </p:sp>
      <p:sp>
        <p:nvSpPr>
          <p:cNvPr id="10" name="Shape 8"/>
          <p:cNvSpPr/>
          <p:nvPr/>
        </p:nvSpPr>
        <p:spPr>
          <a:xfrm>
            <a:off x="877824" y="4302252"/>
            <a:ext cx="118872" cy="118872"/>
          </a:xfrm>
          <a:prstGeom prst="ellipse">
            <a:avLst/>
          </a:prstGeom>
          <a:solidFill>
            <a:srgbClr val="B8412F"/>
          </a:solidFill>
          <a:ln w="12700">
            <a:solidFill>
              <a:srgbClr val="333333"/>
            </a:solidFill>
            <a:prstDash val="solid"/>
          </a:ln>
        </p:spPr>
      </p:sp>
      <p:sp>
        <p:nvSpPr>
          <p:cNvPr id="11" name="Text 9"/>
          <p:cNvSpPr txBox="1"/>
          <p:nvPr/>
        </p:nvSpPr>
        <p:spPr>
          <a:xfrm>
            <a:off x="1097280" y="4251960"/>
            <a:ext cx="5303520" cy="228600"/>
          </a:xfrm>
          <a:prstGeom prst="rect">
            <a:avLst/>
          </a:prstGeom>
          <a:noFill/>
          <a:ln/>
        </p:spPr>
        <p:txBody>
          <a:bodyPr wrap="square" lIns="0" tIns="0" rIns="0" bIns="0" rtlCol="0" anchor="ctr"/>
          <a:lstStyle/>
          <a:p>
            <a:pPr indent="0" marL="0">
              <a:buNone/>
            </a:pPr>
            <a:r>
              <a:rPr lang="en-US" sz="1050" b="1" spc="120" kern="0" dirty="0">
                <a:solidFill>
                  <a:srgbClr val="B8412F"/>
                </a:solidFill>
                <a:latin typeface="Calibri" pitchFamily="34" charset="0"/>
                <a:ea typeface="Calibri" pitchFamily="34" charset="-122"/>
                <a:cs typeface="Calibri" pitchFamily="34" charset="-120"/>
              </a:rPr>
              <a:t>THE ORDER IS THE WHOLE POINT</a:t>
            </a:r>
            <a:endParaRPr lang="en-US" sz="1050" dirty="0"/>
          </a:p>
        </p:txBody>
      </p:sp>
      <p:sp>
        <p:nvSpPr>
          <p:cNvPr id="12" name="Text 10"/>
          <p:cNvSpPr txBox="1"/>
          <p:nvPr/>
        </p:nvSpPr>
        <p:spPr>
          <a:xfrm>
            <a:off x="896112" y="4544568"/>
            <a:ext cx="5431536" cy="1006348"/>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free(current) then current = current-&gt;next reads a field of a block that no longer belongs to you. The value is often still there, so it usually appears to work. The sanitizer calls it heap-use-after-free and it is one of the nastiest bugs in C.</a:t>
            </a:r>
            <a:endParaRPr lang="en-US" sz="1250" dirty="0"/>
          </a:p>
        </p:txBody>
      </p:sp>
      <p:sp>
        <p:nvSpPr>
          <p:cNvPr id="13" name="Text 11"/>
          <p:cNvSpPr txBox="1"/>
          <p:nvPr/>
        </p:nvSpPr>
        <p:spPr>
          <a:xfrm>
            <a:off x="6812280" y="1737360"/>
            <a:ext cx="4736592" cy="292608"/>
          </a:xfrm>
          <a:prstGeom prst="rect">
            <a:avLst/>
          </a:prstGeom>
          <a:noFill/>
          <a:ln/>
        </p:spPr>
        <p:txBody>
          <a:bodyPr wrap="square" lIns="0" tIns="0" rIns="0" bIns="0" rtlCol="0" anchor="ctr"/>
          <a:lstStyle/>
          <a:p>
            <a:pPr indent="0" marL="0">
              <a:buNone/>
            </a:pPr>
            <a:r>
              <a:rPr lang="en-US" sz="1900" b="1" dirty="0">
                <a:solidFill>
                  <a:srgbClr val="1A2530"/>
                </a:solidFill>
                <a:latin typeface="Calibri" pitchFamily="34" charset="0"/>
                <a:ea typeface="Calibri" pitchFamily="34" charset="-122"/>
                <a:cs typeface="Calibri" pitchFamily="34" charset="-120"/>
              </a:rPr>
              <a:t>How you will know</a:t>
            </a:r>
            <a:endParaRPr lang="en-US" sz="1900" dirty="0"/>
          </a:p>
        </p:txBody>
      </p:sp>
      <p:sp>
        <p:nvSpPr>
          <p:cNvPr id="14" name="Shape 12"/>
          <p:cNvSpPr/>
          <p:nvPr/>
        </p:nvSpPr>
        <p:spPr>
          <a:xfrm>
            <a:off x="6812280" y="2148840"/>
            <a:ext cx="4736592" cy="1417320"/>
          </a:xfrm>
          <a:prstGeom prst="roundRect">
            <a:avLst>
              <a:gd name="adj" fmla="val 3226"/>
            </a:avLst>
          </a:prstGeom>
          <a:solidFill>
            <a:srgbClr val="101A24"/>
          </a:solidFill>
          <a:ln w="12700">
            <a:solidFill>
              <a:srgbClr val="333333"/>
            </a:solidFill>
            <a:prstDash val="solid"/>
          </a:ln>
        </p:spPr>
      </p:sp>
      <p:sp>
        <p:nvSpPr>
          <p:cNvPr id="15" name="Text 13"/>
          <p:cNvSpPr txBox="1"/>
          <p:nvPr/>
        </p:nvSpPr>
        <p:spPr>
          <a:xfrm>
            <a:off x="7031736" y="2286000"/>
            <a:ext cx="4297680" cy="1143000"/>
          </a:xfrm>
          <a:prstGeom prst="rect">
            <a:avLst/>
          </a:prstGeom>
          <a:noFill/>
          <a:ln/>
        </p:spPr>
        <p:txBody>
          <a:bodyPr wrap="square" lIns="0" tIns="0" rIns="0" bIns="0" rtlCol="0" anchor="t"/>
          <a:lstStyle/>
          <a:p>
            <a:pPr indent="0" marL="0">
              <a:lnSpc>
                <a:spcPts val="1452"/>
              </a:lnSpc>
              <a:buNone/>
            </a:pPr>
            <a:r>
              <a:rPr lang="en-US" sz="1100" dirty="0">
                <a:solidFill>
                  <a:srgbClr val="F0A79A"/>
                </a:solidFill>
                <a:latin typeface="Courier New" pitchFamily="34" charset="0"/>
                <a:ea typeface="Courier New" pitchFamily="34" charset="-122"/>
                <a:cs typeface="Courier New" pitchFamily="34" charset="-120"/>
              </a:rPr>
              <a:t>==1==ERROR: AddressSanitizer:</a:t>
            </a:r>
            <a:endParaRPr lang="en-US" sz="1100" dirty="0"/>
          </a:p>
          <a:p>
            <a:pPr indent="0" marL="0">
              <a:lnSpc>
                <a:spcPts val="1452"/>
              </a:lnSpc>
              <a:buNone/>
            </a:pPr>
            <a:r>
              <a:rPr lang="en-US" sz="1100" dirty="0">
                <a:solidFill>
                  <a:srgbClr val="F0A79A"/>
                </a:solidFill>
                <a:latin typeface="Courier New" pitchFamily="34" charset="0"/>
                <a:ea typeface="Courier New" pitchFamily="34" charset="-122"/>
                <a:cs typeface="Courier New" pitchFamily="34" charset="-120"/>
              </a:rPr>
              <a:t>  heap-use-after-free on address ...</a:t>
            </a:r>
            <a:endParaRPr lang="en-US" sz="1100" dirty="0"/>
          </a:p>
          <a:p>
            <a:pPr indent="0" marL="0">
              <a:lnSpc>
                <a:spcPts val="1452"/>
              </a:lnSpc>
              <a:buNone/>
            </a:pPr>
            <a:r>
              <a:rPr lang="en-US" sz="1100" dirty="0">
                <a:solidFill>
                  <a:srgbClr val="F0A79A"/>
                </a:solidFill>
                <a:latin typeface="Courier New" pitchFamily="34" charset="0"/>
                <a:ea typeface="Courier New" pitchFamily="34" charset="-122"/>
                <a:cs typeface="Courier New" pitchFamily="34" charset="-120"/>
              </a:rPr>
              <a:t>READ of size 8 at 0x... thread T0</a:t>
            </a:r>
            <a:endParaRPr lang="en-US" sz="1100" dirty="0"/>
          </a:p>
          <a:p>
            <a:pPr indent="0" marL="0">
              <a:lnSpc>
                <a:spcPts val="1452"/>
              </a:lnSpc>
              <a:buNone/>
            </a:pPr>
            <a:r>
              <a:rPr lang="en-US" sz="1100" dirty="0">
                <a:solidFill>
                  <a:srgbClr val="F0A79A"/>
                </a:solidFill>
                <a:latin typeface="Courier New" pitchFamily="34" charset="0"/>
                <a:ea typeface="Courier New" pitchFamily="34" charset="-122"/>
                <a:cs typeface="Courier New" pitchFamily="34" charset="-120"/>
              </a:rPr>
              <a:t>  #0 in erase_list linked_list.c:24</a:t>
            </a:r>
            <a:endParaRPr lang="en-US" sz="1100" dirty="0"/>
          </a:p>
          <a:p>
            <a:pPr indent="0" marL="0">
              <a:lnSpc>
                <a:spcPts val="1452"/>
              </a:lnSpc>
              <a:buNone/>
            </a:pPr>
            <a:r>
              <a:rPr lang="en-US" sz="1100" dirty="0">
                <a:solidFill>
                  <a:srgbClr val="F0A79A"/>
                </a:solidFill>
                <a:latin typeface="Courier New" pitchFamily="34" charset="0"/>
                <a:ea typeface="Courier New" pitchFamily="34" charset="-122"/>
                <a:cs typeface="Courier New" pitchFamily="34" charset="-120"/>
              </a:rPr>
              <a:t>freed by thread T0 here:</a:t>
            </a:r>
            <a:endParaRPr lang="en-US" sz="1100" dirty="0"/>
          </a:p>
          <a:p>
            <a:pPr indent="0" marL="0">
              <a:lnSpc>
                <a:spcPts val="1452"/>
              </a:lnSpc>
              <a:buNone/>
            </a:pPr>
            <a:r>
              <a:rPr lang="en-US" sz="1100" dirty="0">
                <a:solidFill>
                  <a:srgbClr val="F0A79A"/>
                </a:solidFill>
                <a:latin typeface="Courier New" pitchFamily="34" charset="0"/>
                <a:ea typeface="Courier New" pitchFamily="34" charset="-122"/>
                <a:cs typeface="Courier New" pitchFamily="34" charset="-120"/>
              </a:rPr>
              <a:t>  #0 in free</a:t>
            </a:r>
            <a:endParaRPr lang="en-US" sz="1100" dirty="0"/>
          </a:p>
        </p:txBody>
      </p:sp>
      <p:sp>
        <p:nvSpPr>
          <p:cNvPr id="16" name="Shape 14"/>
          <p:cNvSpPr/>
          <p:nvPr/>
        </p:nvSpPr>
        <p:spPr>
          <a:xfrm>
            <a:off x="6812280" y="3794760"/>
            <a:ext cx="4736592" cy="1564132"/>
          </a:xfrm>
          <a:prstGeom prst="roundRect">
            <a:avLst>
              <a:gd name="adj" fmla="val 3508"/>
            </a:avLst>
          </a:prstGeom>
          <a:solidFill>
            <a:srgbClr val="E8F3ED"/>
          </a:solidFill>
          <a:ln w="12700">
            <a:solidFill>
              <a:srgbClr val="333333"/>
            </a:solidFill>
            <a:prstDash val="solid"/>
          </a:ln>
        </p:spPr>
      </p:sp>
      <p:sp>
        <p:nvSpPr>
          <p:cNvPr id="17" name="Shape 15"/>
          <p:cNvSpPr/>
          <p:nvPr/>
        </p:nvSpPr>
        <p:spPr>
          <a:xfrm>
            <a:off x="7050024" y="4000500"/>
            <a:ext cx="118872" cy="118872"/>
          </a:xfrm>
          <a:prstGeom prst="ellipse">
            <a:avLst/>
          </a:prstGeom>
          <a:solidFill>
            <a:srgbClr val="2F8A63"/>
          </a:solidFill>
          <a:ln w="12700">
            <a:solidFill>
              <a:srgbClr val="333333"/>
            </a:solidFill>
            <a:prstDash val="solid"/>
          </a:ln>
        </p:spPr>
      </p:sp>
      <p:sp>
        <p:nvSpPr>
          <p:cNvPr id="18" name="Text 16"/>
          <p:cNvSpPr txBox="1"/>
          <p:nvPr/>
        </p:nvSpPr>
        <p:spPr>
          <a:xfrm>
            <a:off x="7269480" y="3950208"/>
            <a:ext cx="4096512" cy="228600"/>
          </a:xfrm>
          <a:prstGeom prst="rect">
            <a:avLst/>
          </a:prstGeom>
          <a:noFill/>
          <a:ln/>
        </p:spPr>
        <p:txBody>
          <a:bodyPr wrap="square" lIns="0" tIns="0" rIns="0" bIns="0" rtlCol="0" anchor="ctr"/>
          <a:lstStyle/>
          <a:p>
            <a:pPr indent="0" marL="0">
              <a:buNone/>
            </a:pPr>
            <a:r>
              <a:rPr lang="en-US" sz="1050" b="1" spc="120" kern="0" dirty="0">
                <a:solidFill>
                  <a:srgbClr val="2F8A63"/>
                </a:solidFill>
                <a:latin typeface="Calibri" pitchFamily="34" charset="0"/>
                <a:ea typeface="Calibri" pitchFamily="34" charset="-122"/>
                <a:cs typeface="Calibri" pitchFamily="34" charset="-120"/>
              </a:rPr>
              <a:t>AND FOR THE LEAK</a:t>
            </a:r>
            <a:endParaRPr lang="en-US" sz="1050" dirty="0"/>
          </a:p>
        </p:txBody>
      </p:sp>
      <p:sp>
        <p:nvSpPr>
          <p:cNvPr id="19" name="Text 17"/>
          <p:cNvSpPr txBox="1"/>
          <p:nvPr/>
        </p:nvSpPr>
        <p:spPr>
          <a:xfrm>
            <a:off x="7068312" y="4242816"/>
            <a:ext cx="4224528" cy="1006348"/>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A clean run under -fsanitize=address ends with nothing at all. One node left behind is reported as a direct leak of 16 bytes, with the malloc that created it.</a:t>
            </a:r>
            <a:endParaRPr lang="en-US" sz="12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145743"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145743"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hint 5 of 5</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Hint 5 — the last two lines of main()</a:t>
            </a:r>
            <a:endParaRPr lang="en-US" sz="3000" dirty="0"/>
          </a:p>
        </p:txBody>
      </p:sp>
      <p:sp>
        <p:nvSpPr>
          <p:cNvPr id="5" name="Shape 3"/>
          <p:cNvSpPr/>
          <p:nvPr/>
        </p:nvSpPr>
        <p:spPr>
          <a:xfrm>
            <a:off x="640080" y="1298448"/>
            <a:ext cx="5943600" cy="746760"/>
          </a:xfrm>
          <a:prstGeom prst="roundRect">
            <a:avLst>
              <a:gd name="adj" fmla="val 6122"/>
            </a:avLst>
          </a:prstGeom>
          <a:solidFill>
            <a:srgbClr val="16202B"/>
          </a:solidFill>
          <a:ln w="12700">
            <a:solidFill>
              <a:srgbClr val="333333"/>
            </a:solidFill>
            <a:prstDash val="solid"/>
          </a:ln>
        </p:spPr>
      </p:sp>
      <p:sp>
        <p:nvSpPr>
          <p:cNvPr id="6" name="Text 4"/>
          <p:cNvSpPr txBox="1"/>
          <p:nvPr/>
        </p:nvSpPr>
        <p:spPr>
          <a:xfrm>
            <a:off x="859536" y="1435608"/>
            <a:ext cx="5504688" cy="472440"/>
          </a:xfrm>
          <a:prstGeom prst="rect">
            <a:avLst/>
          </a:prstGeom>
          <a:noFill/>
          <a:ln/>
        </p:spPr>
        <p:txBody>
          <a:bodyPr wrap="square" lIns="0" tIns="0" rIns="0" bIns="0" rtlCol="0" anchor="t"/>
          <a:lstStyle/>
          <a:p>
            <a:pPr indent="0" marL="0">
              <a:lnSpc>
                <a:spcPts val="1716"/>
              </a:lnSpc>
              <a:buNone/>
            </a:pPr>
            <a:r>
              <a:rPr lang="en-US" sz="1300" dirty="0">
                <a:solidFill>
                  <a:srgbClr val="E3EAF1"/>
                </a:solidFill>
                <a:latin typeface="Courier New" pitchFamily="34" charset="0"/>
                <a:ea typeface="Courier New" pitchFamily="34" charset="-122"/>
                <a:cs typeface="Courier New" pitchFamily="34" charset="-120"/>
              </a:rPr>
              <a:t>erase_list(first_node);</a:t>
            </a:r>
            <a:endParaRPr lang="en-US" sz="1300" dirty="0"/>
          </a:p>
          <a:p>
            <a:pPr indent="0" marL="0">
              <a:lnSpc>
                <a:spcPts val="1716"/>
              </a:lnSpc>
              <a:buNone/>
            </a:pPr>
            <a:r>
              <a:rPr lang="en-US" sz="1300" dirty="0">
                <a:solidFill>
                  <a:srgbClr val="D9901F"/>
                </a:solidFill>
                <a:latin typeface="Courier New" pitchFamily="34" charset="0"/>
                <a:ea typeface="Courier New" pitchFamily="34" charset="-122"/>
                <a:cs typeface="Courier New" pitchFamily="34" charset="-120"/>
              </a:rPr>
              <a:t>print_list(first_node);   </a:t>
            </a:r>
            <a:pPr indent="0" marL="0">
              <a:lnSpc>
                <a:spcPts val="1716"/>
              </a:lnSpc>
              <a:buNone/>
            </a:pPr>
            <a:r>
              <a:rPr lang="en-US" sz="1300" dirty="0">
                <a:solidFill>
                  <a:srgbClr val="D9901F"/>
                </a:solidFill>
                <a:latin typeface="Courier New" pitchFamily="34" charset="0"/>
                <a:ea typeface="Courier New" pitchFamily="34" charset="-122"/>
                <a:cs typeface="Courier New" pitchFamily="34" charset="-120"/>
              </a:rPr>
              <a:t>// every node is gone</a:t>
            </a:r>
            <a:endParaRPr lang="en-US" sz="1300" dirty="0"/>
          </a:p>
        </p:txBody>
      </p:sp>
      <p:sp>
        <p:nvSpPr>
          <p:cNvPr id="7" name="Text 5"/>
          <p:cNvSpPr txBox="1"/>
          <p:nvPr/>
        </p:nvSpPr>
        <p:spPr>
          <a:xfrm>
            <a:off x="640080" y="2286000"/>
            <a:ext cx="5943600" cy="914400"/>
          </a:xfrm>
          <a:prstGeom prst="rect">
            <a:avLst/>
          </a:prstGeom>
          <a:noFill/>
          <a:ln/>
        </p:spPr>
        <p:txBody>
          <a:bodyPr wrap="square" lIns="0" tIns="0" rIns="0" bIns="0" rtlCol="0" anchor="t"/>
          <a:lstStyle/>
          <a:p>
            <a:pPr indent="0" marL="0">
              <a:lnSpc>
                <a:spcPts val="1755"/>
              </a:lnSpc>
              <a:buNone/>
            </a:pPr>
            <a:r>
              <a:rPr lang="en-US" sz="1300" dirty="0">
                <a:solidFill>
                  <a:srgbClr val="1A2530"/>
                </a:solidFill>
                <a:latin typeface="Calibri" pitchFamily="34" charset="0"/>
                <a:ea typeface="Calibri" pitchFamily="34" charset="-122"/>
                <a:cs typeface="Calibri" pitchFamily="34" charset="-120"/>
              </a:rPr>
              <a:t>first_node still holds the address it always held. The memory at that address is no longer yours. erase_list cannot have fixed this: it was handed a copy of the pointer, so anything it assigns to its own parameter dies with the function.</a:t>
            </a:r>
            <a:endParaRPr lang="en-US" sz="1300" dirty="0"/>
          </a:p>
        </p:txBody>
      </p:sp>
      <p:sp>
        <p:nvSpPr>
          <p:cNvPr id="8" name="Text 6"/>
          <p:cNvSpPr txBox="1"/>
          <p:nvPr/>
        </p:nvSpPr>
        <p:spPr>
          <a:xfrm>
            <a:off x="640080" y="3291840"/>
            <a:ext cx="594360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IF YOU WANT erase_list TO CLEAR THE CALLER'S POINTER</a:t>
            </a:r>
            <a:endParaRPr lang="en-US" sz="950" dirty="0"/>
          </a:p>
        </p:txBody>
      </p:sp>
      <p:sp>
        <p:nvSpPr>
          <p:cNvPr id="9" name="Shape 7"/>
          <p:cNvSpPr/>
          <p:nvPr/>
        </p:nvSpPr>
        <p:spPr>
          <a:xfrm>
            <a:off x="640080" y="3538728"/>
            <a:ext cx="5943600" cy="1467612"/>
          </a:xfrm>
          <a:prstGeom prst="roundRect">
            <a:avLst>
              <a:gd name="adj" fmla="val 3115"/>
            </a:avLst>
          </a:prstGeom>
          <a:solidFill>
            <a:srgbClr val="16202B"/>
          </a:solidFill>
          <a:ln w="12700">
            <a:solidFill>
              <a:srgbClr val="333333"/>
            </a:solidFill>
            <a:prstDash val="solid"/>
          </a:ln>
        </p:spPr>
      </p:sp>
      <p:sp>
        <p:nvSpPr>
          <p:cNvPr id="10" name="Text 8"/>
          <p:cNvSpPr txBox="1"/>
          <p:nvPr/>
        </p:nvSpPr>
        <p:spPr>
          <a:xfrm>
            <a:off x="859536" y="3675888"/>
            <a:ext cx="5504688" cy="1193292"/>
          </a:xfrm>
          <a:prstGeom prst="rect">
            <a:avLst/>
          </a:prstGeom>
          <a:noFill/>
          <a:ln/>
        </p:spPr>
        <p:txBody>
          <a:bodyPr wrap="square" lIns="0" tIns="0" rIns="0" bIns="0" rtlCol="0" anchor="t"/>
          <a:lstStyle/>
          <a:p>
            <a:pPr indent="0" marL="0">
              <a:lnSpc>
                <a:spcPts val="1518"/>
              </a:lnSpc>
              <a:buNone/>
            </a:pPr>
            <a:r>
              <a:rPr lang="en-US" sz="1150" dirty="0">
                <a:solidFill>
                  <a:srgbClr val="D9901F"/>
                </a:solidFill>
                <a:latin typeface="Courier New" pitchFamily="34" charset="0"/>
                <a:ea typeface="Courier New" pitchFamily="34" charset="-122"/>
                <a:cs typeface="Courier New" pitchFamily="34" charset="-120"/>
              </a:rPr>
              <a:t>void erase_list(Node** head){</a:t>
            </a:r>
            <a:endParaRPr lang="en-US" sz="1150" dirty="0"/>
          </a:p>
          <a:p>
            <a:pPr indent="0" marL="0">
              <a:lnSpc>
                <a:spcPts val="1518"/>
              </a:lnSpc>
              <a:buNone/>
            </a:pPr>
            <a:r>
              <a:rPr lang="en-US" sz="1150" dirty="0">
                <a:solidFill>
                  <a:srgbClr val="8090A0"/>
                </a:solidFill>
                <a:latin typeface="Courier New" pitchFamily="34" charset="0"/>
                <a:ea typeface="Courier New" pitchFamily="34" charset="-122"/>
                <a:cs typeface="Courier New" pitchFamily="34" charset="-120"/>
              </a:rPr>
              <a:t>        /* ... free every node ... */</a:t>
            </a:r>
            <a:endParaRPr lang="en-US" sz="1150" dirty="0"/>
          </a:p>
          <a:p>
            <a:pPr indent="0" marL="0">
              <a:lnSpc>
                <a:spcPts val="1518"/>
              </a:lnSpc>
              <a:buNone/>
            </a:pPr>
            <a:r>
              <a:rPr lang="en-US" sz="1150" dirty="0">
                <a:solidFill>
                  <a:srgbClr val="D9901F"/>
                </a:solidFill>
                <a:latin typeface="Courier New" pitchFamily="34" charset="0"/>
                <a:ea typeface="Courier New" pitchFamily="34" charset="-122"/>
                <a:cs typeface="Courier New" pitchFamily="34" charset="-120"/>
              </a:rPr>
              <a:t>        *head = NULL;</a:t>
            </a:r>
            <a:endParaRPr lang="en-US" sz="1150" dirty="0"/>
          </a:p>
          <a:p>
            <a:pPr indent="0" marL="0">
              <a:lnSpc>
                <a:spcPts val="1518"/>
              </a:lnSpc>
              <a:buNone/>
            </a:pPr>
            <a:r>
              <a:rPr lang="en-US" sz="1150" dirty="0">
                <a:solidFill>
                  <a:srgbClr val="E3EAF1"/>
                </a:solidFill>
                <a:latin typeface="Courier New" pitchFamily="34" charset="0"/>
                <a:ea typeface="Courier New" pitchFamily="34" charset="-122"/>
                <a:cs typeface="Courier New" pitchFamily="34" charset="-120"/>
              </a:rPr>
              <a:t>}</a:t>
            </a:r>
            <a:endParaRPr lang="en-US" sz="1150" dirty="0"/>
          </a:p>
          <a:p>
            <a:pPr indent="0" marL="0">
              <a:lnSpc>
                <a:spcPts val="1518"/>
              </a:lnSpc>
              <a:buNone/>
            </a:pPr>
            <a:r>
              <a:rPr lang="en-US" sz="1150" dirty="0">
                <a:solidFill>
                  <a:srgbClr val="E3EAF1"/>
                </a:solidFill>
                <a:latin typeface="Courier New" pitchFamily="34" charset="0"/>
                <a:ea typeface="Courier New" pitchFamily="34" charset="-122"/>
                <a:cs typeface="Courier New" pitchFamily="34" charset="-120"/>
              </a:rPr>
              <a:t> </a:t>
            </a:r>
            <a:endParaRPr lang="en-US" sz="1150" dirty="0"/>
          </a:p>
          <a:p>
            <a:pPr indent="0" marL="0">
              <a:lnSpc>
                <a:spcPts val="1518"/>
              </a:lnSpc>
              <a:buNone/>
            </a:pPr>
            <a:r>
              <a:rPr lang="en-US" sz="1150" dirty="0">
                <a:solidFill>
                  <a:srgbClr val="E3EAF1"/>
                </a:solidFill>
                <a:latin typeface="Courier New" pitchFamily="34" charset="0"/>
                <a:ea typeface="Courier New" pitchFamily="34" charset="-122"/>
                <a:cs typeface="Courier New" pitchFamily="34" charset="-120"/>
              </a:rPr>
              <a:t>erase_list(&amp;first_node);   </a:t>
            </a:r>
            <a:pPr indent="0" marL="0">
              <a:lnSpc>
                <a:spcPts val="1518"/>
              </a:lnSpc>
              <a:buNone/>
            </a:pPr>
            <a:r>
              <a:rPr lang="en-US" sz="1150" dirty="0">
                <a:solidFill>
                  <a:srgbClr val="8090A0"/>
                </a:solidFill>
                <a:latin typeface="Courier New" pitchFamily="34" charset="0"/>
                <a:ea typeface="Courier New" pitchFamily="34" charset="-122"/>
                <a:cs typeface="Courier New" pitchFamily="34" charset="-120"/>
              </a:rPr>
              <a:t>// at the call site</a:t>
            </a:r>
            <a:endParaRPr lang="en-US" sz="1150" dirty="0"/>
          </a:p>
        </p:txBody>
      </p:sp>
      <p:sp>
        <p:nvSpPr>
          <p:cNvPr id="11" name="Shape 9"/>
          <p:cNvSpPr/>
          <p:nvPr/>
        </p:nvSpPr>
        <p:spPr>
          <a:xfrm>
            <a:off x="6812280" y="1298448"/>
            <a:ext cx="4736592" cy="2312035"/>
          </a:xfrm>
          <a:prstGeom prst="roundRect">
            <a:avLst>
              <a:gd name="adj" fmla="val 2373"/>
            </a:avLst>
          </a:prstGeom>
          <a:solidFill>
            <a:srgbClr val="E8F3ED"/>
          </a:solidFill>
          <a:ln w="12700">
            <a:solidFill>
              <a:srgbClr val="333333"/>
            </a:solidFill>
            <a:prstDash val="solid"/>
          </a:ln>
        </p:spPr>
      </p:sp>
      <p:sp>
        <p:nvSpPr>
          <p:cNvPr id="12" name="Shape 10"/>
          <p:cNvSpPr/>
          <p:nvPr/>
        </p:nvSpPr>
        <p:spPr>
          <a:xfrm>
            <a:off x="7050024" y="1504188"/>
            <a:ext cx="118872" cy="118872"/>
          </a:xfrm>
          <a:prstGeom prst="ellipse">
            <a:avLst/>
          </a:prstGeom>
          <a:solidFill>
            <a:srgbClr val="2F8A63"/>
          </a:solidFill>
          <a:ln w="12700">
            <a:solidFill>
              <a:srgbClr val="333333"/>
            </a:solidFill>
            <a:prstDash val="solid"/>
          </a:ln>
        </p:spPr>
      </p:sp>
      <p:sp>
        <p:nvSpPr>
          <p:cNvPr id="13" name="Text 11"/>
          <p:cNvSpPr txBox="1"/>
          <p:nvPr/>
        </p:nvSpPr>
        <p:spPr>
          <a:xfrm>
            <a:off x="7269480" y="1453896"/>
            <a:ext cx="4096512" cy="228600"/>
          </a:xfrm>
          <a:prstGeom prst="rect">
            <a:avLst/>
          </a:prstGeom>
          <a:noFill/>
          <a:ln/>
        </p:spPr>
        <p:txBody>
          <a:bodyPr wrap="square" lIns="0" tIns="0" rIns="0" bIns="0" rtlCol="0" anchor="ctr"/>
          <a:lstStyle/>
          <a:p>
            <a:pPr indent="0" marL="0">
              <a:buNone/>
            </a:pPr>
            <a:r>
              <a:rPr lang="en-US" sz="1050" b="1" spc="120" kern="0" dirty="0">
                <a:solidFill>
                  <a:srgbClr val="2F8A63"/>
                </a:solidFill>
                <a:latin typeface="Calibri" pitchFamily="34" charset="0"/>
                <a:ea typeface="Calibri" pitchFamily="34" charset="-122"/>
                <a:cs typeface="Calibri" pitchFamily="34" charset="-120"/>
              </a:rPr>
              <a:t>THE SIMPLE FIX FIRST</a:t>
            </a:r>
            <a:endParaRPr lang="en-US" sz="1050" dirty="0"/>
          </a:p>
        </p:txBody>
      </p:sp>
      <p:sp>
        <p:nvSpPr>
          <p:cNvPr id="14" name="Text 12"/>
          <p:cNvSpPr txBox="1"/>
          <p:nvPr/>
        </p:nvSpPr>
        <p:spPr>
          <a:xfrm>
            <a:off x="7068312" y="1746504"/>
            <a:ext cx="4224528" cy="1754251"/>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530"/>
                </a:solidFill>
                <a:latin typeface="Calibri" pitchFamily="34" charset="0"/>
                <a:ea typeface="Calibri" pitchFamily="34" charset="-122"/>
                <a:cs typeface="Calibri" pitchFamily="34" charset="-120"/>
              </a:rPr>
              <a:t>Set first_node = NULL; yourself, straight after the call.</a:t>
            </a:r>
            <a:endParaRPr lang="en-US" sz="1250" dirty="0"/>
          </a:p>
          <a:p>
            <a:pPr marL="342900" indent="-342900">
              <a:spcAft>
                <a:spcPts val="400"/>
              </a:spcAft>
              <a:buSzPct val="100000"/>
              <a:buChar char="•"/>
            </a:pPr>
            <a:r>
              <a:rPr lang="en-US" sz="1250" dirty="0">
                <a:solidFill>
                  <a:srgbClr val="1A2530"/>
                </a:solidFill>
                <a:latin typeface="Calibri" pitchFamily="34" charset="0"/>
                <a:ea typeface="Calibri" pitchFamily="34" charset="-122"/>
                <a:cs typeface="Calibri" pitchFamily="34" charset="-120"/>
              </a:rPr>
              <a:t>Then make print_list survive a NULL head by printing nothing — which it will already do, once its loop tests current != NULL.</a:t>
            </a:r>
            <a:endParaRPr lang="en-US" sz="1250" dirty="0"/>
          </a:p>
          <a:p>
            <a:pPr marL="342900" indent="-342900">
              <a:spcAft>
                <a:spcPts val="400"/>
              </a:spcAft>
              <a:buSzPct val="100000"/>
              <a:buChar char="•"/>
            </a:pPr>
            <a:r>
              <a:rPr lang="en-US" sz="1250" dirty="0">
                <a:solidFill>
                  <a:srgbClr val="1A2530"/>
                </a:solidFill>
                <a:latin typeface="Calibri" pitchFamily="34" charset="0"/>
                <a:ea typeface="Calibri" pitchFamily="34" charset="-122"/>
                <a:cs typeface="Calibri" pitchFamily="34" charset="-120"/>
              </a:rPr>
              <a:t>The second print then produces an empty line, which is the correct answer for an empty list.</a:t>
            </a:r>
            <a:endParaRPr lang="en-US" sz="1250" dirty="0"/>
          </a:p>
        </p:txBody>
      </p:sp>
      <p:sp>
        <p:nvSpPr>
          <p:cNvPr id="15" name="Shape 13"/>
          <p:cNvSpPr/>
          <p:nvPr/>
        </p:nvSpPr>
        <p:spPr>
          <a:xfrm>
            <a:off x="6812280" y="3950208"/>
            <a:ext cx="4736592" cy="1898904"/>
          </a:xfrm>
          <a:prstGeom prst="roundRect">
            <a:avLst>
              <a:gd name="adj" fmla="val 2889"/>
            </a:avLst>
          </a:prstGeom>
          <a:solidFill>
            <a:srgbClr val="FAEBE8"/>
          </a:solidFill>
          <a:ln w="12700">
            <a:solidFill>
              <a:srgbClr val="333333"/>
            </a:solidFill>
            <a:prstDash val="solid"/>
          </a:ln>
        </p:spPr>
      </p:sp>
      <p:sp>
        <p:nvSpPr>
          <p:cNvPr id="16" name="Shape 14"/>
          <p:cNvSpPr/>
          <p:nvPr/>
        </p:nvSpPr>
        <p:spPr>
          <a:xfrm>
            <a:off x="7050024" y="4155948"/>
            <a:ext cx="118872" cy="118872"/>
          </a:xfrm>
          <a:prstGeom prst="ellipse">
            <a:avLst/>
          </a:prstGeom>
          <a:solidFill>
            <a:srgbClr val="B8412F"/>
          </a:solidFill>
          <a:ln w="12700">
            <a:solidFill>
              <a:srgbClr val="333333"/>
            </a:solidFill>
            <a:prstDash val="solid"/>
          </a:ln>
        </p:spPr>
      </p:sp>
      <p:sp>
        <p:nvSpPr>
          <p:cNvPr id="17" name="Text 15"/>
          <p:cNvSpPr txBox="1"/>
          <p:nvPr/>
        </p:nvSpPr>
        <p:spPr>
          <a:xfrm>
            <a:off x="7269480" y="4105656"/>
            <a:ext cx="4096512" cy="228600"/>
          </a:xfrm>
          <a:prstGeom prst="rect">
            <a:avLst/>
          </a:prstGeom>
          <a:noFill/>
          <a:ln/>
        </p:spPr>
        <p:txBody>
          <a:bodyPr wrap="square" lIns="0" tIns="0" rIns="0" bIns="0" rtlCol="0" anchor="ctr"/>
          <a:lstStyle/>
          <a:p>
            <a:pPr indent="0" marL="0">
              <a:buNone/>
            </a:pPr>
            <a:r>
              <a:rPr lang="en-US" sz="1050" b="1" spc="120" kern="0" dirty="0">
                <a:solidFill>
                  <a:srgbClr val="B8412F"/>
                </a:solidFill>
                <a:latin typeface="Calibri" pitchFamily="34" charset="0"/>
                <a:ea typeface="Calibri" pitchFamily="34" charset="-122"/>
                <a:cs typeface="Calibri" pitchFamily="34" charset="-120"/>
              </a:rPr>
              <a:t>SMALLER THINGS, ONCE THE REST WORKS</a:t>
            </a:r>
            <a:endParaRPr lang="en-US" sz="1050" dirty="0"/>
          </a:p>
        </p:txBody>
      </p:sp>
      <p:sp>
        <p:nvSpPr>
          <p:cNvPr id="18" name="Text 16"/>
          <p:cNvSpPr txBox="1"/>
          <p:nvPr/>
        </p:nvSpPr>
        <p:spPr>
          <a:xfrm>
            <a:off x="7068312" y="4398264"/>
            <a:ext cx="4224528" cy="1341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A2530"/>
                </a:solidFill>
                <a:latin typeface="Calibri" pitchFamily="34" charset="0"/>
                <a:ea typeface="Calibri" pitchFamily="34" charset="-122"/>
                <a:cs typeface="Calibri" pitchFamily="34" charset="-120"/>
              </a:rPr>
              <a:t>The (Node*) cast on malloc is unnecessary in C.</a:t>
            </a:r>
            <a:endParaRPr lang="en-US" sz="1200" dirty="0"/>
          </a:p>
          <a:p>
            <a:pPr marL="342900" indent="-342900">
              <a:spcAft>
                <a:spcPts val="400"/>
              </a:spcAft>
              <a:buSzPct val="100000"/>
              <a:buChar char="•"/>
            </a:pPr>
            <a:r>
              <a:rPr lang="en-US" sz="1200" dirty="0">
                <a:solidFill>
                  <a:srgbClr val="1A2530"/>
                </a:solidFill>
                <a:latin typeface="Calibri" pitchFamily="34" charset="0"/>
                <a:ea typeface="Calibri" pitchFamily="34" charset="-122"/>
                <a:cs typeface="Calibri" pitchFamily="34" charset="-120"/>
              </a:rPr>
              <a:t>malloc can return NULL. Nothing here checks it.</a:t>
            </a:r>
            <a:endParaRPr lang="en-US" sz="1200" dirty="0"/>
          </a:p>
          <a:p>
            <a:pPr marL="342900" indent="-342900">
              <a:spcAft>
                <a:spcPts val="400"/>
              </a:spcAft>
              <a:buSzPct val="100000"/>
              <a:buChar char="•"/>
            </a:pPr>
            <a:r>
              <a:rPr lang="en-US" sz="1200" dirty="0">
                <a:solidFill>
                  <a:srgbClr val="1A2530"/>
                </a:solidFill>
                <a:latin typeface="Calibri" pitchFamily="34" charset="0"/>
                <a:ea typeface="Calibri" pitchFamily="34" charset="-122"/>
                <a:cs typeface="Calibri" pitchFamily="34" charset="-120"/>
              </a:rPr>
              <a:t>print_list leaves a trailing comma. Decide what you want.</a:t>
            </a:r>
            <a:endParaRPr lang="en-US" sz="1200" dirty="0"/>
          </a:p>
          <a:p>
            <a:pPr marL="342900" indent="-342900">
              <a:spcAft>
                <a:spcPts val="400"/>
              </a:spcAft>
              <a:buSzPct val="100000"/>
              <a:buChar char="•"/>
            </a:pPr>
            <a:r>
              <a:rPr lang="en-US" sz="1200" dirty="0">
                <a:solidFill>
                  <a:srgbClr val="1A2530"/>
                </a:solidFill>
                <a:latin typeface="Calibri" pitchFamily="34" charset="0"/>
                <a:ea typeface="Calibri" pitchFamily="34" charset="-122"/>
                <a:cs typeface="Calibri" pitchFamily="34" charset="-120"/>
              </a:rPr>
              <a:t>main has no return 0.</a:t>
            </a:r>
            <a:endParaRPr lang="en-US" sz="120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069848"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069848"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extensions</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Going further with the linked list</a:t>
            </a:r>
            <a:endParaRPr lang="en-US" sz="3000" dirty="0"/>
          </a:p>
        </p:txBody>
      </p:sp>
      <p:sp>
        <p:nvSpPr>
          <p:cNvPr id="5" name="Shape 3"/>
          <p:cNvSpPr/>
          <p:nvPr/>
        </p:nvSpPr>
        <p:spPr>
          <a:xfrm>
            <a:off x="640080" y="1463040"/>
            <a:ext cx="3453384" cy="1965960"/>
          </a:xfrm>
          <a:prstGeom prst="roundRect">
            <a:avLst>
              <a:gd name="adj" fmla="val 2791"/>
            </a:avLst>
          </a:prstGeom>
          <a:solidFill>
            <a:srgbClr val="F2F5F8"/>
          </a:solidFill>
          <a:ln w="12700">
            <a:solidFill>
              <a:srgbClr val="333333"/>
            </a:solidFill>
            <a:prstDash val="solid"/>
          </a:ln>
        </p:spPr>
      </p:sp>
      <p:sp>
        <p:nvSpPr>
          <p:cNvPr id="6" name="Shape 4"/>
          <p:cNvSpPr/>
          <p:nvPr/>
        </p:nvSpPr>
        <p:spPr>
          <a:xfrm>
            <a:off x="859536" y="1645920"/>
            <a:ext cx="384048" cy="384048"/>
          </a:xfrm>
          <a:prstGeom prst="ellipse">
            <a:avLst/>
          </a:prstGeom>
          <a:solidFill>
            <a:srgbClr val="D9901F"/>
          </a:solidFill>
          <a:ln w="12700">
            <a:solidFill>
              <a:srgbClr val="333333"/>
            </a:solidFill>
            <a:prstDash val="solid"/>
          </a:ln>
        </p:spPr>
      </p:sp>
      <p:sp>
        <p:nvSpPr>
          <p:cNvPr id="7" name="Text 5"/>
          <p:cNvSpPr txBox="1"/>
          <p:nvPr/>
        </p:nvSpPr>
        <p:spPr>
          <a:xfrm>
            <a:off x="859536"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77824" y="215798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Build it properly</a:t>
            </a:r>
            <a:endParaRPr lang="en-US" sz="1500" dirty="0"/>
          </a:p>
        </p:txBody>
      </p:sp>
      <p:sp>
        <p:nvSpPr>
          <p:cNvPr id="9" name="Text 7"/>
          <p:cNvSpPr txBox="1"/>
          <p:nvPr/>
        </p:nvSpPr>
        <p:spPr>
          <a:xfrm>
            <a:off x="877824" y="2468880"/>
            <a:ext cx="2996184" cy="8321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Write Node* push_front(Node* head, int value) returning the new head, and rebuild the nine-element list with a loop that calls it. Notice the list comes out backwards.</a:t>
            </a:r>
            <a:endParaRPr lang="en-US" sz="1200" dirty="0"/>
          </a:p>
        </p:txBody>
      </p:sp>
      <p:sp>
        <p:nvSpPr>
          <p:cNvPr id="10" name="Shape 8"/>
          <p:cNvSpPr/>
          <p:nvPr/>
        </p:nvSpPr>
        <p:spPr>
          <a:xfrm>
            <a:off x="4367784" y="1463040"/>
            <a:ext cx="3453384" cy="1965960"/>
          </a:xfrm>
          <a:prstGeom prst="roundRect">
            <a:avLst>
              <a:gd name="adj" fmla="val 2791"/>
            </a:avLst>
          </a:prstGeom>
          <a:solidFill>
            <a:srgbClr val="F2F5F8"/>
          </a:solidFill>
          <a:ln w="12700">
            <a:solidFill>
              <a:srgbClr val="333333"/>
            </a:solidFill>
            <a:prstDash val="solid"/>
          </a:ln>
        </p:spPr>
      </p:sp>
      <p:sp>
        <p:nvSpPr>
          <p:cNvPr id="11" name="Shape 9"/>
          <p:cNvSpPr/>
          <p:nvPr/>
        </p:nvSpPr>
        <p:spPr>
          <a:xfrm>
            <a:off x="4587240" y="1645920"/>
            <a:ext cx="384048" cy="384048"/>
          </a:xfrm>
          <a:prstGeom prst="ellipse">
            <a:avLst/>
          </a:prstGeom>
          <a:solidFill>
            <a:srgbClr val="D9901F"/>
          </a:solidFill>
          <a:ln w="12700">
            <a:solidFill>
              <a:srgbClr val="333333"/>
            </a:solidFill>
            <a:prstDash val="solid"/>
          </a:ln>
        </p:spPr>
      </p:sp>
      <p:sp>
        <p:nvSpPr>
          <p:cNvPr id="12" name="Text 10"/>
          <p:cNvSpPr txBox="1"/>
          <p:nvPr/>
        </p:nvSpPr>
        <p:spPr>
          <a:xfrm>
            <a:off x="458724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4605528" y="215798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Ask it questions</a:t>
            </a:r>
            <a:endParaRPr lang="en-US" sz="1500" dirty="0"/>
          </a:p>
        </p:txBody>
      </p:sp>
      <p:sp>
        <p:nvSpPr>
          <p:cNvPr id="14" name="Text 12"/>
          <p:cNvSpPr txBox="1"/>
          <p:nvPr/>
        </p:nvSpPr>
        <p:spPr>
          <a:xfrm>
            <a:off x="4605528" y="2468880"/>
            <a:ext cx="2996184" cy="8321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Add size_t length(Node* head) and Node* find(Node* head, int value). Both are the same walk you have already written twice.</a:t>
            </a:r>
            <a:endParaRPr lang="en-US" sz="1200" dirty="0"/>
          </a:p>
        </p:txBody>
      </p:sp>
      <p:sp>
        <p:nvSpPr>
          <p:cNvPr id="15" name="Shape 13"/>
          <p:cNvSpPr/>
          <p:nvPr/>
        </p:nvSpPr>
        <p:spPr>
          <a:xfrm>
            <a:off x="8095488" y="1463040"/>
            <a:ext cx="3453384" cy="1965960"/>
          </a:xfrm>
          <a:prstGeom prst="roundRect">
            <a:avLst>
              <a:gd name="adj" fmla="val 2791"/>
            </a:avLst>
          </a:prstGeom>
          <a:solidFill>
            <a:srgbClr val="F2F5F8"/>
          </a:solidFill>
          <a:ln w="12700">
            <a:solidFill>
              <a:srgbClr val="333333"/>
            </a:solidFill>
            <a:prstDash val="solid"/>
          </a:ln>
        </p:spPr>
      </p:sp>
      <p:sp>
        <p:nvSpPr>
          <p:cNvPr id="16" name="Shape 14"/>
          <p:cNvSpPr/>
          <p:nvPr/>
        </p:nvSpPr>
        <p:spPr>
          <a:xfrm>
            <a:off x="8314944" y="1645920"/>
            <a:ext cx="384048" cy="384048"/>
          </a:xfrm>
          <a:prstGeom prst="ellipse">
            <a:avLst/>
          </a:prstGeom>
          <a:solidFill>
            <a:srgbClr val="D9901F"/>
          </a:solidFill>
          <a:ln w="12700">
            <a:solidFill>
              <a:srgbClr val="333333"/>
            </a:solidFill>
            <a:prstDash val="solid"/>
          </a:ln>
        </p:spPr>
      </p:sp>
      <p:sp>
        <p:nvSpPr>
          <p:cNvPr id="17" name="Text 15"/>
          <p:cNvSpPr txBox="1"/>
          <p:nvPr/>
        </p:nvSpPr>
        <p:spPr>
          <a:xfrm>
            <a:off x="8314944"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8333232" y="215798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Delete one node</a:t>
            </a:r>
            <a:endParaRPr lang="en-US" sz="1500" dirty="0"/>
          </a:p>
        </p:txBody>
      </p:sp>
      <p:sp>
        <p:nvSpPr>
          <p:cNvPr id="19" name="Text 17"/>
          <p:cNvSpPr txBox="1"/>
          <p:nvPr/>
        </p:nvSpPr>
        <p:spPr>
          <a:xfrm>
            <a:off x="8333232" y="2468880"/>
            <a:ext cx="2996184" cy="8321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Node* remove_value(Node* head, int value). The interesting case is when the node to remove is the head itself, which is why the function has to return the new head.</a:t>
            </a:r>
            <a:endParaRPr lang="en-US" sz="1200" dirty="0"/>
          </a:p>
        </p:txBody>
      </p:sp>
      <p:sp>
        <p:nvSpPr>
          <p:cNvPr id="20" name="Shape 18"/>
          <p:cNvSpPr/>
          <p:nvPr/>
        </p:nvSpPr>
        <p:spPr>
          <a:xfrm>
            <a:off x="640080" y="3611880"/>
            <a:ext cx="3453384" cy="1965960"/>
          </a:xfrm>
          <a:prstGeom prst="roundRect">
            <a:avLst>
              <a:gd name="adj" fmla="val 2791"/>
            </a:avLst>
          </a:prstGeom>
          <a:solidFill>
            <a:srgbClr val="F2F5F8"/>
          </a:solidFill>
          <a:ln w="12700">
            <a:solidFill>
              <a:srgbClr val="333333"/>
            </a:solidFill>
            <a:prstDash val="solid"/>
          </a:ln>
        </p:spPr>
      </p:sp>
      <p:sp>
        <p:nvSpPr>
          <p:cNvPr id="21" name="Shape 19"/>
          <p:cNvSpPr/>
          <p:nvPr/>
        </p:nvSpPr>
        <p:spPr>
          <a:xfrm>
            <a:off x="859536" y="3794760"/>
            <a:ext cx="384048" cy="384048"/>
          </a:xfrm>
          <a:prstGeom prst="ellipse">
            <a:avLst/>
          </a:prstGeom>
          <a:solidFill>
            <a:srgbClr val="D9901F"/>
          </a:solidFill>
          <a:ln w="12700">
            <a:solidFill>
              <a:srgbClr val="333333"/>
            </a:solidFill>
            <a:prstDash val="solid"/>
          </a:ln>
        </p:spPr>
      </p:sp>
      <p:sp>
        <p:nvSpPr>
          <p:cNvPr id="22" name="Text 20"/>
          <p:cNvSpPr txBox="1"/>
          <p:nvPr/>
        </p:nvSpPr>
        <p:spPr>
          <a:xfrm>
            <a:off x="859536" y="3794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877824" y="430682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Reverse it</a:t>
            </a:r>
            <a:endParaRPr lang="en-US" sz="1500" dirty="0"/>
          </a:p>
        </p:txBody>
      </p:sp>
      <p:sp>
        <p:nvSpPr>
          <p:cNvPr id="24" name="Text 22"/>
          <p:cNvSpPr txBox="1"/>
          <p:nvPr/>
        </p:nvSpPr>
        <p:spPr>
          <a:xfrm>
            <a:off x="877824" y="4617720"/>
            <a:ext cx="2996184" cy="8321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In one pass, with three pointers and no new allocation. Harder than it sounds, and a classic interview question for exactly that reason.</a:t>
            </a:r>
            <a:endParaRPr lang="en-US" sz="1200" dirty="0"/>
          </a:p>
        </p:txBody>
      </p:sp>
      <p:sp>
        <p:nvSpPr>
          <p:cNvPr id="25" name="Shape 23"/>
          <p:cNvSpPr/>
          <p:nvPr/>
        </p:nvSpPr>
        <p:spPr>
          <a:xfrm>
            <a:off x="4367784" y="3611880"/>
            <a:ext cx="3453384" cy="1965960"/>
          </a:xfrm>
          <a:prstGeom prst="roundRect">
            <a:avLst>
              <a:gd name="adj" fmla="val 2791"/>
            </a:avLst>
          </a:prstGeom>
          <a:solidFill>
            <a:srgbClr val="F2F5F8"/>
          </a:solidFill>
          <a:ln w="12700">
            <a:solidFill>
              <a:srgbClr val="333333"/>
            </a:solidFill>
            <a:prstDash val="solid"/>
          </a:ln>
        </p:spPr>
      </p:sp>
      <p:sp>
        <p:nvSpPr>
          <p:cNvPr id="26" name="Shape 24"/>
          <p:cNvSpPr/>
          <p:nvPr/>
        </p:nvSpPr>
        <p:spPr>
          <a:xfrm>
            <a:off x="4587240" y="3794760"/>
            <a:ext cx="384048" cy="384048"/>
          </a:xfrm>
          <a:prstGeom prst="ellipse">
            <a:avLst/>
          </a:prstGeom>
          <a:solidFill>
            <a:srgbClr val="D9901F"/>
          </a:solidFill>
          <a:ln w="12700">
            <a:solidFill>
              <a:srgbClr val="333333"/>
            </a:solidFill>
            <a:prstDash val="solid"/>
          </a:ln>
        </p:spPr>
      </p:sp>
      <p:sp>
        <p:nvSpPr>
          <p:cNvPr id="27" name="Text 25"/>
          <p:cNvSpPr txBox="1"/>
          <p:nvPr/>
        </p:nvSpPr>
        <p:spPr>
          <a:xfrm>
            <a:off x="4587240" y="3794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4605528" y="430682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Both directions</a:t>
            </a:r>
            <a:endParaRPr lang="en-US" sz="1500" dirty="0"/>
          </a:p>
        </p:txBody>
      </p:sp>
      <p:sp>
        <p:nvSpPr>
          <p:cNvPr id="29" name="Text 27"/>
          <p:cNvSpPr txBox="1"/>
          <p:nvPr/>
        </p:nvSpPr>
        <p:spPr>
          <a:xfrm>
            <a:off x="4605528" y="4617720"/>
            <a:ext cx="2996184" cy="8321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Add Node* prev to the struct and keep it consistent through every insert and delete. Twice the pointers, four times the mistakes.</a:t>
            </a:r>
            <a:endParaRPr lang="en-US" sz="1200" dirty="0"/>
          </a:p>
        </p:txBody>
      </p:sp>
      <p:sp>
        <p:nvSpPr>
          <p:cNvPr id="30" name="Shape 28"/>
          <p:cNvSpPr/>
          <p:nvPr/>
        </p:nvSpPr>
        <p:spPr>
          <a:xfrm>
            <a:off x="8095488" y="3611880"/>
            <a:ext cx="3453384" cy="1965960"/>
          </a:xfrm>
          <a:prstGeom prst="roundRect">
            <a:avLst>
              <a:gd name="adj" fmla="val 2791"/>
            </a:avLst>
          </a:prstGeom>
          <a:solidFill>
            <a:srgbClr val="F2F5F8"/>
          </a:solidFill>
          <a:ln w="12700">
            <a:solidFill>
              <a:srgbClr val="333333"/>
            </a:solidFill>
            <a:prstDash val="solid"/>
          </a:ln>
        </p:spPr>
      </p:sp>
      <p:sp>
        <p:nvSpPr>
          <p:cNvPr id="31" name="Shape 29"/>
          <p:cNvSpPr/>
          <p:nvPr/>
        </p:nvSpPr>
        <p:spPr>
          <a:xfrm>
            <a:off x="8314944" y="3794760"/>
            <a:ext cx="384048" cy="384048"/>
          </a:xfrm>
          <a:prstGeom prst="ellipse">
            <a:avLst/>
          </a:prstGeom>
          <a:solidFill>
            <a:srgbClr val="D9901F"/>
          </a:solidFill>
          <a:ln w="12700">
            <a:solidFill>
              <a:srgbClr val="333333"/>
            </a:solidFill>
            <a:prstDash val="solid"/>
          </a:ln>
        </p:spPr>
      </p:sp>
      <p:sp>
        <p:nvSpPr>
          <p:cNvPr id="32" name="Text 30"/>
          <p:cNvSpPr txBox="1"/>
          <p:nvPr/>
        </p:nvSpPr>
        <p:spPr>
          <a:xfrm>
            <a:off x="8314944" y="3794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txBox="1"/>
          <p:nvPr/>
        </p:nvSpPr>
        <p:spPr>
          <a:xfrm>
            <a:off x="8333232" y="4306824"/>
            <a:ext cx="2996184" cy="274320"/>
          </a:xfrm>
          <a:prstGeom prst="rect">
            <a:avLst/>
          </a:prstGeom>
          <a:noFill/>
          <a:ln/>
        </p:spPr>
        <p:txBody>
          <a:bodyPr wrap="square" lIns="0" tIns="0" rIns="0" bIns="0" rtlCol="0" anchor="ctr"/>
          <a:lstStyle/>
          <a:p>
            <a:pPr indent="0" marL="0">
              <a:buNone/>
            </a:pPr>
            <a:r>
              <a:rPr lang="en-US" sz="1500" b="1" dirty="0">
                <a:solidFill>
                  <a:srgbClr val="1A2530"/>
                </a:solidFill>
                <a:latin typeface="Calibri" pitchFamily="34" charset="0"/>
                <a:ea typeface="Calibri" pitchFamily="34" charset="-122"/>
                <a:cs typeface="Calibri" pitchFamily="34" charset="-120"/>
              </a:rPr>
              <a:t>Carry real data</a:t>
            </a:r>
            <a:endParaRPr lang="en-US" sz="1500" dirty="0"/>
          </a:p>
        </p:txBody>
      </p:sp>
      <p:sp>
        <p:nvSpPr>
          <p:cNvPr id="34" name="Text 32"/>
          <p:cNvSpPr txBox="1"/>
          <p:nvPr/>
        </p:nvSpPr>
        <p:spPr>
          <a:xfrm>
            <a:off x="8333232" y="4617720"/>
            <a:ext cx="2996184" cy="832104"/>
          </a:xfrm>
          <a:prstGeom prst="rect">
            <a:avLst/>
          </a:prstGeom>
          <a:noFill/>
          <a:ln/>
        </p:spPr>
        <p:txBody>
          <a:bodyPr wrap="square" lIns="0" tIns="0" rIns="0" bIns="0" rtlCol="0" anchor="t"/>
          <a:lstStyle/>
          <a:p>
            <a:pPr indent="0" marL="0">
              <a:buNone/>
            </a:pPr>
            <a:r>
              <a:rPr lang="en-US" sz="1200" dirty="0">
                <a:solidFill>
                  <a:srgbClr val="62707E"/>
                </a:solidFill>
                <a:latin typeface="Calibri" pitchFamily="34" charset="0"/>
                <a:ea typeface="Calibri" pitchFamily="34" charset="-122"/>
                <a:cs typeface="Calibri" pitchFamily="34" charset="-120"/>
              </a:rPr>
              <a:t>Replace int data with the Enemy struct from file 01. Nothing about the list changes, which is the point of separating structure from payload.</a:t>
            </a:r>
            <a:endParaRPr lang="en-US" sz="120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1449324"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1449324"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self-assessment</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Checklist: exercise B</a:t>
            </a:r>
            <a:endParaRPr lang="en-US" sz="3000" dirty="0"/>
          </a:p>
        </p:txBody>
      </p:sp>
      <p:sp>
        <p:nvSpPr>
          <p:cNvPr id="5" name="Text 3"/>
          <p:cNvSpPr txBox="1"/>
          <p:nvPr/>
        </p:nvSpPr>
        <p:spPr>
          <a:xfrm>
            <a:off x="640080" y="1188720"/>
            <a:ext cx="10908792" cy="365760"/>
          </a:xfrm>
          <a:prstGeom prst="rect">
            <a:avLst/>
          </a:prstGeom>
          <a:noFill/>
          <a:ln/>
        </p:spPr>
        <p:txBody>
          <a:bodyPr wrap="square" lIns="0" tIns="0" rIns="0" bIns="0" rtlCol="0" anchor="t"/>
          <a:lstStyle/>
          <a:p>
            <a:pPr indent="0" marL="0">
              <a:lnSpc>
                <a:spcPts val="1823"/>
              </a:lnSpc>
              <a:buNone/>
            </a:pPr>
            <a:r>
              <a:rPr lang="en-US" sz="1350" dirty="0">
                <a:solidFill>
                  <a:srgbClr val="62707E"/>
                </a:solidFill>
                <a:latin typeface="Calibri" pitchFamily="34" charset="0"/>
                <a:ea typeface="Calibri" pitchFamily="34" charset="-122"/>
                <a:cs typeface="Calibri" pitchFamily="34" charset="-120"/>
              </a:rPr>
              <a:t>You are finished when you can answer yes to all of these without checking the code again.</a:t>
            </a:r>
            <a:endParaRPr lang="en-US" sz="1350" dirty="0"/>
          </a:p>
        </p:txBody>
      </p:sp>
      <p:sp>
        <p:nvSpPr>
          <p:cNvPr id="6" name="Shape 4"/>
          <p:cNvSpPr/>
          <p:nvPr/>
        </p:nvSpPr>
        <p:spPr>
          <a:xfrm>
            <a:off x="640080" y="1828800"/>
            <a:ext cx="5294376" cy="914400"/>
          </a:xfrm>
          <a:prstGeom prst="roundRect">
            <a:avLst>
              <a:gd name="adj" fmla="val 6000"/>
            </a:avLst>
          </a:prstGeom>
          <a:solidFill>
            <a:srgbClr val="F2F5F8"/>
          </a:solidFill>
          <a:ln w="12700">
            <a:solidFill>
              <a:srgbClr val="333333"/>
            </a:solidFill>
            <a:prstDash val="solid"/>
          </a:ln>
        </p:spPr>
      </p:sp>
      <p:sp>
        <p:nvSpPr>
          <p:cNvPr id="7" name="Shape 5"/>
          <p:cNvSpPr/>
          <p:nvPr/>
        </p:nvSpPr>
        <p:spPr>
          <a:xfrm>
            <a:off x="877824" y="2103120"/>
            <a:ext cx="237744" cy="237744"/>
          </a:xfrm>
          <a:prstGeom prst="ellipse">
            <a:avLst/>
          </a:prstGeom>
          <a:solidFill>
            <a:srgbClr val="D9901F"/>
          </a:solidFill>
          <a:ln w="12700">
            <a:solidFill>
              <a:srgbClr val="333333"/>
            </a:solidFill>
            <a:prstDash val="solid"/>
          </a:ln>
        </p:spPr>
      </p:sp>
      <p:sp>
        <p:nvSpPr>
          <p:cNvPr id="8" name="Text 6"/>
          <p:cNvSpPr txBox="1"/>
          <p:nvPr/>
        </p:nvSpPr>
        <p:spPr>
          <a:xfrm>
            <a:off x="1261872" y="1975104"/>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print_list shows all nine values</a:t>
            </a:r>
            <a:endParaRPr lang="en-US" sz="1300" dirty="0"/>
          </a:p>
        </p:txBody>
      </p:sp>
      <p:sp>
        <p:nvSpPr>
          <p:cNvPr id="9" name="Text 7"/>
          <p:cNvSpPr txBox="1"/>
          <p:nvPr/>
        </p:nvSpPr>
        <p:spPr>
          <a:xfrm>
            <a:off x="1261872" y="2258568"/>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once each, with no garbage at either end.</a:t>
            </a:r>
            <a:endParaRPr lang="en-US" sz="1150" dirty="0"/>
          </a:p>
        </p:txBody>
      </p:sp>
      <p:sp>
        <p:nvSpPr>
          <p:cNvPr id="10" name="Shape 8"/>
          <p:cNvSpPr/>
          <p:nvPr/>
        </p:nvSpPr>
        <p:spPr>
          <a:xfrm>
            <a:off x="640080" y="2907792"/>
            <a:ext cx="5294376" cy="914400"/>
          </a:xfrm>
          <a:prstGeom prst="roundRect">
            <a:avLst>
              <a:gd name="adj" fmla="val 6000"/>
            </a:avLst>
          </a:prstGeom>
          <a:solidFill>
            <a:srgbClr val="F2F5F8"/>
          </a:solidFill>
          <a:ln w="12700">
            <a:solidFill>
              <a:srgbClr val="333333"/>
            </a:solidFill>
            <a:prstDash val="solid"/>
          </a:ln>
        </p:spPr>
      </p:sp>
      <p:sp>
        <p:nvSpPr>
          <p:cNvPr id="11" name="Shape 9"/>
          <p:cNvSpPr/>
          <p:nvPr/>
        </p:nvSpPr>
        <p:spPr>
          <a:xfrm>
            <a:off x="877824" y="3182112"/>
            <a:ext cx="237744" cy="237744"/>
          </a:xfrm>
          <a:prstGeom prst="ellipse">
            <a:avLst/>
          </a:prstGeom>
          <a:solidFill>
            <a:srgbClr val="D9901F"/>
          </a:solidFill>
          <a:ln w="12700">
            <a:solidFill>
              <a:srgbClr val="333333"/>
            </a:solidFill>
            <a:prstDash val="solid"/>
          </a:ln>
        </p:spPr>
      </p:sp>
      <p:sp>
        <p:nvSpPr>
          <p:cNvPr id="12" name="Text 10"/>
          <p:cNvSpPr txBox="1"/>
          <p:nvPr/>
        </p:nvSpPr>
        <p:spPr>
          <a:xfrm>
            <a:off x="1261872" y="3054096"/>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The sanitizer build is completely silent</a:t>
            </a:r>
            <a:endParaRPr lang="en-US" sz="1300" dirty="0"/>
          </a:p>
        </p:txBody>
      </p:sp>
      <p:sp>
        <p:nvSpPr>
          <p:cNvPr id="13" name="Text 11"/>
          <p:cNvSpPr txBox="1"/>
          <p:nvPr/>
        </p:nvSpPr>
        <p:spPr>
          <a:xfrm>
            <a:off x="1261872" y="3337560"/>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no leak, no use after free, on every run.</a:t>
            </a:r>
            <a:endParaRPr lang="en-US" sz="1150" dirty="0"/>
          </a:p>
        </p:txBody>
      </p:sp>
      <p:sp>
        <p:nvSpPr>
          <p:cNvPr id="14" name="Shape 12"/>
          <p:cNvSpPr/>
          <p:nvPr/>
        </p:nvSpPr>
        <p:spPr>
          <a:xfrm>
            <a:off x="640080" y="3986784"/>
            <a:ext cx="5294376" cy="914400"/>
          </a:xfrm>
          <a:prstGeom prst="roundRect">
            <a:avLst>
              <a:gd name="adj" fmla="val 6000"/>
            </a:avLst>
          </a:prstGeom>
          <a:solidFill>
            <a:srgbClr val="F2F5F8"/>
          </a:solidFill>
          <a:ln w="12700">
            <a:solidFill>
              <a:srgbClr val="333333"/>
            </a:solidFill>
            <a:prstDash val="solid"/>
          </a:ln>
        </p:spPr>
      </p:sp>
      <p:sp>
        <p:nvSpPr>
          <p:cNvPr id="15" name="Shape 13"/>
          <p:cNvSpPr/>
          <p:nvPr/>
        </p:nvSpPr>
        <p:spPr>
          <a:xfrm>
            <a:off x="877824" y="4261104"/>
            <a:ext cx="237744" cy="237744"/>
          </a:xfrm>
          <a:prstGeom prst="ellipse">
            <a:avLst/>
          </a:prstGeom>
          <a:solidFill>
            <a:srgbClr val="D9901F"/>
          </a:solidFill>
          <a:ln w="12700">
            <a:solidFill>
              <a:srgbClr val="333333"/>
            </a:solidFill>
            <a:prstDash val="solid"/>
          </a:ln>
        </p:spPr>
      </p:sp>
      <p:sp>
        <p:nvSpPr>
          <p:cNvPr id="16" name="Text 14"/>
          <p:cNvSpPr txBox="1"/>
          <p:nvPr/>
        </p:nvSpPr>
        <p:spPr>
          <a:xfrm>
            <a:off x="1261872" y="4133088"/>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You can state the end convention</a:t>
            </a:r>
            <a:endParaRPr lang="en-US" sz="1300" dirty="0"/>
          </a:p>
        </p:txBody>
      </p:sp>
      <p:sp>
        <p:nvSpPr>
          <p:cNvPr id="17" name="Text 15"/>
          <p:cNvSpPr txBox="1"/>
          <p:nvPr/>
        </p:nvSpPr>
        <p:spPr>
          <a:xfrm>
            <a:off x="1261872" y="4416552"/>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in one sentence, and all three loops obey it.</a:t>
            </a:r>
            <a:endParaRPr lang="en-US" sz="1150" dirty="0"/>
          </a:p>
        </p:txBody>
      </p:sp>
      <p:sp>
        <p:nvSpPr>
          <p:cNvPr id="18" name="Shape 16"/>
          <p:cNvSpPr/>
          <p:nvPr/>
        </p:nvSpPr>
        <p:spPr>
          <a:xfrm>
            <a:off x="640080" y="5065776"/>
            <a:ext cx="5294376" cy="914400"/>
          </a:xfrm>
          <a:prstGeom prst="roundRect">
            <a:avLst>
              <a:gd name="adj" fmla="val 6000"/>
            </a:avLst>
          </a:prstGeom>
          <a:solidFill>
            <a:srgbClr val="F2F5F8"/>
          </a:solidFill>
          <a:ln w="12700">
            <a:solidFill>
              <a:srgbClr val="333333"/>
            </a:solidFill>
            <a:prstDash val="solid"/>
          </a:ln>
        </p:spPr>
      </p:sp>
      <p:sp>
        <p:nvSpPr>
          <p:cNvPr id="19" name="Shape 17"/>
          <p:cNvSpPr/>
          <p:nvPr/>
        </p:nvSpPr>
        <p:spPr>
          <a:xfrm>
            <a:off x="877824" y="5340096"/>
            <a:ext cx="237744" cy="237744"/>
          </a:xfrm>
          <a:prstGeom prst="ellipse">
            <a:avLst/>
          </a:prstGeom>
          <a:solidFill>
            <a:srgbClr val="D9901F"/>
          </a:solidFill>
          <a:ln w="12700">
            <a:solidFill>
              <a:srgbClr val="333333"/>
            </a:solidFill>
            <a:prstDash val="solid"/>
          </a:ln>
        </p:spPr>
      </p:sp>
      <p:sp>
        <p:nvSpPr>
          <p:cNvPr id="20" name="Text 18"/>
          <p:cNvSpPr txBox="1"/>
          <p:nvPr/>
        </p:nvSpPr>
        <p:spPr>
          <a:xfrm>
            <a:off x="1261872" y="5212080"/>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Nothing reads a node after freeing it</a:t>
            </a:r>
            <a:endParaRPr lang="en-US" sz="1300" dirty="0"/>
          </a:p>
        </p:txBody>
      </p:sp>
      <p:sp>
        <p:nvSpPr>
          <p:cNvPr id="21" name="Text 19"/>
          <p:cNvSpPr txBox="1"/>
          <p:nvPr/>
        </p:nvSpPr>
        <p:spPr>
          <a:xfrm>
            <a:off x="1261872" y="5495544"/>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you can point at the line that guarantees it.</a:t>
            </a:r>
            <a:endParaRPr lang="en-US" sz="1150" dirty="0"/>
          </a:p>
        </p:txBody>
      </p:sp>
      <p:sp>
        <p:nvSpPr>
          <p:cNvPr id="22" name="Shape 20"/>
          <p:cNvSpPr/>
          <p:nvPr/>
        </p:nvSpPr>
        <p:spPr>
          <a:xfrm>
            <a:off x="6254496" y="1828800"/>
            <a:ext cx="5294376" cy="914400"/>
          </a:xfrm>
          <a:prstGeom prst="roundRect">
            <a:avLst>
              <a:gd name="adj" fmla="val 6000"/>
            </a:avLst>
          </a:prstGeom>
          <a:solidFill>
            <a:srgbClr val="F2F5F8"/>
          </a:solidFill>
          <a:ln w="12700">
            <a:solidFill>
              <a:srgbClr val="333333"/>
            </a:solidFill>
            <a:prstDash val="solid"/>
          </a:ln>
        </p:spPr>
      </p:sp>
      <p:sp>
        <p:nvSpPr>
          <p:cNvPr id="23" name="Shape 21"/>
          <p:cNvSpPr/>
          <p:nvPr/>
        </p:nvSpPr>
        <p:spPr>
          <a:xfrm>
            <a:off x="6492240" y="2103120"/>
            <a:ext cx="237744" cy="237744"/>
          </a:xfrm>
          <a:prstGeom prst="ellipse">
            <a:avLst/>
          </a:prstGeom>
          <a:solidFill>
            <a:srgbClr val="D9901F"/>
          </a:solidFill>
          <a:ln w="12700">
            <a:solidFill>
              <a:srgbClr val="333333"/>
            </a:solidFill>
            <a:prstDash val="solid"/>
          </a:ln>
        </p:spPr>
      </p:sp>
      <p:sp>
        <p:nvSpPr>
          <p:cNvPr id="24" name="Text 22"/>
          <p:cNvSpPr txBox="1"/>
          <p:nvPr/>
        </p:nvSpPr>
        <p:spPr>
          <a:xfrm>
            <a:off x="6876288" y="1975104"/>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print_list(NULL) prints an empty line</a:t>
            </a:r>
            <a:endParaRPr lang="en-US" sz="1300" dirty="0"/>
          </a:p>
        </p:txBody>
      </p:sp>
      <p:sp>
        <p:nvSpPr>
          <p:cNvPr id="25" name="Text 23"/>
          <p:cNvSpPr txBox="1"/>
          <p:nvPr/>
        </p:nvSpPr>
        <p:spPr>
          <a:xfrm>
            <a:off x="6876288" y="2258568"/>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and does not crash or need a special case.</a:t>
            </a:r>
            <a:endParaRPr lang="en-US" sz="1150" dirty="0"/>
          </a:p>
        </p:txBody>
      </p:sp>
      <p:sp>
        <p:nvSpPr>
          <p:cNvPr id="26" name="Shape 24"/>
          <p:cNvSpPr/>
          <p:nvPr/>
        </p:nvSpPr>
        <p:spPr>
          <a:xfrm>
            <a:off x="6254496" y="2907792"/>
            <a:ext cx="5294376" cy="914400"/>
          </a:xfrm>
          <a:prstGeom prst="roundRect">
            <a:avLst>
              <a:gd name="adj" fmla="val 6000"/>
            </a:avLst>
          </a:prstGeom>
          <a:solidFill>
            <a:srgbClr val="F2F5F8"/>
          </a:solidFill>
          <a:ln w="12700">
            <a:solidFill>
              <a:srgbClr val="333333"/>
            </a:solidFill>
            <a:prstDash val="solid"/>
          </a:ln>
        </p:spPr>
      </p:sp>
      <p:sp>
        <p:nvSpPr>
          <p:cNvPr id="27" name="Shape 25"/>
          <p:cNvSpPr/>
          <p:nvPr/>
        </p:nvSpPr>
        <p:spPr>
          <a:xfrm>
            <a:off x="6492240" y="3182112"/>
            <a:ext cx="237744" cy="237744"/>
          </a:xfrm>
          <a:prstGeom prst="ellipse">
            <a:avLst/>
          </a:prstGeom>
          <a:solidFill>
            <a:srgbClr val="D9901F"/>
          </a:solidFill>
          <a:ln w="12700">
            <a:solidFill>
              <a:srgbClr val="333333"/>
            </a:solidFill>
            <a:prstDash val="solid"/>
          </a:ln>
        </p:spPr>
      </p:sp>
      <p:sp>
        <p:nvSpPr>
          <p:cNvPr id="28" name="Text 26"/>
          <p:cNvSpPr txBox="1"/>
          <p:nvPr/>
        </p:nvSpPr>
        <p:spPr>
          <a:xfrm>
            <a:off x="6876288" y="3054096"/>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No node is freed twice</a:t>
            </a:r>
            <a:endParaRPr lang="en-US" sz="1300" dirty="0"/>
          </a:p>
        </p:txBody>
      </p:sp>
      <p:sp>
        <p:nvSpPr>
          <p:cNvPr id="29" name="Text 27"/>
          <p:cNvSpPr txBox="1"/>
          <p:nvPr/>
        </p:nvSpPr>
        <p:spPr>
          <a:xfrm>
            <a:off x="6876288" y="3337560"/>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and none is left behind.</a:t>
            </a:r>
            <a:endParaRPr lang="en-US" sz="1150" dirty="0"/>
          </a:p>
        </p:txBody>
      </p:sp>
      <p:sp>
        <p:nvSpPr>
          <p:cNvPr id="30" name="Shape 28"/>
          <p:cNvSpPr/>
          <p:nvPr/>
        </p:nvSpPr>
        <p:spPr>
          <a:xfrm>
            <a:off x="6254496" y="3986784"/>
            <a:ext cx="5294376" cy="914400"/>
          </a:xfrm>
          <a:prstGeom prst="roundRect">
            <a:avLst>
              <a:gd name="adj" fmla="val 6000"/>
            </a:avLst>
          </a:prstGeom>
          <a:solidFill>
            <a:srgbClr val="F2F5F8"/>
          </a:solidFill>
          <a:ln w="12700">
            <a:solidFill>
              <a:srgbClr val="333333"/>
            </a:solidFill>
            <a:prstDash val="solid"/>
          </a:ln>
        </p:spPr>
      </p:sp>
      <p:sp>
        <p:nvSpPr>
          <p:cNvPr id="31" name="Shape 29"/>
          <p:cNvSpPr/>
          <p:nvPr/>
        </p:nvSpPr>
        <p:spPr>
          <a:xfrm>
            <a:off x="6492240" y="4261104"/>
            <a:ext cx="237744" cy="237744"/>
          </a:xfrm>
          <a:prstGeom prst="ellipse">
            <a:avLst/>
          </a:prstGeom>
          <a:solidFill>
            <a:srgbClr val="D9901F"/>
          </a:solidFill>
          <a:ln w="12700">
            <a:solidFill>
              <a:srgbClr val="333333"/>
            </a:solidFill>
            <a:prstDash val="solid"/>
          </a:ln>
        </p:spPr>
      </p:sp>
      <p:sp>
        <p:nvSpPr>
          <p:cNvPr id="32" name="Text 30"/>
          <p:cNvSpPr txBox="1"/>
          <p:nvPr/>
        </p:nvSpPr>
        <p:spPr>
          <a:xfrm>
            <a:off x="6876288" y="4133088"/>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The program is the same on every run</a:t>
            </a:r>
            <a:endParaRPr lang="en-US" sz="1300" dirty="0"/>
          </a:p>
        </p:txBody>
      </p:sp>
      <p:sp>
        <p:nvSpPr>
          <p:cNvPr id="33" name="Text 31"/>
          <p:cNvSpPr txBox="1"/>
          <p:nvPr/>
        </p:nvSpPr>
        <p:spPr>
          <a:xfrm>
            <a:off x="6876288" y="4416552"/>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run it ten times and the output never changes.</a:t>
            </a:r>
            <a:endParaRPr lang="en-US" sz="1150" dirty="0"/>
          </a:p>
        </p:txBody>
      </p:sp>
      <p:sp>
        <p:nvSpPr>
          <p:cNvPr id="34" name="Shape 32"/>
          <p:cNvSpPr/>
          <p:nvPr/>
        </p:nvSpPr>
        <p:spPr>
          <a:xfrm>
            <a:off x="6254496" y="5065776"/>
            <a:ext cx="5294376" cy="914400"/>
          </a:xfrm>
          <a:prstGeom prst="roundRect">
            <a:avLst>
              <a:gd name="adj" fmla="val 6000"/>
            </a:avLst>
          </a:prstGeom>
          <a:solidFill>
            <a:srgbClr val="F2F5F8"/>
          </a:solidFill>
          <a:ln w="12700">
            <a:solidFill>
              <a:srgbClr val="333333"/>
            </a:solidFill>
            <a:prstDash val="solid"/>
          </a:ln>
        </p:spPr>
      </p:sp>
      <p:sp>
        <p:nvSpPr>
          <p:cNvPr id="35" name="Shape 33"/>
          <p:cNvSpPr/>
          <p:nvPr/>
        </p:nvSpPr>
        <p:spPr>
          <a:xfrm>
            <a:off x="6492240" y="5340096"/>
            <a:ext cx="237744" cy="237744"/>
          </a:xfrm>
          <a:prstGeom prst="ellipse">
            <a:avLst/>
          </a:prstGeom>
          <a:solidFill>
            <a:srgbClr val="D9901F"/>
          </a:solidFill>
          <a:ln w="12700">
            <a:solidFill>
              <a:srgbClr val="333333"/>
            </a:solidFill>
            <a:prstDash val="solid"/>
          </a:ln>
        </p:spPr>
      </p:sp>
      <p:sp>
        <p:nvSpPr>
          <p:cNvPr id="36" name="Text 34"/>
          <p:cNvSpPr txBox="1"/>
          <p:nvPr/>
        </p:nvSpPr>
        <p:spPr>
          <a:xfrm>
            <a:off x="6876288" y="5212080"/>
            <a:ext cx="4425696" cy="274320"/>
          </a:xfrm>
          <a:prstGeom prst="rect">
            <a:avLst/>
          </a:prstGeom>
          <a:noFill/>
          <a:ln/>
        </p:spPr>
        <p:txBody>
          <a:bodyPr wrap="square" lIns="0" tIns="0" rIns="0" bIns="0" rtlCol="0" anchor="ctr"/>
          <a:lstStyle/>
          <a:p>
            <a:pPr indent="0" marL="0">
              <a:buNone/>
            </a:pPr>
            <a:r>
              <a:rPr lang="en-US" sz="1300" b="1" dirty="0">
                <a:solidFill>
                  <a:srgbClr val="1A2530"/>
                </a:solidFill>
                <a:latin typeface="Calibri" pitchFamily="34" charset="0"/>
                <a:ea typeface="Calibri" pitchFamily="34" charset="-122"/>
                <a:cs typeface="Calibri" pitchFamily="34" charset="-120"/>
              </a:rPr>
              <a:t>You know why it looked right before</a:t>
            </a:r>
            <a:endParaRPr lang="en-US" sz="1300" dirty="0"/>
          </a:p>
        </p:txBody>
      </p:sp>
      <p:sp>
        <p:nvSpPr>
          <p:cNvPr id="37" name="Text 35"/>
          <p:cNvSpPr txBox="1"/>
          <p:nvPr/>
        </p:nvSpPr>
        <p:spPr>
          <a:xfrm>
            <a:off x="6876288" y="5495544"/>
            <a:ext cx="4425696" cy="365760"/>
          </a:xfrm>
          <a:prstGeom prst="rect">
            <a:avLst/>
          </a:prstGeom>
          <a:noFill/>
          <a:ln/>
        </p:spPr>
        <p:txBody>
          <a:bodyPr wrap="square" lIns="0" tIns="0" rIns="0" bIns="0" rtlCol="0" anchor="t"/>
          <a:lstStyle/>
          <a:p>
            <a:pPr indent="0" marL="0">
              <a:lnSpc>
                <a:spcPts val="1400"/>
              </a:lnSpc>
              <a:buNone/>
            </a:pPr>
            <a:r>
              <a:rPr lang="en-US" sz="1150" dirty="0">
                <a:solidFill>
                  <a:srgbClr val="62707E"/>
                </a:solidFill>
                <a:latin typeface="Calibri" pitchFamily="34" charset="0"/>
                <a:ea typeface="Calibri" pitchFamily="34" charset="-122"/>
                <a:cs typeface="Calibri" pitchFamily="34" charset="-120"/>
              </a:rPr>
              <a:t>and can explain it to someone else.</a:t>
            </a:r>
            <a:endParaRPr lang="en-US" sz="11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01752"/>
            <a:ext cx="993953" cy="274320"/>
          </a:xfrm>
          <a:prstGeom prst="roundRect">
            <a:avLst>
              <a:gd name="adj" fmla="val 46667"/>
            </a:avLst>
          </a:prstGeom>
          <a:solidFill>
            <a:srgbClr val="FBF1DF"/>
          </a:solidFill>
          <a:ln w="12700">
            <a:solidFill>
              <a:srgbClr val="333333"/>
            </a:solidFill>
            <a:prstDash val="solid"/>
          </a:ln>
        </p:spPr>
      </p:sp>
      <p:sp>
        <p:nvSpPr>
          <p:cNvPr id="3" name="Text 1"/>
          <p:cNvSpPr txBox="1"/>
          <p:nvPr/>
        </p:nvSpPr>
        <p:spPr>
          <a:xfrm>
            <a:off x="640080" y="301752"/>
            <a:ext cx="993953" cy="274320"/>
          </a:xfrm>
          <a:prstGeom prst="rect">
            <a:avLst/>
          </a:prstGeom>
          <a:noFill/>
          <a:ln/>
        </p:spPr>
        <p:txBody>
          <a:bodyPr wrap="square" lIns="0" tIns="0" rIns="0" bIns="0" rtlCol="0" anchor="ctr"/>
          <a:lstStyle/>
          <a:p>
            <a:pPr algn="ctr" indent="0" marL="0">
              <a:buNone/>
            </a:pPr>
            <a:r>
              <a:rPr lang="en-US" sz="1050" b="1" dirty="0">
                <a:solidFill>
                  <a:srgbClr val="D9901F"/>
                </a:solidFill>
                <a:latin typeface="Courier New" pitchFamily="34" charset="0"/>
                <a:ea typeface="Courier New" pitchFamily="34" charset="-122"/>
                <a:cs typeface="Courier New" pitchFamily="34" charset="-120"/>
              </a:rPr>
              <a:t>reference</a:t>
            </a:r>
            <a:endParaRPr lang="en-US" sz="1050" dirty="0"/>
          </a:p>
        </p:txBody>
      </p:sp>
      <p:sp>
        <p:nvSpPr>
          <p:cNvPr id="4" name="Text 2"/>
          <p:cNvSpPr txBox="1"/>
          <p:nvPr/>
        </p:nvSpPr>
        <p:spPr>
          <a:xfrm>
            <a:off x="640080" y="640080"/>
            <a:ext cx="10908792" cy="566928"/>
          </a:xfrm>
          <a:prstGeom prst="rect">
            <a:avLst/>
          </a:prstGeom>
          <a:noFill/>
          <a:ln/>
        </p:spPr>
        <p:txBody>
          <a:bodyPr wrap="square" lIns="0" tIns="0" rIns="0" bIns="0" rtlCol="0" anchor="ctr"/>
          <a:lstStyle/>
          <a:p>
            <a:pPr indent="0" marL="0">
              <a:buNone/>
            </a:pPr>
            <a:r>
              <a:rPr lang="en-US" sz="3000" b="1" dirty="0">
                <a:solidFill>
                  <a:srgbClr val="1A2530"/>
                </a:solidFill>
                <a:latin typeface="Calibri" pitchFamily="34" charset="0"/>
                <a:ea typeface="Calibri" pitchFamily="34" charset="-122"/>
                <a:cs typeface="Calibri" pitchFamily="34" charset="-120"/>
              </a:rPr>
              <a:t>How to check your work</a:t>
            </a:r>
            <a:endParaRPr lang="en-US" sz="3000" dirty="0"/>
          </a:p>
        </p:txBody>
      </p:sp>
      <p:sp>
        <p:nvSpPr>
          <p:cNvPr id="5" name="Text 3"/>
          <p:cNvSpPr txBox="1"/>
          <p:nvPr/>
        </p:nvSpPr>
        <p:spPr>
          <a:xfrm>
            <a:off x="640080" y="1188720"/>
            <a:ext cx="10908792" cy="365760"/>
          </a:xfrm>
          <a:prstGeom prst="rect">
            <a:avLst/>
          </a:prstGeom>
          <a:noFill/>
          <a:ln/>
        </p:spPr>
        <p:txBody>
          <a:bodyPr wrap="square" lIns="0" tIns="0" rIns="0" bIns="0" rtlCol="0" anchor="t"/>
          <a:lstStyle/>
          <a:p>
            <a:pPr indent="0" marL="0">
              <a:lnSpc>
                <a:spcPts val="1823"/>
              </a:lnSpc>
              <a:buNone/>
            </a:pPr>
            <a:r>
              <a:rPr lang="en-US" sz="1350" dirty="0">
                <a:solidFill>
                  <a:srgbClr val="62707E"/>
                </a:solidFill>
                <a:latin typeface="Calibri" pitchFamily="34" charset="0"/>
                <a:ea typeface="Calibri" pitchFamily="34" charset="-122"/>
                <a:cs typeface="Calibri" pitchFamily="34" charset="-120"/>
              </a:rPr>
              <a:t>Both exercises are memory exercises. Your eyes are not a memory checker; these tools are.</a:t>
            </a:r>
            <a:endParaRPr lang="en-US" sz="1350" dirty="0"/>
          </a:p>
        </p:txBody>
      </p:sp>
      <p:sp>
        <p:nvSpPr>
          <p:cNvPr id="6" name="Text 4"/>
          <p:cNvSpPr txBox="1"/>
          <p:nvPr/>
        </p:nvSpPr>
        <p:spPr>
          <a:xfrm>
            <a:off x="640080" y="1691640"/>
            <a:ext cx="5577840" cy="219456"/>
          </a:xfrm>
          <a:prstGeom prst="rect">
            <a:avLst/>
          </a:prstGeom>
          <a:noFill/>
          <a:ln/>
        </p:spPr>
        <p:txBody>
          <a:bodyPr wrap="square" lIns="0" tIns="0" rIns="0" bIns="0" rtlCol="0" anchor="ctr"/>
          <a:lstStyle/>
          <a:p>
            <a:pPr indent="0" marL="0">
              <a:buNone/>
            </a:pPr>
            <a:r>
              <a:rPr lang="en-US" sz="950" b="1" spc="110" kern="0" dirty="0">
                <a:solidFill>
                  <a:srgbClr val="62707E"/>
                </a:solidFill>
                <a:latin typeface="Calibri" pitchFamily="34" charset="0"/>
                <a:ea typeface="Calibri" pitchFamily="34" charset="-122"/>
                <a:cs typeface="Calibri" pitchFamily="34" charset="-120"/>
              </a:rPr>
              <a:t>THE COMMANDS</a:t>
            </a:r>
            <a:endParaRPr lang="en-US" sz="950" dirty="0"/>
          </a:p>
        </p:txBody>
      </p:sp>
      <p:sp>
        <p:nvSpPr>
          <p:cNvPr id="7" name="Shape 5"/>
          <p:cNvSpPr/>
          <p:nvPr/>
        </p:nvSpPr>
        <p:spPr>
          <a:xfrm>
            <a:off x="640080" y="1938528"/>
            <a:ext cx="5577840" cy="1853184"/>
          </a:xfrm>
          <a:prstGeom prst="roundRect">
            <a:avLst>
              <a:gd name="adj" fmla="val 2467"/>
            </a:avLst>
          </a:prstGeom>
          <a:solidFill>
            <a:srgbClr val="101A24"/>
          </a:solidFill>
          <a:ln w="12700">
            <a:solidFill>
              <a:srgbClr val="333333"/>
            </a:solidFill>
            <a:prstDash val="solid"/>
          </a:ln>
        </p:spPr>
      </p:sp>
      <p:sp>
        <p:nvSpPr>
          <p:cNvPr id="8" name="Text 6"/>
          <p:cNvSpPr txBox="1"/>
          <p:nvPr/>
        </p:nvSpPr>
        <p:spPr>
          <a:xfrm>
            <a:off x="859536" y="2075688"/>
            <a:ext cx="5138928" cy="1578864"/>
          </a:xfrm>
          <a:prstGeom prst="rect">
            <a:avLst/>
          </a:prstGeom>
          <a:noFill/>
          <a:ln/>
        </p:spPr>
        <p:txBody>
          <a:bodyPr wrap="square" lIns="0" tIns="0" rIns="0" bIns="0" rtlCol="0" anchor="t"/>
          <a:lstStyle/>
          <a:p>
            <a:pPr indent="0" marL="0">
              <a:lnSpc>
                <a:spcPts val="1518"/>
              </a:lnSpc>
              <a:buNone/>
            </a:pPr>
            <a:r>
              <a:rPr lang="en-US" sz="1150" dirty="0">
                <a:solidFill>
                  <a:srgbClr val="8FD9AE"/>
                </a:solidFill>
                <a:latin typeface="Courier New" pitchFamily="34" charset="0"/>
                <a:ea typeface="Courier New" pitchFamily="34" charset="-122"/>
                <a:cs typeface="Courier New" pitchFamily="34" charset="-120"/>
              </a:rPr>
              <a:t>$ gcc f.c -Wall -Wextra -g -O0 -o prog</a:t>
            </a:r>
            <a:endParaRPr lang="en-US" sz="1150" dirty="0"/>
          </a:p>
          <a:p>
            <a:pPr indent="0" marL="0">
              <a:lnSpc>
                <a:spcPts val="1518"/>
              </a:lnSpc>
              <a:buNone/>
            </a:pPr>
            <a:r>
              <a:rPr lang="en-US" sz="1150" dirty="0">
                <a:solidFill>
                  <a:srgbClr val="8FD9AE"/>
                </a:solidFill>
                <a:latin typeface="Courier New" pitchFamily="34" charset="0"/>
                <a:ea typeface="Courier New" pitchFamily="34" charset="-122"/>
                <a:cs typeface="Courier New" pitchFamily="34" charset="-120"/>
              </a:rPr>
              <a:t>$ ./prog</a:t>
            </a:r>
            <a:endParaRPr lang="en-US" sz="1150" dirty="0"/>
          </a:p>
          <a:p>
            <a:pPr indent="0" marL="0">
              <a:lnSpc>
                <a:spcPts val="1518"/>
              </a:lnSpc>
              <a:buNone/>
            </a:pPr>
            <a:r>
              <a:rPr lang="en-US" sz="1150" dirty="0">
                <a:solidFill>
                  <a:srgbClr val="8FD9AE"/>
                </a:solidFill>
                <a:latin typeface="Courier New" pitchFamily="34" charset="0"/>
                <a:ea typeface="Courier New" pitchFamily="34" charset="-122"/>
                <a:cs typeface="Courier New" pitchFamily="34" charset="-120"/>
              </a:rPr>
              <a:t> </a:t>
            </a:r>
            <a:endParaRPr lang="en-US" sz="1150" dirty="0"/>
          </a:p>
          <a:p>
            <a:pPr indent="0" marL="0">
              <a:lnSpc>
                <a:spcPts val="1518"/>
              </a:lnSpc>
              <a:buNone/>
            </a:pPr>
            <a:r>
              <a:rPr lang="en-US" sz="1150" dirty="0">
                <a:solidFill>
                  <a:srgbClr val="8FD9AE"/>
                </a:solidFill>
                <a:latin typeface="Courier New" pitchFamily="34" charset="0"/>
                <a:ea typeface="Courier New" pitchFamily="34" charset="-122"/>
                <a:cs typeface="Courier New" pitchFamily="34" charset="-120"/>
              </a:rPr>
              <a:t>$ gcc f.c -Wall -Wextra -g \</a:t>
            </a:r>
            <a:endParaRPr lang="en-US" sz="1150" dirty="0"/>
          </a:p>
          <a:p>
            <a:pPr indent="0" marL="0">
              <a:lnSpc>
                <a:spcPts val="1518"/>
              </a:lnSpc>
              <a:buNone/>
            </a:pPr>
            <a:r>
              <a:rPr lang="en-US" sz="1150" dirty="0">
                <a:solidFill>
                  <a:srgbClr val="8FD9AE"/>
                </a:solidFill>
                <a:latin typeface="Courier New" pitchFamily="34" charset="0"/>
                <a:ea typeface="Courier New" pitchFamily="34" charset="-122"/>
                <a:cs typeface="Courier New" pitchFamily="34" charset="-120"/>
              </a:rPr>
              <a:t>      -fsanitize=address -o prog</a:t>
            </a:r>
            <a:endParaRPr lang="en-US" sz="1150" dirty="0"/>
          </a:p>
          <a:p>
            <a:pPr indent="0" marL="0">
              <a:lnSpc>
                <a:spcPts val="1518"/>
              </a:lnSpc>
              <a:buNone/>
            </a:pPr>
            <a:r>
              <a:rPr lang="en-US" sz="1150" dirty="0">
                <a:solidFill>
                  <a:srgbClr val="8FD9AE"/>
                </a:solidFill>
                <a:latin typeface="Courier New" pitchFamily="34" charset="0"/>
                <a:ea typeface="Courier New" pitchFamily="34" charset="-122"/>
                <a:cs typeface="Courier New" pitchFamily="34" charset="-120"/>
              </a:rPr>
              <a:t>$ ./prog        # silence = clean</a:t>
            </a:r>
            <a:endParaRPr lang="en-US" sz="1150" dirty="0"/>
          </a:p>
          <a:p>
            <a:pPr indent="0" marL="0">
              <a:lnSpc>
                <a:spcPts val="1518"/>
              </a:lnSpc>
              <a:buNone/>
            </a:pPr>
            <a:r>
              <a:rPr lang="en-US" sz="1150" dirty="0">
                <a:solidFill>
                  <a:srgbClr val="8FD9AE"/>
                </a:solidFill>
                <a:latin typeface="Courier New" pitchFamily="34" charset="0"/>
                <a:ea typeface="Courier New" pitchFamily="34" charset="-122"/>
                <a:cs typeface="Courier New" pitchFamily="34" charset="-120"/>
              </a:rPr>
              <a:t> </a:t>
            </a:r>
            <a:endParaRPr lang="en-US" sz="1150" dirty="0"/>
          </a:p>
          <a:p>
            <a:pPr indent="0" marL="0">
              <a:lnSpc>
                <a:spcPts val="1518"/>
              </a:lnSpc>
              <a:buNone/>
            </a:pPr>
            <a:r>
              <a:rPr lang="en-US" sz="1150" dirty="0">
                <a:solidFill>
                  <a:srgbClr val="8FD9AE"/>
                </a:solidFill>
                <a:latin typeface="Courier New" pitchFamily="34" charset="0"/>
                <a:ea typeface="Courier New" pitchFamily="34" charset="-122"/>
                <a:cs typeface="Courier New" pitchFamily="34" charset="-120"/>
              </a:rPr>
              <a:t>$ valgrind --leak-check=full ./prog</a:t>
            </a:r>
            <a:endParaRPr lang="en-US" sz="1150" dirty="0"/>
          </a:p>
        </p:txBody>
      </p:sp>
      <p:sp>
        <p:nvSpPr>
          <p:cNvPr id="9" name="Text 7"/>
          <p:cNvSpPr txBox="1"/>
          <p:nvPr/>
        </p:nvSpPr>
        <p:spPr>
          <a:xfrm>
            <a:off x="6446520" y="1691640"/>
            <a:ext cx="5102352" cy="292608"/>
          </a:xfrm>
          <a:prstGeom prst="rect">
            <a:avLst/>
          </a:prstGeom>
          <a:noFill/>
          <a:ln/>
        </p:spPr>
        <p:txBody>
          <a:bodyPr wrap="square" lIns="0" tIns="0" rIns="0" bIns="0" rtlCol="0" anchor="ctr"/>
          <a:lstStyle/>
          <a:p>
            <a:pPr indent="0" marL="0">
              <a:buNone/>
            </a:pPr>
            <a:r>
              <a:rPr lang="en-US" sz="1900" b="1" dirty="0">
                <a:solidFill>
                  <a:srgbClr val="1A2530"/>
                </a:solidFill>
                <a:latin typeface="Calibri" pitchFamily="34" charset="0"/>
                <a:ea typeface="Calibri" pitchFamily="34" charset="-122"/>
                <a:cs typeface="Calibri" pitchFamily="34" charset="-120"/>
              </a:rPr>
              <a:t>What the messages mean</a:t>
            </a:r>
            <a:endParaRPr lang="en-US" sz="1900" dirty="0"/>
          </a:p>
        </p:txBody>
      </p:sp>
      <p:sp>
        <p:nvSpPr>
          <p:cNvPr id="10" name="Text 8"/>
          <p:cNvSpPr txBox="1"/>
          <p:nvPr/>
        </p:nvSpPr>
        <p:spPr>
          <a:xfrm>
            <a:off x="6446520" y="2121408"/>
            <a:ext cx="5102352" cy="237744"/>
          </a:xfrm>
          <a:prstGeom prst="rect">
            <a:avLst/>
          </a:prstGeom>
          <a:noFill/>
          <a:ln/>
        </p:spPr>
        <p:txBody>
          <a:bodyPr wrap="square" lIns="0" tIns="0" rIns="0" bIns="0" rtlCol="0" anchor="t"/>
          <a:lstStyle/>
          <a:p>
            <a:pPr indent="0" marL="0">
              <a:buNone/>
            </a:pPr>
            <a:r>
              <a:rPr lang="en-US" sz="1200" b="1" dirty="0">
                <a:solidFill>
                  <a:srgbClr val="B8412F"/>
                </a:solidFill>
                <a:latin typeface="Courier New" pitchFamily="34" charset="0"/>
                <a:ea typeface="Courier New" pitchFamily="34" charset="-122"/>
                <a:cs typeface="Courier New" pitchFamily="34" charset="-120"/>
              </a:rPr>
              <a:t>heap-buffer-overflow</a:t>
            </a:r>
            <a:endParaRPr lang="en-US" sz="1200" dirty="0"/>
          </a:p>
        </p:txBody>
      </p:sp>
      <p:sp>
        <p:nvSpPr>
          <p:cNvPr id="11" name="Text 9"/>
          <p:cNvSpPr txBox="1"/>
          <p:nvPr/>
        </p:nvSpPr>
        <p:spPr>
          <a:xfrm>
            <a:off x="6446520" y="2377440"/>
            <a:ext cx="5102352" cy="713232"/>
          </a:xfrm>
          <a:prstGeom prst="rect">
            <a:avLst/>
          </a:prstGeom>
          <a:noFill/>
          <a:ln/>
        </p:spPr>
        <p:txBody>
          <a:bodyPr wrap="square" lIns="0" tIns="0" rIns="0" bIns="0" rtlCol="0" anchor="t"/>
          <a:lstStyle/>
          <a:p>
            <a:pPr indent="0" marL="0">
              <a:lnSpc>
                <a:spcPts val="1450"/>
              </a:lnSpc>
              <a:buNone/>
            </a:pPr>
            <a:r>
              <a:rPr lang="en-US" sz="1150" dirty="0">
                <a:solidFill>
                  <a:srgbClr val="1A2530"/>
                </a:solidFill>
                <a:latin typeface="Calibri" pitchFamily="34" charset="0"/>
                <a:ea typeface="Calibri" pitchFamily="34" charset="-122"/>
                <a:cs typeface="Calibri" pitchFamily="34" charset="-120"/>
              </a:rPr>
              <a:t>You wrote outside the block. In exercise A: an index past used, or a realloc that did not actually happen.</a:t>
            </a:r>
            <a:endParaRPr lang="en-US" sz="1150" dirty="0"/>
          </a:p>
        </p:txBody>
      </p:sp>
      <p:sp>
        <p:nvSpPr>
          <p:cNvPr id="12" name="Text 10"/>
          <p:cNvSpPr txBox="1"/>
          <p:nvPr/>
        </p:nvSpPr>
        <p:spPr>
          <a:xfrm>
            <a:off x="6446520" y="3163824"/>
            <a:ext cx="5102352" cy="237744"/>
          </a:xfrm>
          <a:prstGeom prst="rect">
            <a:avLst/>
          </a:prstGeom>
          <a:noFill/>
          <a:ln/>
        </p:spPr>
        <p:txBody>
          <a:bodyPr wrap="square" lIns="0" tIns="0" rIns="0" bIns="0" rtlCol="0" anchor="t"/>
          <a:lstStyle/>
          <a:p>
            <a:pPr indent="0" marL="0">
              <a:buNone/>
            </a:pPr>
            <a:r>
              <a:rPr lang="en-US" sz="1200" b="1" dirty="0">
                <a:solidFill>
                  <a:srgbClr val="B8412F"/>
                </a:solidFill>
                <a:latin typeface="Courier New" pitchFamily="34" charset="0"/>
                <a:ea typeface="Courier New" pitchFamily="34" charset="-122"/>
                <a:cs typeface="Courier New" pitchFamily="34" charset="-120"/>
              </a:rPr>
              <a:t>heap-use-after-free</a:t>
            </a:r>
            <a:endParaRPr lang="en-US" sz="1200" dirty="0"/>
          </a:p>
        </p:txBody>
      </p:sp>
      <p:sp>
        <p:nvSpPr>
          <p:cNvPr id="13" name="Text 11"/>
          <p:cNvSpPr txBox="1"/>
          <p:nvPr/>
        </p:nvSpPr>
        <p:spPr>
          <a:xfrm>
            <a:off x="6446520" y="3419856"/>
            <a:ext cx="5102352" cy="713232"/>
          </a:xfrm>
          <a:prstGeom prst="rect">
            <a:avLst/>
          </a:prstGeom>
          <a:noFill/>
          <a:ln/>
        </p:spPr>
        <p:txBody>
          <a:bodyPr wrap="square" lIns="0" tIns="0" rIns="0" bIns="0" rtlCol="0" anchor="t"/>
          <a:lstStyle/>
          <a:p>
            <a:pPr indent="0" marL="0">
              <a:lnSpc>
                <a:spcPts val="1450"/>
              </a:lnSpc>
              <a:buNone/>
            </a:pPr>
            <a:r>
              <a:rPr lang="en-US" sz="1150" dirty="0">
                <a:solidFill>
                  <a:srgbClr val="1A2530"/>
                </a:solidFill>
                <a:latin typeface="Calibri" pitchFamily="34" charset="0"/>
                <a:ea typeface="Calibri" pitchFamily="34" charset="-122"/>
                <a:cs typeface="Calibri" pitchFamily="34" charset="-120"/>
              </a:rPr>
              <a:t>You touched memory you had already freed. In exercise B: reading next after free.</a:t>
            </a:r>
            <a:endParaRPr lang="en-US" sz="1150" dirty="0"/>
          </a:p>
        </p:txBody>
      </p:sp>
      <p:sp>
        <p:nvSpPr>
          <p:cNvPr id="14" name="Text 12"/>
          <p:cNvSpPr txBox="1"/>
          <p:nvPr/>
        </p:nvSpPr>
        <p:spPr>
          <a:xfrm>
            <a:off x="6446520" y="4206240"/>
            <a:ext cx="5102352" cy="237744"/>
          </a:xfrm>
          <a:prstGeom prst="rect">
            <a:avLst/>
          </a:prstGeom>
          <a:noFill/>
          <a:ln/>
        </p:spPr>
        <p:txBody>
          <a:bodyPr wrap="square" lIns="0" tIns="0" rIns="0" bIns="0" rtlCol="0" anchor="t"/>
          <a:lstStyle/>
          <a:p>
            <a:pPr indent="0" marL="0">
              <a:buNone/>
            </a:pPr>
            <a:r>
              <a:rPr lang="en-US" sz="1200" b="1" dirty="0">
                <a:solidFill>
                  <a:srgbClr val="B8412F"/>
                </a:solidFill>
                <a:latin typeface="Courier New" pitchFamily="34" charset="0"/>
                <a:ea typeface="Courier New" pitchFamily="34" charset="-122"/>
                <a:cs typeface="Courier New" pitchFamily="34" charset="-120"/>
              </a:rPr>
              <a:t>attempting double-free</a:t>
            </a:r>
            <a:endParaRPr lang="en-US" sz="1200" dirty="0"/>
          </a:p>
        </p:txBody>
      </p:sp>
      <p:sp>
        <p:nvSpPr>
          <p:cNvPr id="15" name="Text 13"/>
          <p:cNvSpPr txBox="1"/>
          <p:nvPr/>
        </p:nvSpPr>
        <p:spPr>
          <a:xfrm>
            <a:off x="6446520" y="4462272"/>
            <a:ext cx="5102352" cy="713232"/>
          </a:xfrm>
          <a:prstGeom prst="rect">
            <a:avLst/>
          </a:prstGeom>
          <a:noFill/>
          <a:ln/>
        </p:spPr>
        <p:txBody>
          <a:bodyPr wrap="square" lIns="0" tIns="0" rIns="0" bIns="0" rtlCol="0" anchor="t"/>
          <a:lstStyle/>
          <a:p>
            <a:pPr indent="0" marL="0">
              <a:lnSpc>
                <a:spcPts val="1450"/>
              </a:lnSpc>
              <a:buNone/>
            </a:pPr>
            <a:r>
              <a:rPr lang="en-US" sz="1150" dirty="0">
                <a:solidFill>
                  <a:srgbClr val="1A2530"/>
                </a:solidFill>
                <a:latin typeface="Calibri" pitchFamily="34" charset="0"/>
                <a:ea typeface="Calibri" pitchFamily="34" charset="-122"/>
                <a:cs typeface="Calibri" pitchFamily="34" charset="-120"/>
              </a:rPr>
              <a:t>The same block freed twice. Usually a missing NULL assignment after the first free.</a:t>
            </a:r>
            <a:endParaRPr lang="en-US" sz="1150" dirty="0"/>
          </a:p>
        </p:txBody>
      </p:sp>
      <p:sp>
        <p:nvSpPr>
          <p:cNvPr id="16" name="Text 14"/>
          <p:cNvSpPr txBox="1"/>
          <p:nvPr/>
        </p:nvSpPr>
        <p:spPr>
          <a:xfrm>
            <a:off x="6446520" y="5248656"/>
            <a:ext cx="5102352" cy="237744"/>
          </a:xfrm>
          <a:prstGeom prst="rect">
            <a:avLst/>
          </a:prstGeom>
          <a:noFill/>
          <a:ln/>
        </p:spPr>
        <p:txBody>
          <a:bodyPr wrap="square" lIns="0" tIns="0" rIns="0" bIns="0" rtlCol="0" anchor="t"/>
          <a:lstStyle/>
          <a:p>
            <a:pPr indent="0" marL="0">
              <a:buNone/>
            </a:pPr>
            <a:r>
              <a:rPr lang="en-US" sz="1200" b="1" dirty="0">
                <a:solidFill>
                  <a:srgbClr val="B8412F"/>
                </a:solidFill>
                <a:latin typeface="Courier New" pitchFamily="34" charset="0"/>
                <a:ea typeface="Courier New" pitchFamily="34" charset="-122"/>
                <a:cs typeface="Courier New" pitchFamily="34" charset="-120"/>
              </a:rPr>
              <a:t>detected memory leaks</a:t>
            </a:r>
            <a:endParaRPr lang="en-US" sz="1200" dirty="0"/>
          </a:p>
        </p:txBody>
      </p:sp>
      <p:sp>
        <p:nvSpPr>
          <p:cNvPr id="17" name="Text 15"/>
          <p:cNvSpPr txBox="1"/>
          <p:nvPr/>
        </p:nvSpPr>
        <p:spPr>
          <a:xfrm>
            <a:off x="6446520" y="5504688"/>
            <a:ext cx="5102352" cy="713232"/>
          </a:xfrm>
          <a:prstGeom prst="rect">
            <a:avLst/>
          </a:prstGeom>
          <a:noFill/>
          <a:ln/>
        </p:spPr>
        <p:txBody>
          <a:bodyPr wrap="square" lIns="0" tIns="0" rIns="0" bIns="0" rtlCol="0" anchor="t"/>
          <a:lstStyle/>
          <a:p>
            <a:pPr indent="0" marL="0">
              <a:lnSpc>
                <a:spcPts val="1450"/>
              </a:lnSpc>
              <a:buNone/>
            </a:pPr>
            <a:r>
              <a:rPr lang="en-US" sz="1150" dirty="0">
                <a:solidFill>
                  <a:srgbClr val="1A2530"/>
                </a:solidFill>
                <a:latin typeface="Calibri" pitchFamily="34" charset="0"/>
                <a:ea typeface="Calibri" pitchFamily="34" charset="-122"/>
                <a:cs typeface="Calibri" pitchFamily="34" charset="-120"/>
              </a:rPr>
              <a:t>Something you allocated was never freed. Read the stack trace: it names the malloc, not the leak.</a:t>
            </a:r>
            <a:endParaRPr lang="en-US" sz="1150" dirty="0"/>
          </a:p>
        </p:txBody>
      </p:sp>
      <p:sp>
        <p:nvSpPr>
          <p:cNvPr id="18" name="Shape 16"/>
          <p:cNvSpPr/>
          <p:nvPr/>
        </p:nvSpPr>
        <p:spPr>
          <a:xfrm>
            <a:off x="640080" y="4069080"/>
            <a:ext cx="5577840" cy="1351407"/>
          </a:xfrm>
          <a:prstGeom prst="roundRect">
            <a:avLst>
              <a:gd name="adj" fmla="val 4060"/>
            </a:avLst>
          </a:prstGeom>
          <a:solidFill>
            <a:srgbClr val="E8F3ED"/>
          </a:solidFill>
          <a:ln w="12700">
            <a:solidFill>
              <a:srgbClr val="333333"/>
            </a:solidFill>
            <a:prstDash val="solid"/>
          </a:ln>
        </p:spPr>
      </p:sp>
      <p:sp>
        <p:nvSpPr>
          <p:cNvPr id="19" name="Shape 17"/>
          <p:cNvSpPr/>
          <p:nvPr/>
        </p:nvSpPr>
        <p:spPr>
          <a:xfrm>
            <a:off x="877824" y="4274820"/>
            <a:ext cx="118872" cy="118872"/>
          </a:xfrm>
          <a:prstGeom prst="ellipse">
            <a:avLst/>
          </a:prstGeom>
          <a:solidFill>
            <a:srgbClr val="2F8A63"/>
          </a:solidFill>
          <a:ln w="12700">
            <a:solidFill>
              <a:srgbClr val="333333"/>
            </a:solidFill>
            <a:prstDash val="solid"/>
          </a:ln>
        </p:spPr>
      </p:sp>
      <p:sp>
        <p:nvSpPr>
          <p:cNvPr id="20" name="Text 18"/>
          <p:cNvSpPr txBox="1"/>
          <p:nvPr/>
        </p:nvSpPr>
        <p:spPr>
          <a:xfrm>
            <a:off x="1097280" y="4224528"/>
            <a:ext cx="4937760" cy="228600"/>
          </a:xfrm>
          <a:prstGeom prst="rect">
            <a:avLst/>
          </a:prstGeom>
          <a:noFill/>
          <a:ln/>
        </p:spPr>
        <p:txBody>
          <a:bodyPr wrap="square" lIns="0" tIns="0" rIns="0" bIns="0" rtlCol="0" anchor="ctr"/>
          <a:lstStyle/>
          <a:p>
            <a:pPr indent="0" marL="0">
              <a:buNone/>
            </a:pPr>
            <a:r>
              <a:rPr lang="en-US" sz="1050" b="1" spc="120" kern="0" dirty="0">
                <a:solidFill>
                  <a:srgbClr val="2F8A63"/>
                </a:solidFill>
                <a:latin typeface="Calibri" pitchFamily="34" charset="0"/>
                <a:ea typeface="Calibri" pitchFamily="34" charset="-122"/>
                <a:cs typeface="Calibri" pitchFamily="34" charset="-120"/>
              </a:rPr>
              <a:t>COMPILE WITH -g AND -O0</a:t>
            </a:r>
            <a:endParaRPr lang="en-US" sz="1050" dirty="0"/>
          </a:p>
        </p:txBody>
      </p:sp>
      <p:sp>
        <p:nvSpPr>
          <p:cNvPr id="21" name="Text 19"/>
          <p:cNvSpPr txBox="1"/>
          <p:nvPr/>
        </p:nvSpPr>
        <p:spPr>
          <a:xfrm>
            <a:off x="896112" y="4517136"/>
            <a:ext cx="5065776" cy="793623"/>
          </a:xfrm>
          <a:prstGeom prst="rect">
            <a:avLst/>
          </a:prstGeom>
          <a:noFill/>
          <a:ln/>
        </p:spPr>
        <p:txBody>
          <a:bodyPr wrap="square" lIns="0" tIns="0" rIns="0" bIns="0" rtlCol="0" anchor="t"/>
          <a:lstStyle/>
          <a:p>
            <a:pPr indent="0" marL="0">
              <a:spcAft>
                <a:spcPts val="400"/>
              </a:spcAft>
              <a:buNone/>
            </a:pPr>
            <a:r>
              <a:rPr lang="en-US" sz="1250" dirty="0">
                <a:solidFill>
                  <a:srgbClr val="1A2530"/>
                </a:solidFill>
                <a:latin typeface="Calibri" pitchFamily="34" charset="0"/>
                <a:ea typeface="Calibri" pitchFamily="34" charset="-122"/>
                <a:cs typeface="Calibri" pitchFamily="34" charset="-120"/>
              </a:rPr>
              <a:t>Without -g the sanitizer reports addresses instead of line numbers. Without -O0 the optimiser may move code around and make the trace harder to read.</a:t>
            </a:r>
            <a:endParaRPr lang="en-US" sz="1250" dirty="0"/>
          </a:p>
        </p:txBody>
      </p:sp>
      <p:sp>
        <p:nvSpPr>
          <p:cNvPr id="25" name="Slide Number Placeholder 0"/>
          <p:cNvSpPr>
            <a:spLocks noGrp="1"/>
          </p:cNvSpPr>
          <p:nvPr>
            <p:ph type="sldNum" sz="quarter" idx="4294967295"/>
          </p:nvPr>
        </p:nvSpPr>
        <p:spPr>
          <a:xfrm>
            <a:off x="11631168" y="6437376"/>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2707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777240" y="1371600"/>
            <a:ext cx="5943600"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One lesson, twice</a:t>
            </a:r>
            <a:endParaRPr lang="en-US" sz="3800" dirty="0"/>
          </a:p>
        </p:txBody>
      </p:sp>
      <p:sp>
        <p:nvSpPr>
          <p:cNvPr id="3" name="Text 1"/>
          <p:cNvSpPr txBox="1"/>
          <p:nvPr/>
        </p:nvSpPr>
        <p:spPr>
          <a:xfrm>
            <a:off x="777240" y="2194560"/>
            <a:ext cx="5943600" cy="1280160"/>
          </a:xfrm>
          <a:prstGeom prst="rect">
            <a:avLst/>
          </a:prstGeom>
          <a:noFill/>
          <a:ln/>
        </p:spPr>
        <p:txBody>
          <a:bodyPr wrap="square" lIns="0" tIns="0" rIns="0" bIns="0" rtlCol="0" anchor="t"/>
          <a:lstStyle/>
          <a:p>
            <a:pPr indent="0" marL="0">
              <a:lnSpc>
                <a:spcPts val="2100"/>
              </a:lnSpc>
              <a:buNone/>
            </a:pPr>
            <a:r>
              <a:rPr lang="en-US" sz="1450" dirty="0">
                <a:solidFill>
                  <a:srgbClr val="A9B7C4"/>
                </a:solidFill>
                <a:latin typeface="Calibri" pitchFamily="34" charset="0"/>
                <a:ea typeface="Calibri" pitchFamily="34" charset="-122"/>
                <a:cs typeface="Calibri" pitchFamily="34" charset="-120"/>
              </a:rPr>
              <a:t>Neither exercise is hard because of the algorithm. Both are hard because of one question you have to be able to answer about every line: who owns this block of memory right now, and when does it stop being theirs?</a:t>
            </a:r>
            <a:endParaRPr lang="en-US" sz="1450" dirty="0"/>
          </a:p>
        </p:txBody>
      </p:sp>
      <p:sp>
        <p:nvSpPr>
          <p:cNvPr id="4" name="Text 2"/>
          <p:cNvSpPr txBox="1"/>
          <p:nvPr/>
        </p:nvSpPr>
        <p:spPr>
          <a:xfrm>
            <a:off x="777240" y="3611880"/>
            <a:ext cx="5943600" cy="173736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CFDAE4"/>
                </a:solidFill>
                <a:latin typeface="Calibri" pitchFamily="34" charset="0"/>
                <a:ea typeface="Calibri" pitchFamily="34" charset="-122"/>
                <a:cs typeface="Calibri" pitchFamily="34" charset="-120"/>
              </a:rPr>
              <a:t>Every malloc has exactly one matching free, and you can point at it</a:t>
            </a:r>
            <a:endParaRPr lang="en-US" sz="1350" dirty="0"/>
          </a:p>
          <a:p>
            <a:pPr marL="342900" indent="-342900">
              <a:spcAft>
                <a:spcPts val="800"/>
              </a:spcAft>
              <a:buSzPct val="100000"/>
              <a:buChar char="•"/>
            </a:pPr>
            <a:r>
              <a:rPr lang="en-US" sz="1350" dirty="0">
                <a:solidFill>
                  <a:srgbClr val="CFDAE4"/>
                </a:solidFill>
                <a:latin typeface="Calibri" pitchFamily="34" charset="0"/>
                <a:ea typeface="Calibri" pitchFamily="34" charset="-122"/>
                <a:cs typeface="Calibri" pitchFamily="34" charset="-120"/>
              </a:rPr>
              <a:t>Every pointer is either valid or NULL — never merely old</a:t>
            </a:r>
            <a:endParaRPr lang="en-US" sz="1350" dirty="0"/>
          </a:p>
          <a:p>
            <a:pPr marL="342900" indent="-342900">
              <a:spcAft>
                <a:spcPts val="800"/>
              </a:spcAft>
              <a:buSzPct val="100000"/>
              <a:buChar char="•"/>
            </a:pPr>
            <a:r>
              <a:rPr lang="en-US" sz="1350" dirty="0">
                <a:solidFill>
                  <a:srgbClr val="CFDAE4"/>
                </a:solidFill>
                <a:latin typeface="Calibri" pitchFamily="34" charset="0"/>
                <a:ea typeface="Calibri" pitchFamily="34" charset="-122"/>
                <a:cs typeface="Calibri" pitchFamily="34" charset="-120"/>
              </a:rPr>
              <a:t>Every loop over a structure agrees with how that structure ends</a:t>
            </a:r>
            <a:endParaRPr lang="en-US" sz="1350" dirty="0"/>
          </a:p>
          <a:p>
            <a:pPr marL="342900" indent="-342900">
              <a:spcAft>
                <a:spcPts val="800"/>
              </a:spcAft>
              <a:buSzPct val="100000"/>
              <a:buChar char="•"/>
            </a:pPr>
            <a:r>
              <a:rPr lang="en-US" sz="1350" dirty="0">
                <a:solidFill>
                  <a:srgbClr val="CFDAE4"/>
                </a:solidFill>
                <a:latin typeface="Calibri" pitchFamily="34" charset="0"/>
                <a:ea typeface="Calibri" pitchFamily="34" charset="-122"/>
                <a:cs typeface="Calibri" pitchFamily="34" charset="-120"/>
              </a:rPr>
              <a:t>Anything that only works some of the time does not work</a:t>
            </a:r>
            <a:endParaRPr lang="en-US" sz="1350" dirty="0"/>
          </a:p>
        </p:txBody>
      </p:sp>
      <p:sp>
        <p:nvSpPr>
          <p:cNvPr id="5" name="Text 3"/>
          <p:cNvSpPr txBox="1"/>
          <p:nvPr/>
        </p:nvSpPr>
        <p:spPr>
          <a:xfrm>
            <a:off x="7178040" y="1737360"/>
            <a:ext cx="4251960" cy="219456"/>
          </a:xfrm>
          <a:prstGeom prst="rect">
            <a:avLst/>
          </a:prstGeom>
          <a:noFill/>
          <a:ln/>
        </p:spPr>
        <p:txBody>
          <a:bodyPr wrap="square" lIns="0" tIns="0" rIns="0" bIns="0" rtlCol="0" anchor="ctr"/>
          <a:lstStyle/>
          <a:p>
            <a:pPr indent="0" marL="0">
              <a:buNone/>
            </a:pPr>
            <a:r>
              <a:rPr lang="en-US" sz="950" b="1" spc="110" kern="0" dirty="0">
                <a:solidFill>
                  <a:srgbClr val="8697A5"/>
                </a:solidFill>
                <a:latin typeface="Calibri" pitchFamily="34" charset="0"/>
                <a:ea typeface="Calibri" pitchFamily="34" charset="-122"/>
                <a:cs typeface="Calibri" pitchFamily="34" charset="-120"/>
              </a:rPr>
              <a:t>WHEN YOU THINK YOU ARE DONE</a:t>
            </a:r>
            <a:endParaRPr lang="en-US" sz="950" dirty="0"/>
          </a:p>
        </p:txBody>
      </p:sp>
      <p:sp>
        <p:nvSpPr>
          <p:cNvPr id="6" name="Shape 4"/>
          <p:cNvSpPr/>
          <p:nvPr/>
        </p:nvSpPr>
        <p:spPr>
          <a:xfrm>
            <a:off x="7178040" y="1984248"/>
            <a:ext cx="4251960" cy="2121408"/>
          </a:xfrm>
          <a:prstGeom prst="roundRect">
            <a:avLst>
              <a:gd name="adj" fmla="val 2155"/>
            </a:avLst>
          </a:prstGeom>
          <a:solidFill>
            <a:srgbClr val="1E2A38"/>
          </a:solidFill>
          <a:ln w="12700">
            <a:solidFill>
              <a:srgbClr val="333333"/>
            </a:solidFill>
            <a:prstDash val="solid"/>
          </a:ln>
        </p:spPr>
      </p:sp>
      <p:sp>
        <p:nvSpPr>
          <p:cNvPr id="7" name="Text 5"/>
          <p:cNvSpPr txBox="1"/>
          <p:nvPr/>
        </p:nvSpPr>
        <p:spPr>
          <a:xfrm>
            <a:off x="7397496" y="2121408"/>
            <a:ext cx="3813048" cy="1847088"/>
          </a:xfrm>
          <a:prstGeom prst="rect">
            <a:avLst/>
          </a:prstGeom>
          <a:noFill/>
          <a:ln/>
        </p:spPr>
        <p:txBody>
          <a:bodyPr wrap="square" lIns="0" tIns="0" rIns="0" bIns="0" rtlCol="0" anchor="t"/>
          <a:lstStyle/>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 gcc f.c -Wall -Wextra -g \</a:t>
            </a:r>
            <a:endParaRPr lang="en-US" sz="1200" dirty="0"/>
          </a:p>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      -fsanitize=address -o prog</a:t>
            </a:r>
            <a:endParaRPr lang="en-US" sz="1200" dirty="0"/>
          </a:p>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 ./prog</a:t>
            </a:r>
            <a:endParaRPr lang="en-US" sz="1200" dirty="0"/>
          </a:p>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 ./prog</a:t>
            </a:r>
            <a:endParaRPr lang="en-US" sz="1200" dirty="0"/>
          </a:p>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 ./prog</a:t>
            </a:r>
            <a:endParaRPr lang="en-US" sz="1200" dirty="0"/>
          </a:p>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 </a:t>
            </a:r>
            <a:endParaRPr lang="en-US" sz="1200" dirty="0"/>
          </a:p>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 same output three times,</a:t>
            </a:r>
            <a:endParaRPr lang="en-US" sz="1200" dirty="0"/>
          </a:p>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 and nothing from the</a:t>
            </a:r>
            <a:endParaRPr lang="en-US" sz="1200" dirty="0"/>
          </a:p>
          <a:p>
            <a:pPr indent="0" marL="0">
              <a:lnSpc>
                <a:spcPts val="1584"/>
              </a:lnSpc>
              <a:buNone/>
            </a:pPr>
            <a:r>
              <a:rPr lang="en-US" sz="1200" dirty="0">
                <a:solidFill>
                  <a:srgbClr val="8FD9AE"/>
                </a:solidFill>
                <a:latin typeface="Courier New" pitchFamily="34" charset="0"/>
                <a:ea typeface="Courier New" pitchFamily="34" charset="-122"/>
                <a:cs typeface="Courier New" pitchFamily="34" charset="-120"/>
              </a:rPr>
              <a:t># sanitizer. Then you are done.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in C - hands on</dc:title>
  <dc:subject>PptxGenJS Presentation</dc:subject>
  <dc:creator>C course</dc:creator>
  <cp:lastModifiedBy>C course</cp:lastModifiedBy>
  <cp:revision>1</cp:revision>
  <dcterms:created xsi:type="dcterms:W3CDTF">2026-09-14T10:31:18Z</dcterms:created>
  <dcterms:modified xsi:type="dcterms:W3CDTF">2026-09-14T10:31:18Z</dcterms:modified>
</cp:coreProperties>
</file>